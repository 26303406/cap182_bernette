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0:00–0:45 (45 seconds)</a:t>
            </a:r>
          </a:p>
          <a:p/>
          <a:p>
            <a:r>
              <a:t>On camera: Begin with your face visible. Use the first sentence as the attention hook.</a:t>
            </a:r>
          </a:p>
          <a:p/>
          <a:p>
            <a:r>
              <a:t>“Every funded investor begins as a sign-up—but not every sign-up reaches a first deposit. In this project, I ask how STADIOEquities could recognise accounts that may need help completing that journey. I will connect the business problem and governance plan from SS1, the evidence and model choices from SS2, and the account-activation analysis from SS3. The goal is not to put a label on a customer. It is to learn whether early information can help the business offer timely, useful support. I’ll show what the data and models can tell us, where the evidence is still limited, and what should be tested before any real-world rollout.”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0:45–1:35 (50 seconds)</a:t>
            </a:r>
          </a:p>
          <a:p/>
          <a:p>
            <a:r>
              <a:t>“The SS1 brief describes a large registered customer base and a business challenge: registration does not necessarily turn into funded investing. The brief cites 2.3 million registered accounts, but that is context—not the sample used in SS3. The project question is whether account information and early behaviour can help predict a first deposit within 90 days. That prediction could help prioritise onboarding education or human support when staff capacity is limited. The business outcome should not be model accuracy alone. It should be more incremental first deposits at an acceptable cost, achieved with fair and compliant customer treatment. That final impact must be demonstrated through an intervention test, not assumed from a prediction.”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1:35–2:35 (60 seconds)</a:t>
            </a:r>
          </a:p>
          <a:p/>
          <a:p>
            <a:r>
              <a:t>“These two charts summarise early exploratory patterns in the 4,906-account modelling population. In the first-session table, accounts that viewed education content had a 49.5 percent activation rate, compared with 36.2 percent among those that did not. In the second chart, activation rises from about 34.8 percent in the shortest first-session-duration quartile to about 50.2 percent in the longest. These are useful clues: educational content and deeper early engagement may help us understand where onboarding support could be relevant. But they are associations, not evidence that making someone watch more content will cause a deposit. Other factors may explain the difference, and the extract is a limited sample. We use these findings to motivate tests, not to prescribe customer behaviour.”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2:35–3:25 (50 seconds)</a:t>
            </a:r>
          </a:p>
          <a:p/>
          <a:p>
            <a:r>
              <a:t>“SS1 used a RAAIDD log to track risks, actions, assumptions, issues, decisions and dependencies. SS3 makes several of those assumptions concrete. The plan anticipated at least 100,000 accounts over 12 to 18 months; the available modelling extract contains 4,906 unique accounts. That is enough for a development exercise, but not evidence that the model represents the full customer base. SS1 also identified temporal drift and privacy as risks. The SS3 evaluation uses a random split rather than a later-time cohort, so drift remains untested. Before any pilot, the business must confirm event timestamps, data permissions, and a POPIA-compliant purpose and access process. This is a living governance log, not a box-ticking exercise.”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3:25–4:25 (60 seconds)</a:t>
            </a:r>
          </a:p>
          <a:p/>
          <a:p>
            <a:r>
              <a:t>“The data dictionary specified 12 linked source tables: registration and onboarding, early behaviour, communications, marketing, KYC and device context, among others. Nine were used fully or partly. Support tickets were excluded because timestamps could not confirm they were available before activation; feedback was incomplete and included a label-related field; and post-deposit activity existed only for activated accounts. The target is a first deposit within 90 days. We removed 14 exact duplicate rows, standardised category labels and dates, and removed deposit- and outcome-derived fields to reduce leakage. Numeric and categorical preprocessing was fitted on training data. The final split was stratified 70/15/15—different from the 60/20/20 originally planned—and one-hot encoding produced 169 model inputs. These choices are recorded so results can be interpreted and reproduced.”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4:25–5:20 (55 seconds)</a:t>
            </a:r>
          </a:p>
          <a:p/>
          <a:p>
            <a:r>
              <a:t>“SS2 provided both context and a modelling benchmark. Its UCI Bank Marketing dataset contains 45,211 records from a Portuguese bank campaign, with roughly 11 percent positive outcomes. After dropping call duration because it is only known after a call, XGBoost achieved the strongest SS2 F1 score: 0.459 on its test set and about 0.446 in cross-validation. The literature review also highlighted activation modelling, interpretable event histories, and the value of time-aware evaluation and lift-based targeting. Those sources helped motivate the SS3 model candidates and safeguards. However, the UCI campaign outcome is not the same as STADIOEquities 90-day account activation. So SS2 guides our choices; its F1 values cannot be compared directly with SS3 or treated as proof that XGBoost must win here.”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5:20–6:20 (60 seconds)</a:t>
            </a:r>
          </a:p>
          <a:p/>
          <a:p>
            <a:r>
              <a:t>“SS3 compares Logistic Regression, Random Forest and XGBoost, with an ensemble that averages predicted probabilities. Logistic Regression is the interpretable baseline; Random Forest combines many decision trees; and boosting builds trees sequentially to correct earlier errors. We stratified account IDs into training, validation and unseen test sets at 70, 15 and 15 percent. Imputation, scaling, category encoding and outlier caps were learned from training data. SMOTE was also applied only to training data, so validation and test retain the natural class balance. This matters because resampling before the split could let information from held-out examples influence training. The validation set supports development checks; the unseen test set is reserved for final performance reporting.”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6:20–7:30 (70 seconds)</a:t>
            </a:r>
          </a:p>
          <a:p/>
          <a:p>
            <a:r>
              <a:t>“The unseen test set contains 736 accounts, including 314 activated accounts. At the 0.5 classification threshold, Random Forest gives the highest F1 at 0.857, recall of 0.943 and ROC AUC of 0.943. Logistic Regression has the highest accuracy, 0.870, and precision, 0.810, with F1 almost tied at 0.856. XGBoost’s test F1 is 0.835. This is not a universal winner story: the best choice depends on whether the business wants to reduce missed activations, avoid unnecessary outreach, or preserve interpretability. The chart shows why accuracy alone is insufficient. A decision-maker should choose the operating point with a clearly stated cost of false positives and false negatives, then validate that choice prospectively.”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7:30–8:25 (55 seconds)</a:t>
            </a:r>
          </a:p>
          <a:p/>
          <a:p>
            <a:r>
              <a:t>“To make the results practical, the analysis simulated selecting the 30 percent of test accounts with the lowest ensemble activation scores. That gave a list of 221 accounts; 218 were non-activators, so the retrospective list precision was 98.6 percent. The list covered 51.7 percent of all non-activators in the test set. This is a capacity scenario, not a campaign result. It does not show that contacting these people would change their behaviour; it only shows how the model ranked this held-out sample. The next step is to randomise eligible high-risk accounts between supportive outreach and business-as-usual. Then compare incremental 90-day activation and cost, while ensuring the intervention is helpful and appropriate.”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8:25–9:20 (55 seconds)</a:t>
            </a:r>
          </a:p>
          <a:p/>
          <a:p>
            <a:r>
              <a:t>“The feature-importance chart highlights KYC status, KYC verification time and onboarding completion as strong predictive signals. Importance tells us what the fitted model used; it does not establish cause or customer intent. It also raises a timing question: was each KYC value genuinely available at the moment the business would score an account? If not, it must be removed. The model pipeline contains 169 encoded inputs, so the project has not yet demonstrated a simpler production model. Logistic Regression gives a useful lower-complexity benchmark. The next technical step is a controlled feature-ablation study: reduce inputs, then compare performance, calibration, stability and operational cost. Complexity should only be reduced when evidence shows the smaller model is still fit for purpose.”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9:20–10:10 (50 seconds)</a:t>
            </a:r>
          </a:p>
          <a:p/>
          <a:p>
            <a:r>
              <a:t>“Repeated stratified cross-validation used five folds and ten repeats. Mean F1 was about 0.852 for Random Forest, 0.848 for Logistic Regression, and 0.848 for XGBoost. Their confidence intervals overlap, so the small difference does not justify claiming a decisive model winner. The tree models also score extremely highly on training data, which warrants attention to overfitting. Most importantly, the split was random, not chronological. It cannot tell us how performance changes on newer customers or after product changes. A time-based holdout, event-time audit, and prospective monitoring of calibration, drift, missingness and precision at the available contact capacity are needed before operational use.”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10:10–10:50 (40 seconds)</a:t>
            </a:r>
          </a:p>
          <a:p/>
          <a:p>
            <a:r>
              <a:t>“My recommendation is a staged, privacy-reviewed pilot—not automated deployment. First confirm when each feature becomes available; then test on later cohorts; finally randomise supportive outreach and measure incremental activation, customer experience and cost. Keep human oversight, data minimisation and clear rollback criteria in place. The project’s contribution is an end-to-end, leakage-aware starting point that connects the business question to a testable account-ranking approach. It has not yet proven that a model-driven intervention increases deposits. The decision now is whether to fund that next experiment. Thank you.”</a:t>
            </a:r>
          </a:p>
          <a:p/>
          <a:p>
            <a:r>
              <a:t>On camera: Return to your face for the final sentence and sign-off.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594360"/>
            <a:ext cx="118872" cy="539496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658368"/>
            <a:ext cx="9875520" cy="274320"/>
          </a:xfrm>
          <a:prstGeom prst="rect">
            <a:avLst/>
          </a:prstGeom>
          <a:noFill/>
        </p:spPr>
        <p:txBody>
          <a:bodyPr wrap="square" lIns="22860" rIns="22860" tIns="22860" bIns="22860" anchor="t">
            <a:spAutoFit/>
          </a:bodyPr>
          <a:lstStyle/>
          <a:p>
            <a:pPr>
              <a:spcAft>
                <a:spcPts val="200"/>
              </a:spcAft>
              <a:defRPr sz="1100" b="1" i="0">
                <a:solidFill>
                  <a:srgbClr val="A8D8D1"/>
                </a:solidFill>
                <a:latin typeface="Aptos"/>
              </a:defRPr>
            </a:pPr>
            <a:r>
              <a:t>CAP182  •  CAPSTONE PROJECT  •  PART C</a:t>
            </a:r>
          </a:p>
        </p:txBody>
      </p:sp>
      <p:sp>
        <p:nvSpPr>
          <p:cNvPr id="5" name="TextBox 4"/>
          <p:cNvSpPr txBox="1"/>
          <p:nvPr/>
        </p:nvSpPr>
        <p:spPr>
          <a:xfrm>
            <a:off x="960120" y="1234440"/>
            <a:ext cx="9966960" cy="1325880"/>
          </a:xfrm>
          <a:prstGeom prst="rect">
            <a:avLst/>
          </a:prstGeom>
          <a:noFill/>
        </p:spPr>
        <p:txBody>
          <a:bodyPr wrap="square" lIns="22860" rIns="22860" tIns="22860" bIns="22860" anchor="t">
            <a:spAutoFit/>
          </a:bodyPr>
          <a:lstStyle/>
          <a:p>
            <a:pPr>
              <a:spcAft>
                <a:spcPts val="200"/>
              </a:spcAft>
              <a:defRPr sz="3400" b="1" i="0">
                <a:solidFill>
                  <a:srgbClr val="FFFFFF"/>
                </a:solidFill>
                <a:latin typeface="Aptos"/>
              </a:defRPr>
            </a:pPr>
            <a:r>
              <a:t>From registration</a:t>
            </a:r>
          </a:p>
          <a:p>
            <a:pPr>
              <a:spcAft>
                <a:spcPts val="200"/>
              </a:spcAft>
              <a:defRPr sz="3400" b="1" i="0">
                <a:solidFill>
                  <a:srgbClr val="FFFFFF"/>
                </a:solidFill>
                <a:latin typeface="Aptos"/>
              </a:defRPr>
            </a:pPr>
            <a:r>
              <a:t>to first deposit</a:t>
            </a:r>
          </a:p>
        </p:txBody>
      </p:sp>
      <p:sp>
        <p:nvSpPr>
          <p:cNvPr id="6" name="TextBox 5"/>
          <p:cNvSpPr txBox="1"/>
          <p:nvPr/>
        </p:nvSpPr>
        <p:spPr>
          <a:xfrm>
            <a:off x="987552" y="2880360"/>
            <a:ext cx="9601200" cy="658368"/>
          </a:xfrm>
          <a:prstGeom prst="rect">
            <a:avLst/>
          </a:prstGeom>
          <a:noFill/>
        </p:spPr>
        <p:txBody>
          <a:bodyPr wrap="square" lIns="22860" rIns="22860" tIns="22860" bIns="22860" anchor="t">
            <a:spAutoFit/>
          </a:bodyPr>
          <a:lstStyle/>
          <a:p>
            <a:pPr>
              <a:spcAft>
                <a:spcPts val="200"/>
              </a:spcAft>
              <a:defRPr sz="1700" b="0" i="0">
                <a:solidFill>
                  <a:srgbClr val="D9E4EC"/>
                </a:solidFill>
                <a:latin typeface="Aptos"/>
              </a:defRPr>
            </a:pPr>
            <a:r>
              <a:t>A data-science lifecycle story: SS1 problem framing → SS2 model selection → SS3 activation evidence</a:t>
            </a:r>
          </a:p>
        </p:txBody>
      </p:sp>
      <p:sp>
        <p:nvSpPr>
          <p:cNvPr id="7" name="Rectangle 6"/>
          <p:cNvSpPr/>
          <p:nvPr/>
        </p:nvSpPr>
        <p:spPr>
          <a:xfrm>
            <a:off x="987552" y="3822191"/>
            <a:ext cx="9966960" cy="18288"/>
          </a:xfrm>
          <a:prstGeom prst="rect">
            <a:avLst/>
          </a:prstGeom>
          <a:solidFill>
            <a:srgbClr val="4764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4133087"/>
            <a:ext cx="2743200" cy="246888"/>
          </a:xfrm>
          <a:prstGeom prst="rect">
            <a:avLst/>
          </a:prstGeom>
          <a:noFill/>
        </p:spPr>
        <p:txBody>
          <a:bodyPr wrap="square" lIns="22860" rIns="22860" tIns="22860" bIns="22860" anchor="t">
            <a:spAutoFit/>
          </a:bodyPr>
          <a:lstStyle/>
          <a:p>
            <a:pPr>
              <a:spcAft>
                <a:spcPts val="200"/>
              </a:spcAft>
              <a:defRPr sz="1000" b="1" i="0">
                <a:solidFill>
                  <a:srgbClr val="A8D8D1"/>
                </a:solidFill>
                <a:latin typeface="Aptos"/>
              </a:defRPr>
            </a:pPr>
            <a:r>
              <a:t>THE BUSINESS QUESTION</a:t>
            </a:r>
          </a:p>
        </p:txBody>
      </p:sp>
      <p:sp>
        <p:nvSpPr>
          <p:cNvPr id="9" name="TextBox 8"/>
          <p:cNvSpPr txBox="1"/>
          <p:nvPr/>
        </p:nvSpPr>
        <p:spPr>
          <a:xfrm>
            <a:off x="987552" y="4489704"/>
            <a:ext cx="9144000" cy="640080"/>
          </a:xfrm>
          <a:prstGeom prst="rect">
            <a:avLst/>
          </a:prstGeom>
          <a:noFill/>
        </p:spPr>
        <p:txBody>
          <a:bodyPr wrap="square" lIns="22860" rIns="22860" tIns="22860" bIns="22860" anchor="t">
            <a:spAutoFit/>
          </a:bodyPr>
          <a:lstStyle/>
          <a:p>
            <a:pPr>
              <a:spcAft>
                <a:spcPts val="200"/>
              </a:spcAft>
              <a:defRPr sz="2200" b="1" i="0">
                <a:solidFill>
                  <a:srgbClr val="FFFFFF"/>
                </a:solidFill>
                <a:latin typeface="Aptos"/>
              </a:defRPr>
            </a:pPr>
            <a:r>
              <a:t>Who needs help completing the journey from sign-up to a funded account?</a:t>
            </a:r>
          </a:p>
        </p:txBody>
      </p:sp>
      <p:sp>
        <p:nvSpPr>
          <p:cNvPr id="10" name="TextBox 9"/>
          <p:cNvSpPr txBox="1"/>
          <p:nvPr/>
        </p:nvSpPr>
        <p:spPr>
          <a:xfrm>
            <a:off x="987552" y="5788152"/>
            <a:ext cx="7772400" cy="274320"/>
          </a:xfrm>
          <a:prstGeom prst="rect">
            <a:avLst/>
          </a:prstGeom>
          <a:noFill/>
        </p:spPr>
        <p:txBody>
          <a:bodyPr wrap="square" lIns="22860" rIns="22860" tIns="22860" bIns="22860" anchor="t">
            <a:spAutoFit/>
          </a:bodyPr>
          <a:lstStyle/>
          <a:p>
            <a:pPr>
              <a:spcAft>
                <a:spcPts val="200"/>
              </a:spcAft>
              <a:defRPr sz="1000" b="0" i="0">
                <a:solidFill>
                  <a:srgbClr val="C5D3DD"/>
                </a:solidFill>
                <a:latin typeface="Aptos"/>
              </a:defRPr>
            </a:pPr>
            <a:r>
              <a:t>Bernette Lesejane  •  26303406  •  STADIO PGDip Data Science</a:t>
            </a:r>
          </a:p>
        </p:txBody>
      </p:sp>
      <p:sp>
        <p:nvSpPr>
          <p:cNvPr id="11" name="TextBox 10"/>
          <p:cNvSpPr txBox="1"/>
          <p:nvPr/>
        </p:nvSpPr>
        <p:spPr>
          <a:xfrm>
            <a:off x="10835640" y="6309360"/>
            <a:ext cx="777240" cy="182880"/>
          </a:xfrm>
          <a:prstGeom prst="rect">
            <a:avLst/>
          </a:prstGeom>
          <a:noFill/>
        </p:spPr>
        <p:txBody>
          <a:bodyPr wrap="square" lIns="22860" rIns="22860" tIns="22860" bIns="22860" anchor="t">
            <a:spAutoFit/>
          </a:bodyPr>
          <a:lstStyle/>
          <a:p>
            <a:pPr algn="r">
              <a:spcAft>
                <a:spcPts val="200"/>
              </a:spcAft>
              <a:defRPr sz="800" b="0" i="0">
                <a:solidFill>
                  <a:srgbClr val="C5D3DD"/>
                </a:solidFill>
                <a:latin typeface="Aptos"/>
              </a:defRPr>
            </a:pPr>
            <a:r>
              <a:t>01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28600"/>
            <a:ext cx="7772400" cy="210312"/>
          </a:xfrm>
          <a:prstGeom prst="rect">
            <a:avLst/>
          </a:prstGeom>
          <a:noFill/>
        </p:spPr>
        <p:txBody>
          <a:bodyPr wrap="square" lIns="22860" rIns="22860" tIns="22860" bIns="22860" anchor="t">
            <a:spAutoFit/>
          </a:bodyPr>
          <a:lstStyle/>
          <a:p>
            <a:pPr>
              <a:spcAft>
                <a:spcPts val="200"/>
              </a:spcAft>
              <a:defRPr sz="900" b="1" i="0">
                <a:solidFill>
                  <a:srgbClr val="2E6F9E"/>
                </a:solidFill>
                <a:latin typeface="Aptos"/>
              </a:defRPr>
            </a:pPr>
            <a:r>
              <a:t>BUSINESS UNDERSTANDING</a:t>
            </a:r>
          </a:p>
        </p:txBody>
      </p:sp>
      <p:sp>
        <p:nvSpPr>
          <p:cNvPr id="4" name="TextBox 3"/>
          <p:cNvSpPr txBox="1"/>
          <p:nvPr/>
        </p:nvSpPr>
        <p:spPr>
          <a:xfrm>
            <a:off x="530352" y="502920"/>
            <a:ext cx="10972800" cy="438912"/>
          </a:xfrm>
          <a:prstGeom prst="rect">
            <a:avLst/>
          </a:prstGeom>
          <a:noFill/>
        </p:spPr>
        <p:txBody>
          <a:bodyPr wrap="square" lIns="22860" rIns="22860" tIns="22860" bIns="22860" anchor="t">
            <a:spAutoFit/>
          </a:bodyPr>
          <a:lstStyle/>
          <a:p>
            <a:pPr>
              <a:spcAft>
                <a:spcPts val="200"/>
              </a:spcAft>
              <a:defRPr sz="2400" b="1" i="0">
                <a:solidFill>
                  <a:srgbClr val="17324D"/>
                </a:solidFill>
                <a:latin typeface="Aptos"/>
              </a:defRPr>
            </a:pPr>
            <a:r>
              <a:t>A sign-up is not yet an investor</a:t>
            </a:r>
          </a:p>
        </p:txBody>
      </p:sp>
      <p:sp>
        <p:nvSpPr>
          <p:cNvPr id="5" name="TextBox 4"/>
          <p:cNvSpPr txBox="1"/>
          <p:nvPr/>
        </p:nvSpPr>
        <p:spPr>
          <a:xfrm>
            <a:off x="548640" y="987552"/>
            <a:ext cx="10972800" cy="310896"/>
          </a:xfrm>
          <a:prstGeom prst="rect">
            <a:avLst/>
          </a:prstGeom>
          <a:noFill/>
        </p:spPr>
        <p:txBody>
          <a:bodyPr wrap="square" lIns="22860" rIns="22860" tIns="22860" bIns="22860" anchor="t">
            <a:spAutoFit/>
          </a:bodyPr>
          <a:lstStyle/>
          <a:p>
            <a:pPr>
              <a:spcAft>
                <a:spcPts val="200"/>
              </a:spcAft>
              <a:defRPr sz="1100" b="0" i="0">
                <a:solidFill>
                  <a:srgbClr val="586A78"/>
                </a:solidFill>
                <a:latin typeface="Aptos"/>
              </a:defRPr>
            </a:pPr>
            <a:r>
              <a:t>SS1 frames the gap between acquisition and first funded activity.</a:t>
            </a:r>
          </a:p>
        </p:txBody>
      </p:sp>
      <p:sp>
        <p:nvSpPr>
          <p:cNvPr id="6" name="Rectangle 5"/>
          <p:cNvSpPr/>
          <p:nvPr/>
        </p:nvSpPr>
        <p:spPr>
          <a:xfrm>
            <a:off x="530352" y="6501384"/>
            <a:ext cx="11128248" cy="10972"/>
          </a:xfrm>
          <a:prstGeom prst="rect">
            <a:avLst/>
          </a:prstGeom>
          <a:solidFill>
            <a:srgbClr val="DCE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56248"/>
            <a:ext cx="8229600" cy="155448"/>
          </a:xfrm>
          <a:prstGeom prst="rect">
            <a:avLst/>
          </a:prstGeom>
          <a:noFill/>
        </p:spPr>
        <p:txBody>
          <a:bodyPr wrap="square" lIns="22860" rIns="22860" tIns="22860" bIns="22860" anchor="t">
            <a:spAutoFit/>
          </a:bodyPr>
          <a:lstStyle/>
          <a:p>
            <a:pPr>
              <a:spcAft>
                <a:spcPts val="200"/>
              </a:spcAft>
              <a:defRPr sz="700" b="0" i="0">
                <a:solidFill>
                  <a:srgbClr val="586A78"/>
                </a:solidFill>
                <a:latin typeface="Aptos"/>
              </a:defRPr>
            </a:pPr>
            <a:r>
              <a:t>CAP182  •  SS3 PART C  •  STADIOEQUITIES</a:t>
            </a:r>
          </a:p>
        </p:txBody>
      </p:sp>
      <p:sp>
        <p:nvSpPr>
          <p:cNvPr id="8" name="TextBox 7"/>
          <p:cNvSpPr txBox="1"/>
          <p:nvPr/>
        </p:nvSpPr>
        <p:spPr>
          <a:xfrm>
            <a:off x="10972800" y="6556248"/>
            <a:ext cx="685800" cy="155448"/>
          </a:xfrm>
          <a:prstGeom prst="rect">
            <a:avLst/>
          </a:prstGeom>
          <a:noFill/>
        </p:spPr>
        <p:txBody>
          <a:bodyPr wrap="square" lIns="22860" rIns="22860" tIns="22860" bIns="22860" anchor="t">
            <a:spAutoFit/>
          </a:bodyPr>
          <a:lstStyle/>
          <a:p>
            <a:pPr algn="r">
              <a:spcAft>
                <a:spcPts val="200"/>
              </a:spcAft>
              <a:defRPr sz="700" b="0" i="0">
                <a:solidFill>
                  <a:srgbClr val="586A78"/>
                </a:solidFill>
                <a:latin typeface="Aptos"/>
              </a:defRPr>
            </a:pPr>
            <a:r>
              <a:t>02 / 12</a:t>
            </a:r>
          </a:p>
        </p:txBody>
      </p:sp>
      <p:sp>
        <p:nvSpPr>
          <p:cNvPr id="9" name="Rounded Rectangle 8"/>
          <p:cNvSpPr/>
          <p:nvPr/>
        </p:nvSpPr>
        <p:spPr>
          <a:xfrm>
            <a:off x="566928" y="1481328"/>
            <a:ext cx="3520440" cy="1828800"/>
          </a:xfrm>
          <a:prstGeom prst="roundRect">
            <a:avLst/>
          </a:prstGeom>
          <a:solidFill>
            <a:srgbClr val="F2F6F8"/>
          </a:solidFill>
          <a:ln w="10160">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1481328"/>
            <a:ext cx="64008" cy="182880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600200"/>
            <a:ext cx="3209544" cy="274320"/>
          </a:xfrm>
          <a:prstGeom prst="rect">
            <a:avLst/>
          </a:prstGeom>
          <a:noFill/>
        </p:spPr>
        <p:txBody>
          <a:bodyPr wrap="square" lIns="22860" rIns="22860" tIns="22860" bIns="22860" anchor="t">
            <a:spAutoFit/>
          </a:bodyPr>
          <a:lstStyle/>
          <a:p>
            <a:pPr>
              <a:spcAft>
                <a:spcPts val="200"/>
              </a:spcAft>
              <a:defRPr sz="1300" b="1" i="0">
                <a:solidFill>
                  <a:srgbClr val="17324D"/>
                </a:solidFill>
                <a:latin typeface="Aptos"/>
              </a:defRPr>
            </a:pPr>
            <a:r>
              <a:t>The gap</a:t>
            </a:r>
          </a:p>
        </p:txBody>
      </p:sp>
      <p:sp>
        <p:nvSpPr>
          <p:cNvPr id="12" name="TextBox 11"/>
          <p:cNvSpPr txBox="1"/>
          <p:nvPr/>
        </p:nvSpPr>
        <p:spPr>
          <a:xfrm>
            <a:off x="731520" y="1938528"/>
            <a:ext cx="3209544" cy="1298448"/>
          </a:xfrm>
          <a:prstGeom prst="rect">
            <a:avLst/>
          </a:prstGeom>
          <a:noFill/>
        </p:spPr>
        <p:txBody>
          <a:bodyPr wrap="square" lIns="22860" rIns="22860" tIns="22860" bIns="22860" anchor="t">
            <a:spAutoFit/>
          </a:bodyPr>
          <a:lstStyle/>
          <a:p>
            <a:pPr>
              <a:spcAft>
                <a:spcPts val="200"/>
              </a:spcAft>
              <a:defRPr sz="1150" b="0" i="0">
                <a:solidFill>
                  <a:srgbClr val="24313D"/>
                </a:solidFill>
                <a:latin typeface="Aptos"/>
              </a:defRPr>
            </a:pPr>
            <a:r>
              <a:t>The SS1 brief describes 2.3 million registered accounts and a material drop between registration and funded investing. This is project context—not the modelling sample size.</a:t>
            </a:r>
          </a:p>
        </p:txBody>
      </p:sp>
      <p:sp>
        <p:nvSpPr>
          <p:cNvPr id="13" name="Rounded Rectangle 12"/>
          <p:cNvSpPr/>
          <p:nvPr/>
        </p:nvSpPr>
        <p:spPr>
          <a:xfrm>
            <a:off x="4315968" y="1481328"/>
            <a:ext cx="3520440" cy="1828800"/>
          </a:xfrm>
          <a:prstGeom prst="roundRect">
            <a:avLst/>
          </a:prstGeom>
          <a:solidFill>
            <a:srgbClr val="F2F6F8"/>
          </a:solidFill>
          <a:ln w="10160">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1481328"/>
            <a:ext cx="64008" cy="1828800"/>
          </a:xfrm>
          <a:prstGeom prst="rect">
            <a:avLst/>
          </a:prstGeom>
          <a:solidFill>
            <a:srgbClr val="2E6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59" y="1600200"/>
            <a:ext cx="3209544" cy="274320"/>
          </a:xfrm>
          <a:prstGeom prst="rect">
            <a:avLst/>
          </a:prstGeom>
          <a:noFill/>
        </p:spPr>
        <p:txBody>
          <a:bodyPr wrap="square" lIns="22860" rIns="22860" tIns="22860" bIns="22860" anchor="t">
            <a:spAutoFit/>
          </a:bodyPr>
          <a:lstStyle/>
          <a:p>
            <a:pPr>
              <a:spcAft>
                <a:spcPts val="200"/>
              </a:spcAft>
              <a:defRPr sz="1300" b="1" i="0">
                <a:solidFill>
                  <a:srgbClr val="17324D"/>
                </a:solidFill>
                <a:latin typeface="Aptos"/>
              </a:defRPr>
            </a:pPr>
            <a:r>
              <a:t>The question</a:t>
            </a:r>
          </a:p>
        </p:txBody>
      </p:sp>
      <p:sp>
        <p:nvSpPr>
          <p:cNvPr id="16" name="TextBox 15"/>
          <p:cNvSpPr txBox="1"/>
          <p:nvPr/>
        </p:nvSpPr>
        <p:spPr>
          <a:xfrm>
            <a:off x="4480559" y="1938528"/>
            <a:ext cx="3209544" cy="1298448"/>
          </a:xfrm>
          <a:prstGeom prst="rect">
            <a:avLst/>
          </a:prstGeom>
          <a:noFill/>
        </p:spPr>
        <p:txBody>
          <a:bodyPr wrap="square" lIns="22860" rIns="22860" tIns="22860" bIns="22860" anchor="t">
            <a:spAutoFit/>
          </a:bodyPr>
          <a:lstStyle/>
          <a:p>
            <a:pPr>
              <a:spcAft>
                <a:spcPts val="200"/>
              </a:spcAft>
              <a:defRPr sz="1200" b="0" i="0">
                <a:solidFill>
                  <a:srgbClr val="24313D"/>
                </a:solidFill>
                <a:latin typeface="Aptos"/>
              </a:defRPr>
            </a:pPr>
            <a:r>
              <a:t>Can registration, onboarding and early behaviour identify accounts that will make a first deposit within 90 days?</a:t>
            </a:r>
          </a:p>
        </p:txBody>
      </p:sp>
      <p:sp>
        <p:nvSpPr>
          <p:cNvPr id="17" name="Rounded Rectangle 16"/>
          <p:cNvSpPr/>
          <p:nvPr/>
        </p:nvSpPr>
        <p:spPr>
          <a:xfrm>
            <a:off x="8065008" y="1481328"/>
            <a:ext cx="3520440" cy="1828800"/>
          </a:xfrm>
          <a:prstGeom prst="roundRect">
            <a:avLst/>
          </a:prstGeom>
          <a:solidFill>
            <a:srgbClr val="F2F6F8"/>
          </a:solidFill>
          <a:ln w="10160">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1481328"/>
            <a:ext cx="64008" cy="1828800"/>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0" y="1600200"/>
            <a:ext cx="3209544" cy="274320"/>
          </a:xfrm>
          <a:prstGeom prst="rect">
            <a:avLst/>
          </a:prstGeom>
          <a:noFill/>
        </p:spPr>
        <p:txBody>
          <a:bodyPr wrap="square" lIns="22860" rIns="22860" tIns="22860" bIns="22860" anchor="t">
            <a:spAutoFit/>
          </a:bodyPr>
          <a:lstStyle/>
          <a:p>
            <a:pPr>
              <a:spcAft>
                <a:spcPts val="200"/>
              </a:spcAft>
              <a:defRPr sz="1300" b="1" i="0">
                <a:solidFill>
                  <a:srgbClr val="17324D"/>
                </a:solidFill>
                <a:latin typeface="Aptos"/>
              </a:defRPr>
            </a:pPr>
            <a:r>
              <a:t>The decision</a:t>
            </a:r>
          </a:p>
        </p:txBody>
      </p:sp>
      <p:sp>
        <p:nvSpPr>
          <p:cNvPr id="20" name="TextBox 19"/>
          <p:cNvSpPr txBox="1"/>
          <p:nvPr/>
        </p:nvSpPr>
        <p:spPr>
          <a:xfrm>
            <a:off x="8229600" y="1938528"/>
            <a:ext cx="3209544" cy="1298448"/>
          </a:xfrm>
          <a:prstGeom prst="rect">
            <a:avLst/>
          </a:prstGeom>
          <a:noFill/>
        </p:spPr>
        <p:txBody>
          <a:bodyPr wrap="square" lIns="22860" rIns="22860" tIns="22860" bIns="22860" anchor="t">
            <a:spAutoFit/>
          </a:bodyPr>
          <a:lstStyle/>
          <a:p>
            <a:pPr>
              <a:spcAft>
                <a:spcPts val="200"/>
              </a:spcAft>
              <a:defRPr sz="1150" b="0" i="0">
                <a:solidFill>
                  <a:srgbClr val="24313D"/>
                </a:solidFill>
                <a:latin typeface="Aptos"/>
              </a:defRPr>
            </a:pPr>
            <a:r>
              <a:t>Use risk ranking to prioritise human support or helpful onboarding nudges—then test whether support changes outcomes.</a:t>
            </a:r>
          </a:p>
        </p:txBody>
      </p:sp>
      <p:sp>
        <p:nvSpPr>
          <p:cNvPr id="21" name="Rounded Rectangle 20"/>
          <p:cNvSpPr/>
          <p:nvPr/>
        </p:nvSpPr>
        <p:spPr>
          <a:xfrm>
            <a:off x="566928" y="3584448"/>
            <a:ext cx="11018520" cy="1298448"/>
          </a:xfrm>
          <a:prstGeom prst="roundRect">
            <a:avLst/>
          </a:prstGeom>
          <a:solidFill>
            <a:srgbClr val="F2F6F8"/>
          </a:solidFill>
          <a:ln w="10160">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3767328"/>
            <a:ext cx="1920240" cy="228600"/>
          </a:xfrm>
          <a:prstGeom prst="rect">
            <a:avLst/>
          </a:prstGeom>
          <a:noFill/>
        </p:spPr>
        <p:txBody>
          <a:bodyPr wrap="square" lIns="22860" rIns="22860" tIns="22860" bIns="22860" anchor="t">
            <a:spAutoFit/>
          </a:bodyPr>
          <a:lstStyle/>
          <a:p>
            <a:pPr>
              <a:spcAft>
                <a:spcPts val="200"/>
              </a:spcAft>
              <a:defRPr sz="1000" b="1" i="0">
                <a:solidFill>
                  <a:srgbClr val="B94B4B"/>
                </a:solidFill>
                <a:latin typeface="Aptos"/>
              </a:defRPr>
            </a:pPr>
            <a:r>
              <a:t>SUCCESS IS NOT</a:t>
            </a:r>
          </a:p>
        </p:txBody>
      </p:sp>
      <p:sp>
        <p:nvSpPr>
          <p:cNvPr id="23" name="TextBox 22"/>
          <p:cNvSpPr txBox="1"/>
          <p:nvPr/>
        </p:nvSpPr>
        <p:spPr>
          <a:xfrm>
            <a:off x="804672" y="4114800"/>
            <a:ext cx="4297680" cy="457200"/>
          </a:xfrm>
          <a:prstGeom prst="rect">
            <a:avLst/>
          </a:prstGeom>
          <a:noFill/>
        </p:spPr>
        <p:txBody>
          <a:bodyPr wrap="square" lIns="22860" rIns="22860" tIns="22860" bIns="22860" anchor="t">
            <a:spAutoFit/>
          </a:bodyPr>
          <a:lstStyle/>
          <a:p>
            <a:pPr>
              <a:spcAft>
                <a:spcPts val="200"/>
              </a:spcAft>
              <a:defRPr sz="1700" b="1" i="0">
                <a:solidFill>
                  <a:srgbClr val="24313D"/>
                </a:solidFill>
                <a:latin typeface="Aptos"/>
              </a:defRPr>
            </a:pPr>
            <a:r>
              <a:t>More clicks or accuracy alone</a:t>
            </a:r>
          </a:p>
        </p:txBody>
      </p:sp>
      <p:sp>
        <p:nvSpPr>
          <p:cNvPr id="24" name="TextBox 23"/>
          <p:cNvSpPr txBox="1"/>
          <p:nvPr/>
        </p:nvSpPr>
        <p:spPr>
          <a:xfrm>
            <a:off x="5715000" y="3767328"/>
            <a:ext cx="2194560" cy="228600"/>
          </a:xfrm>
          <a:prstGeom prst="rect">
            <a:avLst/>
          </a:prstGeom>
          <a:noFill/>
        </p:spPr>
        <p:txBody>
          <a:bodyPr wrap="square" lIns="22860" rIns="22860" tIns="22860" bIns="22860" anchor="t">
            <a:spAutoFit/>
          </a:bodyPr>
          <a:lstStyle/>
          <a:p>
            <a:pPr>
              <a:spcAft>
                <a:spcPts val="200"/>
              </a:spcAft>
              <a:defRPr sz="1000" b="1" i="0">
                <a:solidFill>
                  <a:srgbClr val="2A9D8F"/>
                </a:solidFill>
                <a:latin typeface="Aptos"/>
              </a:defRPr>
            </a:pPr>
            <a:r>
              <a:t>SUCCESS SHOULD BE</a:t>
            </a:r>
          </a:p>
        </p:txBody>
      </p:sp>
      <p:sp>
        <p:nvSpPr>
          <p:cNvPr id="25" name="TextBox 24"/>
          <p:cNvSpPr txBox="1"/>
          <p:nvPr/>
        </p:nvSpPr>
        <p:spPr>
          <a:xfrm>
            <a:off x="5715000" y="4105656"/>
            <a:ext cx="5394960" cy="530352"/>
          </a:xfrm>
          <a:prstGeom prst="rect">
            <a:avLst/>
          </a:prstGeom>
          <a:noFill/>
        </p:spPr>
        <p:txBody>
          <a:bodyPr wrap="square" lIns="22860" rIns="22860" tIns="22860" bIns="22860" anchor="t">
            <a:spAutoFit/>
          </a:bodyPr>
          <a:lstStyle/>
          <a:p>
            <a:pPr>
              <a:spcAft>
                <a:spcPts val="200"/>
              </a:spcAft>
              <a:defRPr sz="1500" b="1" i="0">
                <a:solidFill>
                  <a:srgbClr val="17324D"/>
                </a:solidFill>
                <a:latin typeface="Aptos"/>
              </a:defRPr>
            </a:pPr>
            <a:r>
              <a:t>More incremental first deposits at acceptable cost—with fair, compliant treatment</a:t>
            </a:r>
          </a:p>
        </p:txBody>
      </p:sp>
      <p:sp>
        <p:nvSpPr>
          <p:cNvPr id="26" name="TextBox 25"/>
          <p:cNvSpPr txBox="1"/>
          <p:nvPr/>
        </p:nvSpPr>
        <p:spPr>
          <a:xfrm>
            <a:off x="621792" y="5257800"/>
            <a:ext cx="1417320" cy="256032"/>
          </a:xfrm>
          <a:prstGeom prst="rect">
            <a:avLst/>
          </a:prstGeom>
          <a:noFill/>
        </p:spPr>
        <p:txBody>
          <a:bodyPr wrap="square" lIns="22860" rIns="22860" tIns="22860" bIns="22860" anchor="t">
            <a:spAutoFit/>
          </a:bodyPr>
          <a:lstStyle/>
          <a:p>
            <a:pPr>
              <a:spcAft>
                <a:spcPts val="200"/>
              </a:spcAft>
              <a:defRPr sz="900" b="1" i="0">
                <a:solidFill>
                  <a:srgbClr val="2A9D8F"/>
                </a:solidFill>
                <a:latin typeface="Aptos"/>
              </a:defRPr>
            </a:pPr>
            <a:r>
              <a:t>CLIENT LENS</a:t>
            </a:r>
          </a:p>
        </p:txBody>
      </p:sp>
      <p:sp>
        <p:nvSpPr>
          <p:cNvPr id="27" name="TextBox 26"/>
          <p:cNvSpPr txBox="1"/>
          <p:nvPr/>
        </p:nvSpPr>
        <p:spPr>
          <a:xfrm>
            <a:off x="2103120" y="5230368"/>
            <a:ext cx="9052560" cy="365760"/>
          </a:xfrm>
          <a:prstGeom prst="rect">
            <a:avLst/>
          </a:prstGeom>
          <a:noFill/>
        </p:spPr>
        <p:txBody>
          <a:bodyPr wrap="square" lIns="22860" rIns="22860" tIns="22860" bIns="22860" anchor="t">
            <a:spAutoFit/>
          </a:bodyPr>
          <a:lstStyle/>
          <a:p>
            <a:pPr>
              <a:spcAft>
                <a:spcPts val="200"/>
              </a:spcAft>
              <a:defRPr sz="1200" b="0" i="0">
                <a:solidFill>
                  <a:srgbClr val="24313D"/>
                </a:solidFill>
                <a:latin typeface="Aptos"/>
              </a:defRPr>
            </a:pPr>
            <a:r>
              <a:t>Find the right account, at the right time, with helpful support—not a punitive label.</a:t>
            </a:r>
          </a:p>
        </p:txBody>
      </p:sp>
      <p:sp>
        <p:nvSpPr>
          <p:cNvPr id="28" name="TextBox 27"/>
          <p:cNvSpPr txBox="1"/>
          <p:nvPr/>
        </p:nvSpPr>
        <p:spPr>
          <a:xfrm>
            <a:off x="566928" y="6272784"/>
            <a:ext cx="10972800" cy="164592"/>
          </a:xfrm>
          <a:prstGeom prst="rect">
            <a:avLst/>
          </a:prstGeom>
          <a:noFill/>
        </p:spPr>
        <p:txBody>
          <a:bodyPr wrap="square" lIns="22860" rIns="22860" tIns="22860" bIns="22860" anchor="t">
            <a:spAutoFit/>
          </a:bodyPr>
          <a:lstStyle/>
          <a:p>
            <a:pPr>
              <a:spcAft>
                <a:spcPts val="200"/>
              </a:spcAft>
              <a:defRPr sz="700" b="0" i="1">
                <a:solidFill>
                  <a:srgbClr val="586A78"/>
                </a:solidFill>
                <a:latin typeface="Aptos"/>
              </a:defRPr>
            </a:pPr>
            <a:r>
              <a:t>Source: README_SS1.md, Parts A-B. The 2.3m figure is stated in the brief; SS3 models a separate extract.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640080" y="256032"/>
            <a:ext cx="10789920" cy="256032"/>
          </a:xfrm>
          <a:prstGeom prst="rect">
            <a:avLst/>
          </a:prstGeom>
          <a:noFill/>
        </p:spPr>
        <p:txBody>
          <a:bodyPr wrap="square" lIns="18288" rIns="18288" tIns="9144" bIns="9144" anchor="ctr">
            <a:spAutoFit/>
          </a:bodyPr>
          <a:lstStyle/>
          <a:p>
            <a:pPr algn="l"/>
            <a:r>
              <a:rPr sz="1000" b="1">
                <a:solidFill>
                  <a:srgbClr val="008F95"/>
                </a:solidFill>
                <a:latin typeface="Aptos"/>
              </a:rPr>
              <a:t>EXPLORATORY ANALYSIS</a:t>
            </a:r>
          </a:p>
        </p:txBody>
      </p:sp>
      <p:sp>
        <p:nvSpPr>
          <p:cNvPr id="3" name="TextBox 2"/>
          <p:cNvSpPr txBox="1"/>
          <p:nvPr/>
        </p:nvSpPr>
        <p:spPr>
          <a:xfrm>
            <a:off x="640080" y="566928"/>
            <a:ext cx="10972800" cy="512064"/>
          </a:xfrm>
          <a:prstGeom prst="rect">
            <a:avLst/>
          </a:prstGeom>
          <a:noFill/>
        </p:spPr>
        <p:txBody>
          <a:bodyPr wrap="square" lIns="18288" rIns="18288" tIns="9144" bIns="9144" anchor="ctr">
            <a:spAutoFit/>
          </a:bodyPr>
          <a:lstStyle/>
          <a:p>
            <a:pPr algn="l"/>
            <a:r>
              <a:rPr sz="2500" b="1">
                <a:solidFill>
                  <a:srgbClr val="17324D"/>
                </a:solidFill>
                <a:latin typeface="Aptos"/>
              </a:rPr>
              <a:t>Early engagement tracks with activation</a:t>
            </a:r>
          </a:p>
        </p:txBody>
      </p:sp>
      <p:sp>
        <p:nvSpPr>
          <p:cNvPr id="4" name="TextBox 3"/>
          <p:cNvSpPr txBox="1"/>
          <p:nvPr/>
        </p:nvSpPr>
        <p:spPr>
          <a:xfrm>
            <a:off x="658368" y="1115568"/>
            <a:ext cx="10972800" cy="384048"/>
          </a:xfrm>
          <a:prstGeom prst="rect">
            <a:avLst/>
          </a:prstGeom>
          <a:noFill/>
        </p:spPr>
        <p:txBody>
          <a:bodyPr wrap="square" lIns="18288" rIns="18288" tIns="9144" bIns="9144" anchor="ctr">
            <a:spAutoFit/>
          </a:bodyPr>
          <a:lstStyle/>
          <a:p>
            <a:pPr algn="l"/>
            <a:r>
              <a:rPr sz="1200" b="0">
                <a:solidFill>
                  <a:srgbClr val="687789"/>
                </a:solidFill>
                <a:latin typeface="Aptos"/>
              </a:rPr>
              <a:t>Two observed patterns from the 4,906-account cohort ? useful for hypotheses, not causal claims.</a:t>
            </a:r>
          </a:p>
        </p:txBody>
      </p:sp>
      <p:pic>
        <p:nvPicPr>
          <p:cNvPr id="5" name="Picture 4" descr="cap182_partc_eda.png"/>
          <p:cNvPicPr>
            <a:picLocks noChangeAspect="1"/>
          </p:cNvPicPr>
          <p:nvPr/>
        </p:nvPicPr>
        <p:blipFill>
          <a:blip r:embed="rId2"/>
          <a:stretch>
            <a:fillRect/>
          </a:stretch>
        </p:blipFill>
        <p:spPr>
          <a:xfrm>
            <a:off x="530352" y="1572768"/>
            <a:ext cx="11109960" cy="4279392"/>
          </a:xfrm>
          <a:prstGeom prst="rect">
            <a:avLst/>
          </a:prstGeom>
        </p:spPr>
      </p:pic>
      <p:sp>
        <p:nvSpPr>
          <p:cNvPr id="6" name="TextBox 5"/>
          <p:cNvSpPr txBox="1"/>
          <p:nvPr/>
        </p:nvSpPr>
        <p:spPr>
          <a:xfrm>
            <a:off x="658368" y="5897880"/>
            <a:ext cx="10881360" cy="347472"/>
          </a:xfrm>
          <a:prstGeom prst="rect">
            <a:avLst/>
          </a:prstGeom>
          <a:noFill/>
        </p:spPr>
        <p:txBody>
          <a:bodyPr wrap="square" lIns="18288" rIns="18288" tIns="9144" bIns="9144" anchor="ctr">
            <a:spAutoFit/>
          </a:bodyPr>
          <a:lstStyle/>
          <a:p>
            <a:pPr algn="l"/>
            <a:r>
              <a:rPr sz="1100" b="1">
                <a:solidFill>
                  <a:srgbClr val="17324D"/>
                </a:solidFill>
                <a:latin typeface="Aptos"/>
              </a:rPr>
              <a:t>Interpretation: association can guide a support experiment; it does not show that content or session length causes a deposit.</a:t>
            </a:r>
          </a:p>
        </p:txBody>
      </p:sp>
      <p:sp>
        <p:nvSpPr>
          <p:cNvPr id="7" name="TextBox 6"/>
          <p:cNvSpPr txBox="1"/>
          <p:nvPr/>
        </p:nvSpPr>
        <p:spPr>
          <a:xfrm>
            <a:off x="658368" y="6309360"/>
            <a:ext cx="10332720" cy="228600"/>
          </a:xfrm>
          <a:prstGeom prst="rect">
            <a:avLst/>
          </a:prstGeom>
          <a:noFill/>
        </p:spPr>
        <p:txBody>
          <a:bodyPr wrap="square" lIns="18288" rIns="18288" tIns="9144" bIns="9144" anchor="ctr">
            <a:spAutoFit/>
          </a:bodyPr>
          <a:lstStyle/>
          <a:p>
            <a:pPr algn="l"/>
            <a:r>
              <a:rPr sz="800" b="0">
                <a:solidFill>
                  <a:srgbClr val="687789"/>
                </a:solidFill>
                <a:latin typeface="Aptos"/>
              </a:rPr>
              <a:t>Source: table01_registration_onboarding + table02_initial_session_behaviour; first-session duration n=4,850 non-missing.</a:t>
            </a:r>
          </a:p>
        </p:txBody>
      </p:sp>
      <p:sp>
        <p:nvSpPr>
          <p:cNvPr id="8" name="TextBox 7"/>
          <p:cNvSpPr txBox="1"/>
          <p:nvPr/>
        </p:nvSpPr>
        <p:spPr>
          <a:xfrm>
            <a:off x="10744200" y="6510528"/>
            <a:ext cx="822960" cy="182880"/>
          </a:xfrm>
          <a:prstGeom prst="rect">
            <a:avLst/>
          </a:prstGeom>
          <a:noFill/>
        </p:spPr>
        <p:txBody>
          <a:bodyPr wrap="square" lIns="18288" rIns="18288" tIns="9144" bIns="9144" anchor="ctr">
            <a:spAutoFit/>
          </a:bodyPr>
          <a:lstStyle/>
          <a:p>
            <a:pPr algn="r"/>
            <a:r>
              <a:rPr sz="800" b="0">
                <a:solidFill>
                  <a:srgbClr val="687789"/>
                </a:solidFill>
                <a:latin typeface="Aptos"/>
              </a:rPr>
              <a:t>03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28600"/>
            <a:ext cx="7772400" cy="210312"/>
          </a:xfrm>
          <a:prstGeom prst="rect">
            <a:avLst/>
          </a:prstGeom>
          <a:noFill/>
        </p:spPr>
        <p:txBody>
          <a:bodyPr wrap="square" lIns="22860" rIns="22860" tIns="22860" bIns="22860" anchor="t">
            <a:spAutoFit/>
          </a:bodyPr>
          <a:lstStyle/>
          <a:p>
            <a:pPr>
              <a:spcAft>
                <a:spcPts val="200"/>
              </a:spcAft>
              <a:defRPr sz="900" b="1" i="0">
                <a:solidFill>
                  <a:srgbClr val="2E6F9E"/>
                </a:solidFill>
                <a:latin typeface="Aptos"/>
              </a:defRPr>
            </a:pPr>
            <a:r>
              <a:t>SS1 GOVERNANCE: RAAIDD</a:t>
            </a:r>
          </a:p>
        </p:txBody>
      </p:sp>
      <p:sp>
        <p:nvSpPr>
          <p:cNvPr id="4" name="TextBox 3"/>
          <p:cNvSpPr txBox="1"/>
          <p:nvPr/>
        </p:nvSpPr>
        <p:spPr>
          <a:xfrm>
            <a:off x="530352" y="502920"/>
            <a:ext cx="10972800" cy="438912"/>
          </a:xfrm>
          <a:prstGeom prst="rect">
            <a:avLst/>
          </a:prstGeom>
          <a:noFill/>
        </p:spPr>
        <p:txBody>
          <a:bodyPr wrap="square" lIns="22860" rIns="22860" tIns="22860" bIns="22860" anchor="t">
            <a:spAutoFit/>
          </a:bodyPr>
          <a:lstStyle/>
          <a:p>
            <a:pPr>
              <a:spcAft>
                <a:spcPts val="200"/>
              </a:spcAft>
              <a:defRPr sz="2400" b="1" i="0">
                <a:solidFill>
                  <a:srgbClr val="17324D"/>
                </a:solidFill>
                <a:latin typeface="Aptos"/>
              </a:defRPr>
            </a:pPr>
            <a:r>
              <a:t>The original plan anticipated risks that the extract makes concrete</a:t>
            </a:r>
          </a:p>
        </p:txBody>
      </p:sp>
      <p:sp>
        <p:nvSpPr>
          <p:cNvPr id="5" name="TextBox 4"/>
          <p:cNvSpPr txBox="1"/>
          <p:nvPr/>
        </p:nvSpPr>
        <p:spPr>
          <a:xfrm>
            <a:off x="548640" y="987552"/>
            <a:ext cx="10972800" cy="310896"/>
          </a:xfrm>
          <a:prstGeom prst="rect">
            <a:avLst/>
          </a:prstGeom>
          <a:noFill/>
        </p:spPr>
        <p:txBody>
          <a:bodyPr wrap="square" lIns="22860" rIns="22860" tIns="22860" bIns="22860" anchor="t">
            <a:spAutoFit/>
          </a:bodyPr>
          <a:lstStyle/>
          <a:p>
            <a:pPr>
              <a:spcAft>
                <a:spcPts val="200"/>
              </a:spcAft>
              <a:defRPr sz="1100" b="0" i="0">
                <a:solidFill>
                  <a:srgbClr val="586A78"/>
                </a:solidFill>
                <a:latin typeface="Aptos"/>
              </a:defRPr>
            </a:pPr>
            <a:r>
              <a:t>RAAIDD = Risks, Actions, Assumptions, Issues, Decisions and Dependencies.</a:t>
            </a:r>
          </a:p>
        </p:txBody>
      </p:sp>
      <p:sp>
        <p:nvSpPr>
          <p:cNvPr id="6" name="Rectangle 5"/>
          <p:cNvSpPr/>
          <p:nvPr/>
        </p:nvSpPr>
        <p:spPr>
          <a:xfrm>
            <a:off x="530352" y="6501384"/>
            <a:ext cx="11128248" cy="10972"/>
          </a:xfrm>
          <a:prstGeom prst="rect">
            <a:avLst/>
          </a:prstGeom>
          <a:solidFill>
            <a:srgbClr val="DCE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56248"/>
            <a:ext cx="8229600" cy="155448"/>
          </a:xfrm>
          <a:prstGeom prst="rect">
            <a:avLst/>
          </a:prstGeom>
          <a:noFill/>
        </p:spPr>
        <p:txBody>
          <a:bodyPr wrap="square" lIns="22860" rIns="22860" tIns="22860" bIns="22860" anchor="t">
            <a:spAutoFit/>
          </a:bodyPr>
          <a:lstStyle/>
          <a:p>
            <a:pPr>
              <a:spcAft>
                <a:spcPts val="200"/>
              </a:spcAft>
              <a:defRPr sz="700" b="0" i="0">
                <a:solidFill>
                  <a:srgbClr val="586A78"/>
                </a:solidFill>
                <a:latin typeface="Aptos"/>
              </a:defRPr>
            </a:pPr>
            <a:r>
              <a:t>CAP182  •  SS3 PART C  •  STADIOEQUITIES</a:t>
            </a:r>
          </a:p>
        </p:txBody>
      </p:sp>
      <p:sp>
        <p:nvSpPr>
          <p:cNvPr id="8" name="TextBox 7"/>
          <p:cNvSpPr txBox="1"/>
          <p:nvPr/>
        </p:nvSpPr>
        <p:spPr>
          <a:xfrm>
            <a:off x="10972800" y="6556248"/>
            <a:ext cx="685800" cy="155448"/>
          </a:xfrm>
          <a:prstGeom prst="rect">
            <a:avLst/>
          </a:prstGeom>
          <a:noFill/>
        </p:spPr>
        <p:txBody>
          <a:bodyPr wrap="square" lIns="22860" rIns="22860" tIns="22860" bIns="22860" anchor="t">
            <a:spAutoFit/>
          </a:bodyPr>
          <a:lstStyle/>
          <a:p>
            <a:pPr algn="r">
              <a:spcAft>
                <a:spcPts val="200"/>
              </a:spcAft>
              <a:defRPr sz="700" b="0" i="0">
                <a:solidFill>
                  <a:srgbClr val="586A78"/>
                </a:solidFill>
                <a:latin typeface="Aptos"/>
              </a:defRPr>
            </a:pPr>
            <a:r>
              <a:t>04 / 12</a:t>
            </a:r>
          </a:p>
        </p:txBody>
      </p:sp>
      <p:sp>
        <p:nvSpPr>
          <p:cNvPr id="9" name="Rounded Rectangle 8"/>
          <p:cNvSpPr/>
          <p:nvPr/>
        </p:nvSpPr>
        <p:spPr>
          <a:xfrm>
            <a:off x="566928" y="1444752"/>
            <a:ext cx="3520440" cy="1737360"/>
          </a:xfrm>
          <a:prstGeom prst="roundRect">
            <a:avLst/>
          </a:prstGeom>
          <a:solidFill>
            <a:srgbClr val="FBEDEE"/>
          </a:solidFill>
          <a:ln w="10160">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1444752"/>
            <a:ext cx="64008" cy="1737360"/>
          </a:xfrm>
          <a:prstGeom prst="rect">
            <a:avLst/>
          </a:prstGeom>
          <a:solidFill>
            <a:srgbClr val="B9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563624"/>
            <a:ext cx="3209544" cy="274320"/>
          </a:xfrm>
          <a:prstGeom prst="rect">
            <a:avLst/>
          </a:prstGeom>
          <a:noFill/>
        </p:spPr>
        <p:txBody>
          <a:bodyPr wrap="square" lIns="22860" rIns="22860" tIns="22860" bIns="22860" anchor="t">
            <a:spAutoFit/>
          </a:bodyPr>
          <a:lstStyle/>
          <a:p>
            <a:pPr>
              <a:spcAft>
                <a:spcPts val="200"/>
              </a:spcAft>
              <a:defRPr sz="1250" b="1" i="0">
                <a:solidFill>
                  <a:srgbClr val="17324D"/>
                </a:solidFill>
                <a:latin typeface="Aptos"/>
              </a:defRPr>
            </a:pPr>
            <a:r>
              <a:t>RISK • data coverage</a:t>
            </a:r>
          </a:p>
        </p:txBody>
      </p:sp>
      <p:sp>
        <p:nvSpPr>
          <p:cNvPr id="12" name="TextBox 11"/>
          <p:cNvSpPr txBox="1"/>
          <p:nvPr/>
        </p:nvSpPr>
        <p:spPr>
          <a:xfrm>
            <a:off x="731520" y="1901952"/>
            <a:ext cx="3209544" cy="1207007"/>
          </a:xfrm>
          <a:prstGeom prst="rect">
            <a:avLst/>
          </a:prstGeom>
          <a:noFill/>
        </p:spPr>
        <p:txBody>
          <a:bodyPr wrap="square" lIns="22860" rIns="22860" tIns="22860" bIns="22860" anchor="t">
            <a:spAutoFit/>
          </a:bodyPr>
          <a:lstStyle/>
          <a:p>
            <a:pPr>
              <a:spcAft>
                <a:spcPts val="200"/>
              </a:spcAft>
              <a:defRPr sz="1060" b="0" i="0">
                <a:solidFill>
                  <a:srgbClr val="24313D"/>
                </a:solidFill>
                <a:latin typeface="Aptos"/>
              </a:defRPr>
            </a:pPr>
            <a:r>
              <a:t>SS1 assumption: ≥100K accounts and 12–18 months. SS3 extract: 4,906 unique accounts. Useful for development; not proof about the full 2.3m base.</a:t>
            </a:r>
          </a:p>
        </p:txBody>
      </p:sp>
      <p:sp>
        <p:nvSpPr>
          <p:cNvPr id="13" name="Rounded Rectangle 12"/>
          <p:cNvSpPr/>
          <p:nvPr/>
        </p:nvSpPr>
        <p:spPr>
          <a:xfrm>
            <a:off x="4315968" y="1444752"/>
            <a:ext cx="3520440" cy="1737360"/>
          </a:xfrm>
          <a:prstGeom prst="roundRect">
            <a:avLst/>
          </a:prstGeom>
          <a:solidFill>
            <a:srgbClr val="FCF5E6"/>
          </a:solidFill>
          <a:ln w="10160">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1444752"/>
            <a:ext cx="64008" cy="1737360"/>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59" y="1563624"/>
            <a:ext cx="3209544" cy="274320"/>
          </a:xfrm>
          <a:prstGeom prst="rect">
            <a:avLst/>
          </a:prstGeom>
          <a:noFill/>
        </p:spPr>
        <p:txBody>
          <a:bodyPr wrap="square" lIns="22860" rIns="22860" tIns="22860" bIns="22860" anchor="t">
            <a:spAutoFit/>
          </a:bodyPr>
          <a:lstStyle/>
          <a:p>
            <a:pPr>
              <a:spcAft>
                <a:spcPts val="200"/>
              </a:spcAft>
              <a:defRPr sz="1250" b="1" i="0">
                <a:solidFill>
                  <a:srgbClr val="17324D"/>
                </a:solidFill>
                <a:latin typeface="Aptos"/>
              </a:defRPr>
            </a:pPr>
            <a:r>
              <a:t>RISK • time drift</a:t>
            </a:r>
          </a:p>
        </p:txBody>
      </p:sp>
      <p:sp>
        <p:nvSpPr>
          <p:cNvPr id="16" name="TextBox 15"/>
          <p:cNvSpPr txBox="1"/>
          <p:nvPr/>
        </p:nvSpPr>
        <p:spPr>
          <a:xfrm>
            <a:off x="4480559" y="1901952"/>
            <a:ext cx="3209544" cy="1207007"/>
          </a:xfrm>
          <a:prstGeom prst="rect">
            <a:avLst/>
          </a:prstGeom>
          <a:noFill/>
        </p:spPr>
        <p:txBody>
          <a:bodyPr wrap="square" lIns="22860" rIns="22860" tIns="22860" bIns="22860" anchor="t">
            <a:spAutoFit/>
          </a:bodyPr>
          <a:lstStyle/>
          <a:p>
            <a:pPr>
              <a:spcAft>
                <a:spcPts val="200"/>
              </a:spcAft>
              <a:defRPr sz="1060" b="0" i="0">
                <a:solidFill>
                  <a:srgbClr val="24313D"/>
                </a:solidFill>
                <a:latin typeface="Aptos"/>
              </a:defRPr>
            </a:pPr>
            <a:r>
              <a:t>SS1 flagged behaviour drift and recommended recent-cohort testing / quarterly review. SS3 uses a random split, not a chronological test.</a:t>
            </a:r>
          </a:p>
        </p:txBody>
      </p:sp>
      <p:sp>
        <p:nvSpPr>
          <p:cNvPr id="17" name="Rounded Rectangle 16"/>
          <p:cNvSpPr/>
          <p:nvPr/>
        </p:nvSpPr>
        <p:spPr>
          <a:xfrm>
            <a:off x="8065008" y="1444752"/>
            <a:ext cx="3520440" cy="1737360"/>
          </a:xfrm>
          <a:prstGeom prst="roundRect">
            <a:avLst/>
          </a:prstGeom>
          <a:solidFill>
            <a:srgbClr val="F2F6F8"/>
          </a:solidFill>
          <a:ln w="10160">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1444752"/>
            <a:ext cx="64008" cy="1737360"/>
          </a:xfrm>
          <a:prstGeom prst="rect">
            <a:avLst/>
          </a:prstGeom>
          <a:solidFill>
            <a:srgbClr val="2E6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0" y="1563624"/>
            <a:ext cx="3209544" cy="274320"/>
          </a:xfrm>
          <a:prstGeom prst="rect">
            <a:avLst/>
          </a:prstGeom>
          <a:noFill/>
        </p:spPr>
        <p:txBody>
          <a:bodyPr wrap="square" lIns="22860" rIns="22860" tIns="22860" bIns="22860" anchor="t">
            <a:spAutoFit/>
          </a:bodyPr>
          <a:lstStyle/>
          <a:p>
            <a:pPr>
              <a:spcAft>
                <a:spcPts val="200"/>
              </a:spcAft>
              <a:defRPr sz="1250" b="1" i="0">
                <a:solidFill>
                  <a:srgbClr val="17324D"/>
                </a:solidFill>
                <a:latin typeface="Aptos"/>
              </a:defRPr>
            </a:pPr>
            <a:r>
              <a:t>RISK • privacy</a:t>
            </a:r>
          </a:p>
        </p:txBody>
      </p:sp>
      <p:sp>
        <p:nvSpPr>
          <p:cNvPr id="20" name="TextBox 19"/>
          <p:cNvSpPr txBox="1"/>
          <p:nvPr/>
        </p:nvSpPr>
        <p:spPr>
          <a:xfrm>
            <a:off x="8229600" y="1901952"/>
            <a:ext cx="3209544" cy="1207007"/>
          </a:xfrm>
          <a:prstGeom prst="rect">
            <a:avLst/>
          </a:prstGeom>
          <a:noFill/>
        </p:spPr>
        <p:txBody>
          <a:bodyPr wrap="square" lIns="22860" rIns="22860" tIns="22860" bIns="22860" anchor="t">
            <a:spAutoFit/>
          </a:bodyPr>
          <a:lstStyle/>
          <a:p>
            <a:pPr>
              <a:spcAft>
                <a:spcPts val="200"/>
              </a:spcAft>
              <a:defRPr sz="1060" b="0" i="0">
                <a:solidFill>
                  <a:srgbClr val="24313D"/>
                </a:solidFill>
                <a:latin typeface="Aptos"/>
              </a:defRPr>
            </a:pPr>
            <a:r>
              <a:t>SS1 flagged POPIA and pseudonymisation. Use approved data, restrict access, and do not publish account-level predictions or identifiers.</a:t>
            </a:r>
          </a:p>
        </p:txBody>
      </p:sp>
      <p:sp>
        <p:nvSpPr>
          <p:cNvPr id="21" name="Rounded Rectangle 20"/>
          <p:cNvSpPr/>
          <p:nvPr/>
        </p:nvSpPr>
        <p:spPr>
          <a:xfrm>
            <a:off x="566928" y="3456432"/>
            <a:ext cx="11018520" cy="1353312"/>
          </a:xfrm>
          <a:prstGeom prst="roundRect">
            <a:avLst/>
          </a:prstGeom>
          <a:solidFill>
            <a:srgbClr val="F2F6F8"/>
          </a:solidFill>
          <a:ln w="10160">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3602736"/>
            <a:ext cx="2743200" cy="228600"/>
          </a:xfrm>
          <a:prstGeom prst="rect">
            <a:avLst/>
          </a:prstGeom>
          <a:noFill/>
        </p:spPr>
        <p:txBody>
          <a:bodyPr wrap="square" lIns="22860" rIns="22860" tIns="22860" bIns="22860" anchor="t">
            <a:spAutoFit/>
          </a:bodyPr>
          <a:lstStyle/>
          <a:p>
            <a:pPr>
              <a:spcAft>
                <a:spcPts val="200"/>
              </a:spcAft>
              <a:defRPr sz="900" b="1" i="0">
                <a:solidFill>
                  <a:srgbClr val="2E6F9E"/>
                </a:solidFill>
                <a:latin typeface="Aptos"/>
              </a:defRPr>
            </a:pPr>
            <a:r>
              <a:t>ASSUMPTIONS • ISSUES • DECISIONS</a:t>
            </a:r>
          </a:p>
        </p:txBody>
      </p:sp>
      <p:sp>
        <p:nvSpPr>
          <p:cNvPr id="23" name="TextBox 22"/>
          <p:cNvSpPr txBox="1"/>
          <p:nvPr/>
        </p:nvSpPr>
        <p:spPr>
          <a:xfrm>
            <a:off x="822960" y="3904487"/>
            <a:ext cx="10424160" cy="822960"/>
          </a:xfrm>
          <a:prstGeom prst="rect">
            <a:avLst/>
          </a:prstGeom>
          <a:noFill/>
        </p:spPr>
        <p:txBody>
          <a:bodyPr wrap="square" lIns="22860" rIns="22860" tIns="22860" bIns="22860" anchor="t">
            <a:spAutoFit/>
          </a:bodyPr>
          <a:lstStyle/>
          <a:p>
            <a:pPr>
              <a:spcAft>
                <a:spcPts val="200"/>
              </a:spcAft>
              <a:defRPr sz="1050" b="0" i="0">
                <a:solidFill>
                  <a:srgbClr val="24313D"/>
                </a:solidFill>
                <a:latin typeface="Aptos"/>
              </a:defRPr>
            </a:pPr>
            <a:r>
              <a:t>Assumption: planned ≥100K accounts / 12–18 months; delivered extract has 4,906.</a:t>
            </a:r>
          </a:p>
          <a:p>
            <a:pPr>
              <a:spcAft>
                <a:spcPts val="200"/>
              </a:spcAft>
              <a:defRPr sz="1050" b="0" i="0">
                <a:solidFill>
                  <a:srgbClr val="24313D"/>
                </a:solidFill>
                <a:latin typeface="Aptos"/>
              </a:defRPr>
            </a:pPr>
            <a:r>
              <a:t>Issues: account/time coverage, mixed date formats and point-in-time status of some features.</a:t>
            </a:r>
          </a:p>
          <a:p>
            <a:pPr>
              <a:spcAft>
                <a:spcPts val="200"/>
              </a:spcAft>
              <a:defRPr sz="1050" b="0" i="0">
                <a:solidFill>
                  <a:srgbClr val="24313D"/>
                </a:solidFill>
                <a:latin typeface="Aptos"/>
              </a:defRPr>
            </a:pPr>
            <a:r>
              <a:t>Decisions: 90-day activation target; split changed from planned 60/20/20 to 70/15/15; 52 requested fields became 169 encoded features.</a:t>
            </a:r>
          </a:p>
        </p:txBody>
      </p:sp>
      <p:sp>
        <p:nvSpPr>
          <p:cNvPr id="24" name="TextBox 23"/>
          <p:cNvSpPr txBox="1"/>
          <p:nvPr/>
        </p:nvSpPr>
        <p:spPr>
          <a:xfrm>
            <a:off x="621792" y="4956048"/>
            <a:ext cx="10972800" cy="731520"/>
          </a:xfrm>
          <a:prstGeom prst="rect">
            <a:avLst/>
          </a:prstGeom>
          <a:noFill/>
        </p:spPr>
        <p:txBody>
          <a:bodyPr wrap="square" lIns="22860" rIns="22860" tIns="22860" bIns="22860" anchor="t">
            <a:spAutoFit/>
          </a:bodyPr>
          <a:lstStyle/>
          <a:p>
            <a:pPr>
              <a:spcAft>
                <a:spcPts val="200"/>
              </a:spcAft>
              <a:defRPr sz="1050" b="1" i="0">
                <a:solidFill>
                  <a:srgbClr val="17324D"/>
                </a:solidFill>
                <a:latin typeface="Aptos"/>
              </a:defRPr>
            </a:pPr>
            <a:r>
              <a:t>ACTIONS + DEPENDENCIES: confirm the extract and event-time definitions; obtain compliance approval before time-safe modelling and a pilot; then validate on later cohorts.</a:t>
            </a:r>
          </a:p>
        </p:txBody>
      </p:sp>
      <p:sp>
        <p:nvSpPr>
          <p:cNvPr id="25" name="TextBox 24"/>
          <p:cNvSpPr txBox="1"/>
          <p:nvPr/>
        </p:nvSpPr>
        <p:spPr>
          <a:xfrm>
            <a:off x="566928" y="6272784"/>
            <a:ext cx="10972800" cy="164592"/>
          </a:xfrm>
          <a:prstGeom prst="rect">
            <a:avLst/>
          </a:prstGeom>
          <a:noFill/>
        </p:spPr>
        <p:txBody>
          <a:bodyPr wrap="square" lIns="22860" rIns="22860" tIns="22860" bIns="22860" anchor="t">
            <a:spAutoFit/>
          </a:bodyPr>
          <a:lstStyle/>
          <a:p>
            <a:pPr>
              <a:spcAft>
                <a:spcPts val="200"/>
              </a:spcAft>
              <a:defRPr sz="700" b="0" i="1">
                <a:solidFill>
                  <a:srgbClr val="586A78"/>
                </a:solidFill>
                <a:latin typeface="Aptos"/>
              </a:defRPr>
            </a:pPr>
            <a:r>
              <a:t>Source: README_SS1.md, Part E RAAIDD / decisions; SS3 results/01_dataset_summary.csv and 02_split_summary.csv.</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28600"/>
            <a:ext cx="7772400" cy="210312"/>
          </a:xfrm>
          <a:prstGeom prst="rect">
            <a:avLst/>
          </a:prstGeom>
          <a:noFill/>
        </p:spPr>
        <p:txBody>
          <a:bodyPr wrap="square" lIns="22860" rIns="22860" tIns="22860" bIns="22860" anchor="t">
            <a:spAutoFit/>
          </a:bodyPr>
          <a:lstStyle/>
          <a:p>
            <a:pPr>
              <a:spcAft>
                <a:spcPts val="200"/>
              </a:spcAft>
              <a:defRPr sz="900" b="1" i="0">
                <a:solidFill>
                  <a:srgbClr val="2E6F9E"/>
                </a:solidFill>
                <a:latin typeface="Aptos"/>
              </a:defRPr>
            </a:pPr>
            <a:r>
              <a:t>SS1 → SS3: DATA UNDERSTANDING</a:t>
            </a:r>
          </a:p>
        </p:txBody>
      </p:sp>
      <p:sp>
        <p:nvSpPr>
          <p:cNvPr id="4" name="TextBox 3"/>
          <p:cNvSpPr txBox="1"/>
          <p:nvPr/>
        </p:nvSpPr>
        <p:spPr>
          <a:xfrm>
            <a:off x="530352" y="502920"/>
            <a:ext cx="10972800" cy="438912"/>
          </a:xfrm>
          <a:prstGeom prst="rect">
            <a:avLst/>
          </a:prstGeom>
          <a:noFill/>
        </p:spPr>
        <p:txBody>
          <a:bodyPr wrap="square" lIns="22860" rIns="22860" tIns="22860" bIns="22860" anchor="t">
            <a:spAutoFit/>
          </a:bodyPr>
          <a:lstStyle/>
          <a:p>
            <a:pPr>
              <a:spcAft>
                <a:spcPts val="200"/>
              </a:spcAft>
              <a:defRPr sz="2400" b="1" i="0">
                <a:solidFill>
                  <a:srgbClr val="17324D"/>
                </a:solidFill>
                <a:latin typeface="Aptos"/>
              </a:defRPr>
            </a:pPr>
            <a:r>
              <a:t>The data dictionary becomes an account-level evidence map</a:t>
            </a:r>
          </a:p>
        </p:txBody>
      </p:sp>
      <p:sp>
        <p:nvSpPr>
          <p:cNvPr id="5" name="TextBox 4"/>
          <p:cNvSpPr txBox="1"/>
          <p:nvPr/>
        </p:nvSpPr>
        <p:spPr>
          <a:xfrm>
            <a:off x="548640" y="987552"/>
            <a:ext cx="10972800" cy="310896"/>
          </a:xfrm>
          <a:prstGeom prst="rect">
            <a:avLst/>
          </a:prstGeom>
          <a:noFill/>
        </p:spPr>
        <p:txBody>
          <a:bodyPr wrap="square" lIns="22860" rIns="22860" tIns="22860" bIns="22860" anchor="t">
            <a:spAutoFit/>
          </a:bodyPr>
          <a:lstStyle/>
          <a:p>
            <a:pPr>
              <a:spcAft>
                <a:spcPts val="200"/>
              </a:spcAft>
              <a:defRPr sz="1100" b="0" i="0">
                <a:solidFill>
                  <a:srgbClr val="586A78"/>
                </a:solidFill>
                <a:latin typeface="Aptos"/>
              </a:defRPr>
            </a:pPr>
            <a:r>
              <a:t>Twelve source tables describe funnel, behaviour, communication, compliance and technical context.</a:t>
            </a:r>
          </a:p>
        </p:txBody>
      </p:sp>
      <p:sp>
        <p:nvSpPr>
          <p:cNvPr id="6" name="Rectangle 5"/>
          <p:cNvSpPr/>
          <p:nvPr/>
        </p:nvSpPr>
        <p:spPr>
          <a:xfrm>
            <a:off x="530352" y="6501384"/>
            <a:ext cx="11128248" cy="10972"/>
          </a:xfrm>
          <a:prstGeom prst="rect">
            <a:avLst/>
          </a:prstGeom>
          <a:solidFill>
            <a:srgbClr val="DCE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56248"/>
            <a:ext cx="8229600" cy="155448"/>
          </a:xfrm>
          <a:prstGeom prst="rect">
            <a:avLst/>
          </a:prstGeom>
          <a:noFill/>
        </p:spPr>
        <p:txBody>
          <a:bodyPr wrap="square" lIns="22860" rIns="22860" tIns="22860" bIns="22860" anchor="t">
            <a:spAutoFit/>
          </a:bodyPr>
          <a:lstStyle/>
          <a:p>
            <a:pPr>
              <a:spcAft>
                <a:spcPts val="200"/>
              </a:spcAft>
              <a:defRPr sz="700" b="0" i="0">
                <a:solidFill>
                  <a:srgbClr val="586A78"/>
                </a:solidFill>
                <a:latin typeface="Aptos"/>
              </a:defRPr>
            </a:pPr>
            <a:r>
              <a:t>CAP182  •  SS3 PART C  •  STADIOEQUITIES</a:t>
            </a:r>
          </a:p>
        </p:txBody>
      </p:sp>
      <p:sp>
        <p:nvSpPr>
          <p:cNvPr id="8" name="TextBox 7"/>
          <p:cNvSpPr txBox="1"/>
          <p:nvPr/>
        </p:nvSpPr>
        <p:spPr>
          <a:xfrm>
            <a:off x="10972800" y="6556248"/>
            <a:ext cx="685800" cy="155448"/>
          </a:xfrm>
          <a:prstGeom prst="rect">
            <a:avLst/>
          </a:prstGeom>
          <a:noFill/>
        </p:spPr>
        <p:txBody>
          <a:bodyPr wrap="square" lIns="22860" rIns="22860" tIns="22860" bIns="22860" anchor="t">
            <a:spAutoFit/>
          </a:bodyPr>
          <a:lstStyle/>
          <a:p>
            <a:pPr algn="r">
              <a:spcAft>
                <a:spcPts val="200"/>
              </a:spcAft>
              <a:defRPr sz="700" b="0" i="0">
                <a:solidFill>
                  <a:srgbClr val="586A78"/>
                </a:solidFill>
                <a:latin typeface="Aptos"/>
              </a:defRPr>
            </a:pPr>
            <a:r>
              <a:t>05 / 12</a:t>
            </a:r>
          </a:p>
        </p:txBody>
      </p:sp>
      <p:pic>
        <p:nvPicPr>
          <p:cNvPr id="9" name="Picture 8" descr="balance.png"/>
          <p:cNvPicPr>
            <a:picLocks noChangeAspect="1"/>
          </p:cNvPicPr>
          <p:nvPr/>
        </p:nvPicPr>
        <p:blipFill>
          <a:blip r:embed="rId2"/>
          <a:stretch>
            <a:fillRect/>
          </a:stretch>
        </p:blipFill>
        <p:spPr>
          <a:xfrm>
            <a:off x="566928" y="1417320"/>
            <a:ext cx="4800600" cy="2423160"/>
          </a:xfrm>
          <a:prstGeom prst="rect">
            <a:avLst/>
          </a:prstGeom>
        </p:spPr>
      </p:pic>
      <p:sp>
        <p:nvSpPr>
          <p:cNvPr id="10" name="TextBox 9"/>
          <p:cNvSpPr txBox="1"/>
          <p:nvPr/>
        </p:nvSpPr>
        <p:spPr>
          <a:xfrm>
            <a:off x="5650992" y="1426464"/>
            <a:ext cx="5486400" cy="237744"/>
          </a:xfrm>
          <a:prstGeom prst="rect">
            <a:avLst/>
          </a:prstGeom>
          <a:noFill/>
        </p:spPr>
        <p:txBody>
          <a:bodyPr wrap="square" lIns="22860" rIns="22860" tIns="22860" bIns="22860" anchor="t">
            <a:spAutoFit/>
          </a:bodyPr>
          <a:lstStyle/>
          <a:p>
            <a:pPr>
              <a:spcAft>
                <a:spcPts val="200"/>
              </a:spcAft>
              <a:defRPr sz="1000" b="1" i="0">
                <a:solidFill>
                  <a:srgbClr val="2E6F9E"/>
                </a:solidFill>
                <a:latin typeface="Aptos"/>
              </a:defRPr>
            </a:pPr>
            <a:r>
              <a:t>SELECTED DATA DOMAINS &amp; EXAMPLES</a:t>
            </a:r>
          </a:p>
        </p:txBody>
      </p:sp>
      <p:sp>
        <p:nvSpPr>
          <p:cNvPr id="11" name="TextBox 10"/>
          <p:cNvSpPr txBox="1"/>
          <p:nvPr/>
        </p:nvSpPr>
        <p:spPr>
          <a:xfrm>
            <a:off x="5650992" y="1783080"/>
            <a:ext cx="1572768" cy="219456"/>
          </a:xfrm>
          <a:prstGeom prst="rect">
            <a:avLst/>
          </a:prstGeom>
          <a:noFill/>
        </p:spPr>
        <p:txBody>
          <a:bodyPr wrap="square" lIns="22860" rIns="22860" tIns="22860" bIns="22860" anchor="t">
            <a:spAutoFit/>
          </a:bodyPr>
          <a:lstStyle/>
          <a:p>
            <a:pPr>
              <a:spcAft>
                <a:spcPts val="200"/>
              </a:spcAft>
              <a:defRPr sz="950" b="1" i="0">
                <a:solidFill>
                  <a:srgbClr val="17324D"/>
                </a:solidFill>
                <a:latin typeface="Aptos"/>
              </a:defRPr>
            </a:pPr>
            <a:r>
              <a:t>Funnel / target</a:t>
            </a:r>
          </a:p>
        </p:txBody>
      </p:sp>
      <p:sp>
        <p:nvSpPr>
          <p:cNvPr id="12" name="TextBox 11"/>
          <p:cNvSpPr txBox="1"/>
          <p:nvPr/>
        </p:nvSpPr>
        <p:spPr>
          <a:xfrm>
            <a:off x="7269480" y="1783080"/>
            <a:ext cx="4206240" cy="310896"/>
          </a:xfrm>
          <a:prstGeom prst="rect">
            <a:avLst/>
          </a:prstGeom>
          <a:noFill/>
        </p:spPr>
        <p:txBody>
          <a:bodyPr wrap="square" lIns="22860" rIns="22860" tIns="22860" bIns="22860" anchor="t">
            <a:spAutoFit/>
          </a:bodyPr>
          <a:lstStyle/>
          <a:p>
            <a:pPr>
              <a:spcAft>
                <a:spcPts val="200"/>
              </a:spcAft>
              <a:defRPr sz="950" b="0" i="0">
                <a:solidFill>
                  <a:srgbClr val="24313D"/>
                </a:solidFill>
                <a:latin typeface="Aptos"/>
              </a:defRPr>
            </a:pPr>
            <a:r>
              <a:t>registration date, channel, onboarding status, activated</a:t>
            </a:r>
          </a:p>
        </p:txBody>
      </p:sp>
      <p:sp>
        <p:nvSpPr>
          <p:cNvPr id="13" name="TextBox 12"/>
          <p:cNvSpPr txBox="1"/>
          <p:nvPr/>
        </p:nvSpPr>
        <p:spPr>
          <a:xfrm>
            <a:off x="5650992" y="2221991"/>
            <a:ext cx="1572768" cy="219456"/>
          </a:xfrm>
          <a:prstGeom prst="rect">
            <a:avLst/>
          </a:prstGeom>
          <a:noFill/>
        </p:spPr>
        <p:txBody>
          <a:bodyPr wrap="square" lIns="22860" rIns="22860" tIns="22860" bIns="22860" anchor="t">
            <a:spAutoFit/>
          </a:bodyPr>
          <a:lstStyle/>
          <a:p>
            <a:pPr>
              <a:spcAft>
                <a:spcPts val="200"/>
              </a:spcAft>
              <a:defRPr sz="950" b="1" i="0">
                <a:solidFill>
                  <a:srgbClr val="17324D"/>
                </a:solidFill>
                <a:latin typeface="Aptos"/>
              </a:defRPr>
            </a:pPr>
            <a:r>
              <a:t>Early behaviour</a:t>
            </a:r>
          </a:p>
        </p:txBody>
      </p:sp>
      <p:sp>
        <p:nvSpPr>
          <p:cNvPr id="14" name="TextBox 13"/>
          <p:cNvSpPr txBox="1"/>
          <p:nvPr/>
        </p:nvSpPr>
        <p:spPr>
          <a:xfrm>
            <a:off x="7269480" y="2221991"/>
            <a:ext cx="4206240" cy="310896"/>
          </a:xfrm>
          <a:prstGeom prst="rect">
            <a:avLst/>
          </a:prstGeom>
          <a:noFill/>
        </p:spPr>
        <p:txBody>
          <a:bodyPr wrap="square" lIns="22860" rIns="22860" tIns="22860" bIns="22860" anchor="t">
            <a:spAutoFit/>
          </a:bodyPr>
          <a:lstStyle/>
          <a:p>
            <a:pPr>
              <a:spcAft>
                <a:spcPts val="200"/>
              </a:spcAft>
              <a:defRPr sz="950" b="0" i="0">
                <a:solidFill>
                  <a:srgbClr val="24313D"/>
                </a:solidFill>
                <a:latin typeface="Aptos"/>
              </a:defRPr>
            </a:pPr>
            <a:r>
              <a:t>first-session duration, screen views, early sessions</a:t>
            </a:r>
          </a:p>
        </p:txBody>
      </p:sp>
      <p:sp>
        <p:nvSpPr>
          <p:cNvPr id="15" name="TextBox 14"/>
          <p:cNvSpPr txBox="1"/>
          <p:nvPr/>
        </p:nvSpPr>
        <p:spPr>
          <a:xfrm>
            <a:off x="5650992" y="2660904"/>
            <a:ext cx="1572768" cy="219456"/>
          </a:xfrm>
          <a:prstGeom prst="rect">
            <a:avLst/>
          </a:prstGeom>
          <a:noFill/>
        </p:spPr>
        <p:txBody>
          <a:bodyPr wrap="square" lIns="22860" rIns="22860" tIns="22860" bIns="22860" anchor="t">
            <a:spAutoFit/>
          </a:bodyPr>
          <a:lstStyle/>
          <a:p>
            <a:pPr>
              <a:spcAft>
                <a:spcPts val="200"/>
              </a:spcAft>
              <a:defRPr sz="950" b="1" i="0">
                <a:solidFill>
                  <a:srgbClr val="17324D"/>
                </a:solidFill>
                <a:latin typeface="Aptos"/>
              </a:defRPr>
            </a:pPr>
            <a:r>
              <a:t>Contact / messaging</a:t>
            </a:r>
          </a:p>
        </p:txBody>
      </p:sp>
      <p:sp>
        <p:nvSpPr>
          <p:cNvPr id="16" name="TextBox 15"/>
          <p:cNvSpPr txBox="1"/>
          <p:nvPr/>
        </p:nvSpPr>
        <p:spPr>
          <a:xfrm>
            <a:off x="7269480" y="2660904"/>
            <a:ext cx="4206240" cy="310896"/>
          </a:xfrm>
          <a:prstGeom prst="rect">
            <a:avLst/>
          </a:prstGeom>
          <a:noFill/>
        </p:spPr>
        <p:txBody>
          <a:bodyPr wrap="square" lIns="22860" rIns="22860" tIns="22860" bIns="22860" anchor="t">
            <a:spAutoFit/>
          </a:bodyPr>
          <a:lstStyle/>
          <a:p>
            <a:pPr>
              <a:spcAft>
                <a:spcPts val="200"/>
              </a:spcAft>
              <a:defRPr sz="950" b="0" i="0">
                <a:solidFill>
                  <a:srgbClr val="24313D"/>
                </a:solidFill>
                <a:latin typeface="Aptos"/>
              </a:defRPr>
            </a:pPr>
            <a:r>
              <a:t>email opens, support, push / in-app response</a:t>
            </a:r>
          </a:p>
        </p:txBody>
      </p:sp>
      <p:sp>
        <p:nvSpPr>
          <p:cNvPr id="17" name="TextBox 16"/>
          <p:cNvSpPr txBox="1"/>
          <p:nvPr/>
        </p:nvSpPr>
        <p:spPr>
          <a:xfrm>
            <a:off x="5650992" y="3099815"/>
            <a:ext cx="1572768" cy="219456"/>
          </a:xfrm>
          <a:prstGeom prst="rect">
            <a:avLst/>
          </a:prstGeom>
          <a:noFill/>
        </p:spPr>
        <p:txBody>
          <a:bodyPr wrap="square" lIns="22860" rIns="22860" tIns="22860" bIns="22860" anchor="t">
            <a:spAutoFit/>
          </a:bodyPr>
          <a:lstStyle/>
          <a:p>
            <a:pPr>
              <a:spcAft>
                <a:spcPts val="200"/>
              </a:spcAft>
              <a:defRPr sz="950" b="1" i="0">
                <a:solidFill>
                  <a:srgbClr val="17324D"/>
                </a:solidFill>
                <a:latin typeface="Aptos"/>
              </a:defRPr>
            </a:pPr>
            <a:r>
              <a:t>Compliance / device</a:t>
            </a:r>
          </a:p>
        </p:txBody>
      </p:sp>
      <p:sp>
        <p:nvSpPr>
          <p:cNvPr id="18" name="TextBox 17"/>
          <p:cNvSpPr txBox="1"/>
          <p:nvPr/>
        </p:nvSpPr>
        <p:spPr>
          <a:xfrm>
            <a:off x="7269480" y="3099815"/>
            <a:ext cx="4206240" cy="310896"/>
          </a:xfrm>
          <a:prstGeom prst="rect">
            <a:avLst/>
          </a:prstGeom>
          <a:noFill/>
        </p:spPr>
        <p:txBody>
          <a:bodyPr wrap="square" lIns="22860" rIns="22860" tIns="22860" bIns="22860" anchor="t">
            <a:spAutoFit/>
          </a:bodyPr>
          <a:lstStyle/>
          <a:p>
            <a:pPr>
              <a:spcAft>
                <a:spcPts val="200"/>
              </a:spcAft>
              <a:defRPr sz="950" b="0" i="0">
                <a:solidFill>
                  <a:srgbClr val="24313D"/>
                </a:solidFill>
                <a:latin typeface="Aptos"/>
              </a:defRPr>
            </a:pPr>
            <a:r>
              <a:t>KYC status / timing, device, OS, browser, connection</a:t>
            </a:r>
          </a:p>
        </p:txBody>
      </p:sp>
      <p:sp>
        <p:nvSpPr>
          <p:cNvPr id="19" name="TextBox 18"/>
          <p:cNvSpPr txBox="1"/>
          <p:nvPr/>
        </p:nvSpPr>
        <p:spPr>
          <a:xfrm>
            <a:off x="5650992" y="3538728"/>
            <a:ext cx="1572768" cy="219456"/>
          </a:xfrm>
          <a:prstGeom prst="rect">
            <a:avLst/>
          </a:prstGeom>
          <a:noFill/>
        </p:spPr>
        <p:txBody>
          <a:bodyPr wrap="square" lIns="22860" rIns="22860" tIns="22860" bIns="22860" anchor="t">
            <a:spAutoFit/>
          </a:bodyPr>
          <a:lstStyle/>
          <a:p>
            <a:pPr>
              <a:spcAft>
                <a:spcPts val="200"/>
              </a:spcAft>
              <a:defRPr sz="950" b="1" i="0">
                <a:solidFill>
                  <a:srgbClr val="17324D"/>
                </a:solidFill>
                <a:latin typeface="Aptos"/>
              </a:defRPr>
            </a:pPr>
            <a:r>
              <a:t>Marketing</a:t>
            </a:r>
          </a:p>
        </p:txBody>
      </p:sp>
      <p:sp>
        <p:nvSpPr>
          <p:cNvPr id="20" name="TextBox 19"/>
          <p:cNvSpPr txBox="1"/>
          <p:nvPr/>
        </p:nvSpPr>
        <p:spPr>
          <a:xfrm>
            <a:off x="7269480" y="3538728"/>
            <a:ext cx="4206240" cy="310896"/>
          </a:xfrm>
          <a:prstGeom prst="rect">
            <a:avLst/>
          </a:prstGeom>
          <a:noFill/>
        </p:spPr>
        <p:txBody>
          <a:bodyPr wrap="square" lIns="22860" rIns="22860" tIns="22860" bIns="22860" anchor="t">
            <a:spAutoFit/>
          </a:bodyPr>
          <a:lstStyle/>
          <a:p>
            <a:pPr>
              <a:spcAft>
                <a:spcPts val="200"/>
              </a:spcAft>
              <a:defRPr sz="950" b="0" i="0">
                <a:solidFill>
                  <a:srgbClr val="24313D"/>
                </a:solidFill>
                <a:latin typeface="Aptos"/>
              </a:defRPr>
            </a:pPr>
            <a:r>
              <a:t>campaign exposures, clicks, spend and channels (aggregated)</a:t>
            </a:r>
          </a:p>
        </p:txBody>
      </p:sp>
      <p:sp>
        <p:nvSpPr>
          <p:cNvPr id="21" name="Rounded Rectangle 20"/>
          <p:cNvSpPr/>
          <p:nvPr/>
        </p:nvSpPr>
        <p:spPr>
          <a:xfrm>
            <a:off x="621792" y="4096512"/>
            <a:ext cx="10927080" cy="749808"/>
          </a:xfrm>
          <a:prstGeom prst="roundRect">
            <a:avLst/>
          </a:prstGeom>
          <a:solidFill>
            <a:srgbClr val="F2F6F8"/>
          </a:solidFill>
          <a:ln w="10160">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4251960"/>
            <a:ext cx="10469880" cy="457200"/>
          </a:xfrm>
          <a:prstGeom prst="rect">
            <a:avLst/>
          </a:prstGeom>
          <a:noFill/>
        </p:spPr>
        <p:txBody>
          <a:bodyPr wrap="square" lIns="22860" rIns="22860" tIns="22860" bIns="22860" anchor="t">
            <a:spAutoFit/>
          </a:bodyPr>
          <a:lstStyle/>
          <a:p>
            <a:pPr>
              <a:spcAft>
                <a:spcPts val="200"/>
              </a:spcAft>
              <a:defRPr sz="1100" b="0" i="0">
                <a:solidFill>
                  <a:srgbClr val="24313D"/>
                </a:solidFill>
                <a:latin typeface="Aptos"/>
              </a:defRPr>
            </a:pPr>
            <a:r>
              <a:t>Data quality: 14 duplicate rows removed; category spelling/case normalised; registration dates in four formats. Class 0: not activated (57.3%); Class 1: activated (42.7%).</a:t>
            </a:r>
          </a:p>
        </p:txBody>
      </p:sp>
      <p:sp>
        <p:nvSpPr>
          <p:cNvPr id="23" name="TextBox 22"/>
          <p:cNvSpPr txBox="1"/>
          <p:nvPr/>
        </p:nvSpPr>
        <p:spPr>
          <a:xfrm>
            <a:off x="694944" y="5074920"/>
            <a:ext cx="2194560" cy="246888"/>
          </a:xfrm>
          <a:prstGeom prst="rect">
            <a:avLst/>
          </a:prstGeom>
          <a:noFill/>
        </p:spPr>
        <p:txBody>
          <a:bodyPr wrap="square" lIns="22860" rIns="22860" tIns="22860" bIns="22860" anchor="t">
            <a:spAutoFit/>
          </a:bodyPr>
          <a:lstStyle/>
          <a:p>
            <a:pPr>
              <a:spcAft>
                <a:spcPts val="200"/>
              </a:spcAft>
              <a:defRPr sz="1000" b="1" i="0">
                <a:solidFill>
                  <a:srgbClr val="2A9D8F"/>
                </a:solidFill>
                <a:latin typeface="Aptos"/>
              </a:defRPr>
            </a:pPr>
            <a:r>
              <a:t>9 TABLES USED</a:t>
            </a:r>
          </a:p>
        </p:txBody>
      </p:sp>
      <p:sp>
        <p:nvSpPr>
          <p:cNvPr id="24" name="TextBox 23"/>
          <p:cNvSpPr txBox="1"/>
          <p:nvPr/>
        </p:nvSpPr>
        <p:spPr>
          <a:xfrm>
            <a:off x="3017520" y="5074920"/>
            <a:ext cx="2560320" cy="246888"/>
          </a:xfrm>
          <a:prstGeom prst="rect">
            <a:avLst/>
          </a:prstGeom>
          <a:noFill/>
        </p:spPr>
        <p:txBody>
          <a:bodyPr wrap="square" lIns="22860" rIns="22860" tIns="22860" bIns="22860" anchor="t">
            <a:spAutoFit/>
          </a:bodyPr>
          <a:lstStyle/>
          <a:p>
            <a:pPr>
              <a:spcAft>
                <a:spcPts val="200"/>
              </a:spcAft>
              <a:defRPr sz="1000" b="1" i="0">
                <a:solidFill>
                  <a:srgbClr val="B94B4B"/>
                </a:solidFill>
                <a:latin typeface="Aptos"/>
              </a:defRPr>
            </a:pPr>
            <a:r>
              <a:t>3 TABLES EXCLUDED</a:t>
            </a:r>
          </a:p>
        </p:txBody>
      </p:sp>
      <p:sp>
        <p:nvSpPr>
          <p:cNvPr id="25" name="TextBox 24"/>
          <p:cNvSpPr txBox="1"/>
          <p:nvPr/>
        </p:nvSpPr>
        <p:spPr>
          <a:xfrm>
            <a:off x="5623560" y="5074920"/>
            <a:ext cx="5486400" cy="274320"/>
          </a:xfrm>
          <a:prstGeom prst="rect">
            <a:avLst/>
          </a:prstGeom>
          <a:noFill/>
        </p:spPr>
        <p:txBody>
          <a:bodyPr wrap="square" lIns="22860" rIns="22860" tIns="22860" bIns="22860" anchor="t">
            <a:spAutoFit/>
          </a:bodyPr>
          <a:lstStyle/>
          <a:p>
            <a:pPr>
              <a:spcAft>
                <a:spcPts val="200"/>
              </a:spcAft>
              <a:defRPr sz="1000" b="0" i="0">
                <a:solidFill>
                  <a:srgbClr val="586A78"/>
                </a:solidFill>
                <a:latin typeface="Aptos"/>
              </a:defRPr>
            </a:pPr>
            <a:r>
              <a:t>Support tickets • feedback • post-deposit activity</a:t>
            </a:r>
          </a:p>
        </p:txBody>
      </p:sp>
      <p:sp>
        <p:nvSpPr>
          <p:cNvPr id="26" name="TextBox 25"/>
          <p:cNvSpPr txBox="1"/>
          <p:nvPr/>
        </p:nvSpPr>
        <p:spPr>
          <a:xfrm>
            <a:off x="566928" y="6272784"/>
            <a:ext cx="10972800" cy="164592"/>
          </a:xfrm>
          <a:prstGeom prst="rect">
            <a:avLst/>
          </a:prstGeom>
          <a:noFill/>
        </p:spPr>
        <p:txBody>
          <a:bodyPr wrap="square" lIns="22860" rIns="22860" tIns="22860" bIns="22860" anchor="t">
            <a:spAutoFit/>
          </a:bodyPr>
          <a:lstStyle/>
          <a:p>
            <a:pPr>
              <a:spcAft>
                <a:spcPts val="200"/>
              </a:spcAft>
              <a:defRPr sz="700" b="0" i="1">
                <a:solidFill>
                  <a:srgbClr val="586A78"/>
                </a:solidFill>
                <a:latin typeface="Aptos"/>
              </a:defRPr>
            </a:pPr>
            <a:r>
              <a:t>Source: SS1 data request / dictionary; SS3 results/01_table_relevance.csv, 01_dataset_summary.csv, 01_date_formats.csv.</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28600"/>
            <a:ext cx="7772400" cy="210312"/>
          </a:xfrm>
          <a:prstGeom prst="rect">
            <a:avLst/>
          </a:prstGeom>
          <a:noFill/>
        </p:spPr>
        <p:txBody>
          <a:bodyPr wrap="square" lIns="22860" rIns="22860" tIns="22860" bIns="22860" anchor="t">
            <a:spAutoFit/>
          </a:bodyPr>
          <a:lstStyle/>
          <a:p>
            <a:pPr>
              <a:spcAft>
                <a:spcPts val="200"/>
              </a:spcAft>
              <a:defRPr sz="900" b="1" i="0">
                <a:solidFill>
                  <a:srgbClr val="2E6F9E"/>
                </a:solidFill>
                <a:latin typeface="Aptos"/>
              </a:defRPr>
            </a:pPr>
            <a:r>
              <a:t>SS2: EVIDENCE AND MODEL SELECTION</a:t>
            </a:r>
          </a:p>
        </p:txBody>
      </p:sp>
      <p:sp>
        <p:nvSpPr>
          <p:cNvPr id="4" name="TextBox 3"/>
          <p:cNvSpPr txBox="1"/>
          <p:nvPr/>
        </p:nvSpPr>
        <p:spPr>
          <a:xfrm>
            <a:off x="530352" y="502920"/>
            <a:ext cx="10972800" cy="438912"/>
          </a:xfrm>
          <a:prstGeom prst="rect">
            <a:avLst/>
          </a:prstGeom>
          <a:noFill/>
        </p:spPr>
        <p:txBody>
          <a:bodyPr wrap="square" lIns="22860" rIns="22860" tIns="22860" bIns="22860" anchor="t">
            <a:spAutoFit/>
          </a:bodyPr>
          <a:lstStyle/>
          <a:p>
            <a:pPr>
              <a:spcAft>
                <a:spcPts val="200"/>
              </a:spcAft>
              <a:defRPr sz="2400" b="1" i="0">
                <a:solidFill>
                  <a:srgbClr val="17324D"/>
                </a:solidFill>
                <a:latin typeface="Aptos"/>
              </a:defRPr>
            </a:pPr>
            <a:r>
              <a:t>Literature guides choices; the benchmark identifies a candidate</a:t>
            </a:r>
          </a:p>
        </p:txBody>
      </p:sp>
      <p:sp>
        <p:nvSpPr>
          <p:cNvPr id="5" name="TextBox 4"/>
          <p:cNvSpPr txBox="1"/>
          <p:nvPr/>
        </p:nvSpPr>
        <p:spPr>
          <a:xfrm>
            <a:off x="548640" y="987552"/>
            <a:ext cx="10972800" cy="310896"/>
          </a:xfrm>
          <a:prstGeom prst="rect">
            <a:avLst/>
          </a:prstGeom>
          <a:noFill/>
        </p:spPr>
        <p:txBody>
          <a:bodyPr wrap="square" lIns="22860" rIns="22860" tIns="22860" bIns="22860" anchor="t">
            <a:spAutoFit/>
          </a:bodyPr>
          <a:lstStyle/>
          <a:p>
            <a:pPr>
              <a:spcAft>
                <a:spcPts val="200"/>
              </a:spcAft>
              <a:defRPr sz="1100" b="0" i="0">
                <a:solidFill>
                  <a:srgbClr val="586A78"/>
                </a:solidFill>
                <a:latin typeface="Aptos"/>
              </a:defRPr>
            </a:pPr>
            <a:r>
              <a:t>UCI Bank Marketing: 45,211 records with about 11% positive; F1 was more informative than accuracy alone.</a:t>
            </a:r>
          </a:p>
        </p:txBody>
      </p:sp>
      <p:sp>
        <p:nvSpPr>
          <p:cNvPr id="6" name="Rectangle 5"/>
          <p:cNvSpPr/>
          <p:nvPr/>
        </p:nvSpPr>
        <p:spPr>
          <a:xfrm>
            <a:off x="530352" y="6501384"/>
            <a:ext cx="11128248" cy="10972"/>
          </a:xfrm>
          <a:prstGeom prst="rect">
            <a:avLst/>
          </a:prstGeom>
          <a:solidFill>
            <a:srgbClr val="DCE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56248"/>
            <a:ext cx="8229600" cy="155448"/>
          </a:xfrm>
          <a:prstGeom prst="rect">
            <a:avLst/>
          </a:prstGeom>
          <a:noFill/>
        </p:spPr>
        <p:txBody>
          <a:bodyPr wrap="square" lIns="22860" rIns="22860" tIns="22860" bIns="22860" anchor="t">
            <a:spAutoFit/>
          </a:bodyPr>
          <a:lstStyle/>
          <a:p>
            <a:pPr>
              <a:spcAft>
                <a:spcPts val="200"/>
              </a:spcAft>
              <a:defRPr sz="700" b="0" i="0">
                <a:solidFill>
                  <a:srgbClr val="586A78"/>
                </a:solidFill>
                <a:latin typeface="Aptos"/>
              </a:defRPr>
            </a:pPr>
            <a:r>
              <a:t>CAP182  •  SS3 PART C  •  STADIOEQUITIES</a:t>
            </a:r>
          </a:p>
        </p:txBody>
      </p:sp>
      <p:sp>
        <p:nvSpPr>
          <p:cNvPr id="8" name="TextBox 7"/>
          <p:cNvSpPr txBox="1"/>
          <p:nvPr/>
        </p:nvSpPr>
        <p:spPr>
          <a:xfrm>
            <a:off x="10972800" y="6556248"/>
            <a:ext cx="685800" cy="155448"/>
          </a:xfrm>
          <a:prstGeom prst="rect">
            <a:avLst/>
          </a:prstGeom>
          <a:noFill/>
        </p:spPr>
        <p:txBody>
          <a:bodyPr wrap="square" lIns="22860" rIns="22860" tIns="22860" bIns="22860" anchor="t">
            <a:spAutoFit/>
          </a:bodyPr>
          <a:lstStyle/>
          <a:p>
            <a:pPr algn="r">
              <a:spcAft>
                <a:spcPts val="200"/>
              </a:spcAft>
              <a:defRPr sz="700" b="0" i="0">
                <a:solidFill>
                  <a:srgbClr val="586A78"/>
                </a:solidFill>
                <a:latin typeface="Aptos"/>
              </a:defRPr>
            </a:pPr>
            <a:r>
              <a:t>06 / 12</a:t>
            </a:r>
          </a:p>
        </p:txBody>
      </p:sp>
      <p:graphicFrame>
        <p:nvGraphicFramePr>
          <p:cNvPr id="9" name="Table 8"/>
          <p:cNvGraphicFramePr>
            <a:graphicFrameLocks noGrp="1"/>
          </p:cNvGraphicFramePr>
          <p:nvPr/>
        </p:nvGraphicFramePr>
        <p:xfrm>
          <a:off x="621792" y="1481328"/>
          <a:ext cx="5212078" cy="1572768"/>
        </p:xfrm>
        <a:graphic>
          <a:graphicData uri="http://schemas.openxmlformats.org/drawingml/2006/table">
            <a:tbl>
              <a:tblPr firstRow="1" bandRow="1">
                <a:tableStyleId>{5C22544A-7EE6-4342-B048-85BDC9FD1C3A}</a:tableStyleId>
              </a:tblPr>
              <a:tblGrid>
                <a:gridCol w="1980590"/>
                <a:gridCol w="781812"/>
                <a:gridCol w="781812"/>
                <a:gridCol w="833932"/>
                <a:gridCol w="833932"/>
              </a:tblGrid>
              <a:tr h="393192">
                <a:tc>
                  <a:txBody>
                    <a:bodyPr/>
                    <a:lstStyle/>
                    <a:p>
                      <a:pPr>
                        <a:defRPr sz="900" b="1">
                          <a:solidFill>
                            <a:srgbClr val="FFFFFF"/>
                          </a:solidFill>
                          <a:latin typeface="Aptos"/>
                        </a:defRPr>
                      </a:pPr>
                      <a:r>
                        <a:t>SS2 model</a:t>
                      </a:r>
                    </a:p>
                  </a:txBody>
                  <a:tcPr marL="73152" marR="54864" marT="41148" marB="22860">
                    <a:solidFill>
                      <a:srgbClr val="17324D"/>
                    </a:solidFill>
                  </a:tcPr>
                </a:tc>
                <a:tc>
                  <a:txBody>
                    <a:bodyPr/>
                    <a:lstStyle/>
                    <a:p>
                      <a:pPr>
                        <a:defRPr sz="900" b="1">
                          <a:solidFill>
                            <a:srgbClr val="FFFFFF"/>
                          </a:solidFill>
                          <a:latin typeface="Aptos"/>
                        </a:defRPr>
                      </a:pPr>
                      <a:r>
                        <a:t>Accuracy</a:t>
                      </a:r>
                    </a:p>
                  </a:txBody>
                  <a:tcPr marL="73152" marR="54864" marT="41148" marB="22860">
                    <a:solidFill>
                      <a:srgbClr val="17324D"/>
                    </a:solidFill>
                  </a:tcPr>
                </a:tc>
                <a:tc>
                  <a:txBody>
                    <a:bodyPr/>
                    <a:lstStyle/>
                    <a:p>
                      <a:pPr>
                        <a:defRPr sz="900" b="1">
                          <a:solidFill>
                            <a:srgbClr val="FFFFFF"/>
                          </a:solidFill>
                          <a:latin typeface="Aptos"/>
                        </a:defRPr>
                      </a:pPr>
                      <a:r>
                        <a:t>F1 (yes)</a:t>
                      </a:r>
                    </a:p>
                  </a:txBody>
                  <a:tcPr marL="73152" marR="54864" marT="41148" marB="22860">
                    <a:solidFill>
                      <a:srgbClr val="17324D"/>
                    </a:solidFill>
                  </a:tcPr>
                </a:tc>
                <a:tc>
                  <a:txBody>
                    <a:bodyPr/>
                    <a:lstStyle/>
                    <a:p>
                      <a:pPr>
                        <a:defRPr sz="900" b="1">
                          <a:solidFill>
                            <a:srgbClr val="FFFFFF"/>
                          </a:solidFill>
                          <a:latin typeface="Aptos"/>
                        </a:defRPr>
                      </a:pPr>
                      <a:r>
                        <a:t>Precision</a:t>
                      </a:r>
                    </a:p>
                  </a:txBody>
                  <a:tcPr marL="73152" marR="54864" marT="41148" marB="22860">
                    <a:solidFill>
                      <a:srgbClr val="17324D"/>
                    </a:solidFill>
                  </a:tcPr>
                </a:tc>
                <a:tc>
                  <a:txBody>
                    <a:bodyPr/>
                    <a:lstStyle/>
                    <a:p>
                      <a:pPr>
                        <a:defRPr sz="900" b="1">
                          <a:solidFill>
                            <a:srgbClr val="FFFFFF"/>
                          </a:solidFill>
                          <a:latin typeface="Aptos"/>
                        </a:defRPr>
                      </a:pPr>
                      <a:r>
                        <a:t>Recall</a:t>
                      </a:r>
                    </a:p>
                  </a:txBody>
                  <a:tcPr marL="73152" marR="54864" marT="41148" marB="22860">
                    <a:solidFill>
                      <a:srgbClr val="17324D"/>
                    </a:solidFill>
                  </a:tcPr>
                </a:tc>
              </a:tr>
              <a:tr h="393192">
                <a:tc>
                  <a:txBody>
                    <a:bodyPr/>
                    <a:lstStyle/>
                    <a:p>
                      <a:pPr>
                        <a:defRPr sz="900" b="0">
                          <a:solidFill>
                            <a:srgbClr val="24313D"/>
                          </a:solidFill>
                          <a:latin typeface="Aptos"/>
                        </a:defRPr>
                      </a:pPr>
                      <a:r>
                        <a:t>Logistic Regression</a:t>
                      </a:r>
                    </a:p>
                  </a:txBody>
                  <a:tcPr marL="73152" marR="54864" marT="41148" marB="22860">
                    <a:solidFill>
                      <a:srgbClr val="FFFFFF"/>
                    </a:solidFill>
                  </a:tcPr>
                </a:tc>
                <a:tc>
                  <a:txBody>
                    <a:bodyPr/>
                    <a:lstStyle/>
                    <a:p>
                      <a:pPr>
                        <a:defRPr sz="900" b="0">
                          <a:solidFill>
                            <a:srgbClr val="24313D"/>
                          </a:solidFill>
                          <a:latin typeface="Aptos"/>
                        </a:defRPr>
                      </a:pPr>
                      <a:r>
                        <a:t>0.755</a:t>
                      </a:r>
                    </a:p>
                  </a:txBody>
                  <a:tcPr marL="73152" marR="54864" marT="41148" marB="22860">
                    <a:solidFill>
                      <a:srgbClr val="FFFFFF"/>
                    </a:solidFill>
                  </a:tcPr>
                </a:tc>
                <a:tc>
                  <a:txBody>
                    <a:bodyPr/>
                    <a:lstStyle/>
                    <a:p>
                      <a:pPr>
                        <a:defRPr sz="900" b="0">
                          <a:solidFill>
                            <a:srgbClr val="24313D"/>
                          </a:solidFill>
                          <a:latin typeface="Aptos"/>
                        </a:defRPr>
                      </a:pPr>
                      <a:r>
                        <a:t>0.373</a:t>
                      </a:r>
                    </a:p>
                  </a:txBody>
                  <a:tcPr marL="73152" marR="54864" marT="41148" marB="22860">
                    <a:solidFill>
                      <a:srgbClr val="FFFFFF"/>
                    </a:solidFill>
                  </a:tcPr>
                </a:tc>
                <a:tc>
                  <a:txBody>
                    <a:bodyPr/>
                    <a:lstStyle/>
                    <a:p>
                      <a:pPr>
                        <a:defRPr sz="900" b="0">
                          <a:solidFill>
                            <a:srgbClr val="24313D"/>
                          </a:solidFill>
                          <a:latin typeface="Aptos"/>
                        </a:defRPr>
                      </a:pPr>
                      <a:r>
                        <a:t>0.27</a:t>
                      </a:r>
                    </a:p>
                  </a:txBody>
                  <a:tcPr marL="73152" marR="54864" marT="41148" marB="22860">
                    <a:solidFill>
                      <a:srgbClr val="FFFFFF"/>
                    </a:solidFill>
                  </a:tcPr>
                </a:tc>
                <a:tc>
                  <a:txBody>
                    <a:bodyPr/>
                    <a:lstStyle/>
                    <a:p>
                      <a:pPr>
                        <a:defRPr sz="900" b="0">
                          <a:solidFill>
                            <a:srgbClr val="24313D"/>
                          </a:solidFill>
                          <a:latin typeface="Aptos"/>
                        </a:defRPr>
                      </a:pPr>
                      <a:r>
                        <a:t>0.62</a:t>
                      </a:r>
                    </a:p>
                  </a:txBody>
                  <a:tcPr marL="73152" marR="54864" marT="41148" marB="22860">
                    <a:solidFill>
                      <a:srgbClr val="FFFFFF"/>
                    </a:solidFill>
                  </a:tcPr>
                </a:tc>
              </a:tr>
              <a:tr h="393192">
                <a:tc>
                  <a:txBody>
                    <a:bodyPr/>
                    <a:lstStyle/>
                    <a:p>
                      <a:pPr>
                        <a:defRPr sz="900" b="0">
                          <a:solidFill>
                            <a:srgbClr val="24313D"/>
                          </a:solidFill>
                          <a:latin typeface="Aptos"/>
                        </a:defRPr>
                      </a:pPr>
                      <a:r>
                        <a:t>Random Forest</a:t>
                      </a:r>
                    </a:p>
                  </a:txBody>
                  <a:tcPr marL="73152" marR="54864" marT="41148" marB="22860">
                    <a:solidFill>
                      <a:srgbClr val="F2F6F8"/>
                    </a:solidFill>
                  </a:tcPr>
                </a:tc>
                <a:tc>
                  <a:txBody>
                    <a:bodyPr/>
                    <a:lstStyle/>
                    <a:p>
                      <a:pPr>
                        <a:defRPr sz="900" b="0">
                          <a:solidFill>
                            <a:srgbClr val="24313D"/>
                          </a:solidFill>
                          <a:latin typeface="Aptos"/>
                        </a:defRPr>
                      </a:pPr>
                      <a:r>
                        <a:t>0.893</a:t>
                      </a:r>
                    </a:p>
                  </a:txBody>
                  <a:tcPr marL="73152" marR="54864" marT="41148" marB="22860">
                    <a:solidFill>
                      <a:srgbClr val="F2F6F8"/>
                    </a:solidFill>
                  </a:tcPr>
                </a:tc>
                <a:tc>
                  <a:txBody>
                    <a:bodyPr/>
                    <a:lstStyle/>
                    <a:p>
                      <a:pPr>
                        <a:defRPr sz="900" b="0">
                          <a:solidFill>
                            <a:srgbClr val="24313D"/>
                          </a:solidFill>
                          <a:latin typeface="Aptos"/>
                        </a:defRPr>
                      </a:pPr>
                      <a:r>
                        <a:t>0.318</a:t>
                      </a:r>
                    </a:p>
                  </a:txBody>
                  <a:tcPr marL="73152" marR="54864" marT="41148" marB="22860">
                    <a:solidFill>
                      <a:srgbClr val="F2F6F8"/>
                    </a:solidFill>
                  </a:tcPr>
                </a:tc>
                <a:tc>
                  <a:txBody>
                    <a:bodyPr/>
                    <a:lstStyle/>
                    <a:p>
                      <a:pPr>
                        <a:defRPr sz="900" b="0">
                          <a:solidFill>
                            <a:srgbClr val="24313D"/>
                          </a:solidFill>
                          <a:latin typeface="Aptos"/>
                        </a:defRPr>
                      </a:pPr>
                      <a:r>
                        <a:t>0.63</a:t>
                      </a:r>
                    </a:p>
                  </a:txBody>
                  <a:tcPr marL="73152" marR="54864" marT="41148" marB="22860">
                    <a:solidFill>
                      <a:srgbClr val="F2F6F8"/>
                    </a:solidFill>
                  </a:tcPr>
                </a:tc>
                <a:tc>
                  <a:txBody>
                    <a:bodyPr/>
                    <a:lstStyle/>
                    <a:p>
                      <a:pPr>
                        <a:defRPr sz="900" b="0">
                          <a:solidFill>
                            <a:srgbClr val="24313D"/>
                          </a:solidFill>
                          <a:latin typeface="Aptos"/>
                        </a:defRPr>
                      </a:pPr>
                      <a:r>
                        <a:t>0.21</a:t>
                      </a:r>
                    </a:p>
                  </a:txBody>
                  <a:tcPr marL="73152" marR="54864" marT="41148" marB="22860">
                    <a:solidFill>
                      <a:srgbClr val="F2F6F8"/>
                    </a:solidFill>
                  </a:tcPr>
                </a:tc>
              </a:tr>
              <a:tr h="393192">
                <a:tc>
                  <a:txBody>
                    <a:bodyPr/>
                    <a:lstStyle/>
                    <a:p>
                      <a:pPr>
                        <a:defRPr sz="900" b="0">
                          <a:solidFill>
                            <a:srgbClr val="24313D"/>
                          </a:solidFill>
                          <a:latin typeface="Aptos"/>
                        </a:defRPr>
                      </a:pPr>
                      <a:r>
                        <a:t>XGBoost</a:t>
                      </a:r>
                    </a:p>
                  </a:txBody>
                  <a:tcPr marL="73152" marR="54864" marT="41148" marB="22860">
                    <a:solidFill>
                      <a:srgbClr val="FFFFFF"/>
                    </a:solidFill>
                  </a:tcPr>
                </a:tc>
                <a:tc>
                  <a:txBody>
                    <a:bodyPr/>
                    <a:lstStyle/>
                    <a:p>
                      <a:pPr>
                        <a:defRPr sz="900" b="0">
                          <a:solidFill>
                            <a:srgbClr val="24313D"/>
                          </a:solidFill>
                          <a:latin typeface="Aptos"/>
                        </a:defRPr>
                      </a:pPr>
                      <a:r>
                        <a:t>0.838</a:t>
                      </a:r>
                    </a:p>
                  </a:txBody>
                  <a:tcPr marL="73152" marR="54864" marT="41148" marB="22860">
                    <a:solidFill>
                      <a:srgbClr val="FFFFFF"/>
                    </a:solidFill>
                  </a:tcPr>
                </a:tc>
                <a:tc>
                  <a:txBody>
                    <a:bodyPr/>
                    <a:lstStyle/>
                    <a:p>
                      <a:pPr>
                        <a:defRPr sz="900" b="0">
                          <a:solidFill>
                            <a:srgbClr val="24313D"/>
                          </a:solidFill>
                          <a:latin typeface="Aptos"/>
                        </a:defRPr>
                      </a:pPr>
                      <a:r>
                        <a:t>0.459</a:t>
                      </a:r>
                    </a:p>
                  </a:txBody>
                  <a:tcPr marL="73152" marR="54864" marT="41148" marB="22860">
                    <a:solidFill>
                      <a:srgbClr val="FFFFFF"/>
                    </a:solidFill>
                  </a:tcPr>
                </a:tc>
                <a:tc>
                  <a:txBody>
                    <a:bodyPr/>
                    <a:lstStyle/>
                    <a:p>
                      <a:pPr>
                        <a:defRPr sz="900" b="0">
                          <a:solidFill>
                            <a:srgbClr val="24313D"/>
                          </a:solidFill>
                          <a:latin typeface="Aptos"/>
                        </a:defRPr>
                      </a:pPr>
                      <a:r>
                        <a:t>0.38</a:t>
                      </a:r>
                    </a:p>
                  </a:txBody>
                  <a:tcPr marL="73152" marR="54864" marT="41148" marB="22860">
                    <a:solidFill>
                      <a:srgbClr val="FFFFFF"/>
                    </a:solidFill>
                  </a:tcPr>
                </a:tc>
                <a:tc>
                  <a:txBody>
                    <a:bodyPr/>
                    <a:lstStyle/>
                    <a:p>
                      <a:pPr>
                        <a:defRPr sz="900" b="0">
                          <a:solidFill>
                            <a:srgbClr val="24313D"/>
                          </a:solidFill>
                          <a:latin typeface="Aptos"/>
                        </a:defRPr>
                      </a:pPr>
                      <a:r>
                        <a:t>0.59</a:t>
                      </a:r>
                    </a:p>
                  </a:txBody>
                  <a:tcPr marL="73152" marR="54864" marT="41148" marB="22860">
                    <a:solidFill>
                      <a:srgbClr val="FFFFFF"/>
                    </a:solidFill>
                  </a:tcPr>
                </a:tc>
              </a:tr>
            </a:tbl>
          </a:graphicData>
        </a:graphic>
      </p:graphicFrame>
      <p:sp>
        <p:nvSpPr>
          <p:cNvPr id="10" name="Rounded Rectangle 9"/>
          <p:cNvSpPr/>
          <p:nvPr/>
        </p:nvSpPr>
        <p:spPr>
          <a:xfrm>
            <a:off x="6172200" y="1444752"/>
            <a:ext cx="5349240" cy="987552"/>
          </a:xfrm>
          <a:prstGeom prst="roundRect">
            <a:avLst/>
          </a:prstGeom>
          <a:solidFill>
            <a:srgbClr val="F2F6F8"/>
          </a:solidFill>
          <a:ln w="10160">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72200" y="1444752"/>
            <a:ext cx="64008" cy="987552"/>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36792" y="1563624"/>
            <a:ext cx="5038344" cy="274320"/>
          </a:xfrm>
          <a:prstGeom prst="rect">
            <a:avLst/>
          </a:prstGeom>
          <a:noFill/>
        </p:spPr>
        <p:txBody>
          <a:bodyPr wrap="square" lIns="22860" rIns="22860" tIns="22860" bIns="22860" anchor="t">
            <a:spAutoFit/>
          </a:bodyPr>
          <a:lstStyle/>
          <a:p>
            <a:pPr>
              <a:spcAft>
                <a:spcPts val="200"/>
              </a:spcAft>
              <a:defRPr sz="1200" b="1" i="0">
                <a:solidFill>
                  <a:srgbClr val="17324D"/>
                </a:solidFill>
                <a:latin typeface="Aptos"/>
              </a:defRPr>
            </a:pPr>
            <a:r>
              <a:t>Weterings et al. (2019)</a:t>
            </a:r>
          </a:p>
        </p:txBody>
      </p:sp>
      <p:sp>
        <p:nvSpPr>
          <p:cNvPr id="13" name="TextBox 12"/>
          <p:cNvSpPr txBox="1"/>
          <p:nvPr/>
        </p:nvSpPr>
        <p:spPr>
          <a:xfrm>
            <a:off x="6336792" y="1901952"/>
            <a:ext cx="5038344" cy="457200"/>
          </a:xfrm>
          <a:prstGeom prst="rect">
            <a:avLst/>
          </a:prstGeom>
          <a:noFill/>
        </p:spPr>
        <p:txBody>
          <a:bodyPr wrap="square" lIns="22860" rIns="22860" tIns="22860" bIns="22860" anchor="t">
            <a:spAutoFit/>
          </a:bodyPr>
          <a:lstStyle/>
          <a:p>
            <a:pPr>
              <a:spcAft>
                <a:spcPts val="200"/>
              </a:spcAft>
              <a:defRPr sz="1000" b="0" i="0">
                <a:solidFill>
                  <a:srgbClr val="24313D"/>
                </a:solidFill>
                <a:latin typeface="Aptos"/>
              </a:defRPr>
            </a:pPr>
            <a:r>
              <a:t>Activation study: XGBoost is a strong baseline; define the time cut-off and prevent future-event leakage.</a:t>
            </a:r>
          </a:p>
        </p:txBody>
      </p:sp>
      <p:sp>
        <p:nvSpPr>
          <p:cNvPr id="14" name="Rounded Rectangle 13"/>
          <p:cNvSpPr/>
          <p:nvPr/>
        </p:nvSpPr>
        <p:spPr>
          <a:xfrm>
            <a:off x="6172200" y="2587752"/>
            <a:ext cx="5349240" cy="987552"/>
          </a:xfrm>
          <a:prstGeom prst="roundRect">
            <a:avLst/>
          </a:prstGeom>
          <a:solidFill>
            <a:srgbClr val="F2F6F8"/>
          </a:solidFill>
          <a:ln w="10160">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72200" y="2587752"/>
            <a:ext cx="64008" cy="987552"/>
          </a:xfrm>
          <a:prstGeom prst="rect">
            <a:avLst/>
          </a:prstGeom>
          <a:solidFill>
            <a:srgbClr val="2E6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36792" y="2706624"/>
            <a:ext cx="5038344" cy="274320"/>
          </a:xfrm>
          <a:prstGeom prst="rect">
            <a:avLst/>
          </a:prstGeom>
          <a:noFill/>
        </p:spPr>
        <p:txBody>
          <a:bodyPr wrap="square" lIns="22860" rIns="22860" tIns="22860" bIns="22860" anchor="t">
            <a:spAutoFit/>
          </a:bodyPr>
          <a:lstStyle/>
          <a:p>
            <a:pPr>
              <a:spcAft>
                <a:spcPts val="200"/>
              </a:spcAft>
              <a:defRPr sz="1200" b="1" i="0">
                <a:solidFill>
                  <a:srgbClr val="17324D"/>
                </a:solidFill>
                <a:latin typeface="Aptos"/>
              </a:defRPr>
            </a:pPr>
            <a:r>
              <a:t>Moro, Cortez &amp; Rita (2014)</a:t>
            </a:r>
          </a:p>
        </p:txBody>
      </p:sp>
      <p:sp>
        <p:nvSpPr>
          <p:cNvPr id="17" name="TextBox 16"/>
          <p:cNvSpPr txBox="1"/>
          <p:nvPr/>
        </p:nvSpPr>
        <p:spPr>
          <a:xfrm>
            <a:off x="6336792" y="3044952"/>
            <a:ext cx="5038344" cy="457200"/>
          </a:xfrm>
          <a:prstGeom prst="rect">
            <a:avLst/>
          </a:prstGeom>
          <a:noFill/>
        </p:spPr>
        <p:txBody>
          <a:bodyPr wrap="square" lIns="22860" rIns="22860" tIns="22860" bIns="22860" anchor="t">
            <a:spAutoFit/>
          </a:bodyPr>
          <a:lstStyle/>
          <a:p>
            <a:pPr>
              <a:spcAft>
                <a:spcPts val="200"/>
              </a:spcAft>
              <a:defRPr sz="1000" b="0" i="0">
                <a:solidFill>
                  <a:srgbClr val="24313D"/>
                </a:solidFill>
                <a:latin typeface="Aptos"/>
              </a:defRPr>
            </a:pPr>
            <a:r>
              <a:t>Bank-campaign evidence: later-period performance may fall; time-based testing and lift matter.</a:t>
            </a:r>
          </a:p>
        </p:txBody>
      </p:sp>
      <p:sp>
        <p:nvSpPr>
          <p:cNvPr id="18" name="Rounded Rectangle 17"/>
          <p:cNvSpPr/>
          <p:nvPr/>
        </p:nvSpPr>
        <p:spPr>
          <a:xfrm>
            <a:off x="6172200" y="3730752"/>
            <a:ext cx="5349240" cy="987552"/>
          </a:xfrm>
          <a:prstGeom prst="roundRect">
            <a:avLst/>
          </a:prstGeom>
          <a:solidFill>
            <a:srgbClr val="FCF5E6"/>
          </a:solidFill>
          <a:ln w="10160">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72200" y="3730752"/>
            <a:ext cx="64008" cy="987552"/>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36792" y="3849624"/>
            <a:ext cx="5038344" cy="274320"/>
          </a:xfrm>
          <a:prstGeom prst="rect">
            <a:avLst/>
          </a:prstGeom>
          <a:noFill/>
        </p:spPr>
        <p:txBody>
          <a:bodyPr wrap="square" lIns="22860" rIns="22860" tIns="22860" bIns="22860" anchor="t">
            <a:spAutoFit/>
          </a:bodyPr>
          <a:lstStyle/>
          <a:p>
            <a:pPr>
              <a:spcAft>
                <a:spcPts val="200"/>
              </a:spcAft>
              <a:defRPr sz="1200" b="1" i="0">
                <a:solidFill>
                  <a:srgbClr val="17324D"/>
                </a:solidFill>
                <a:latin typeface="Aptos"/>
              </a:defRPr>
            </a:pPr>
            <a:r>
              <a:t>Isen et al. (2026), as reviewed</a:t>
            </a:r>
          </a:p>
        </p:txBody>
      </p:sp>
      <p:sp>
        <p:nvSpPr>
          <p:cNvPr id="21" name="TextBox 20"/>
          <p:cNvSpPr txBox="1"/>
          <p:nvPr/>
        </p:nvSpPr>
        <p:spPr>
          <a:xfrm>
            <a:off x="6336792" y="4187952"/>
            <a:ext cx="5038344" cy="457200"/>
          </a:xfrm>
          <a:prstGeom prst="rect">
            <a:avLst/>
          </a:prstGeom>
          <a:noFill/>
        </p:spPr>
        <p:txBody>
          <a:bodyPr wrap="square" lIns="22860" rIns="22860" tIns="22860" bIns="22860" anchor="t">
            <a:spAutoFit/>
          </a:bodyPr>
          <a:lstStyle/>
          <a:p>
            <a:pPr>
              <a:spcAft>
                <a:spcPts val="200"/>
              </a:spcAft>
              <a:defRPr sz="1000" b="0" i="0">
                <a:solidFill>
                  <a:srgbClr val="24313D"/>
                </a:solidFill>
                <a:latin typeface="Aptos"/>
              </a:defRPr>
            </a:pPr>
            <a:r>
              <a:t>Integrate touchpoints and evaluate conversion / retention outcomes, not clicks alone.</a:t>
            </a:r>
          </a:p>
        </p:txBody>
      </p:sp>
      <p:sp>
        <p:nvSpPr>
          <p:cNvPr id="22" name="TextBox 21"/>
          <p:cNvSpPr txBox="1"/>
          <p:nvPr/>
        </p:nvSpPr>
        <p:spPr>
          <a:xfrm>
            <a:off x="694944" y="3337560"/>
            <a:ext cx="4983480" cy="685800"/>
          </a:xfrm>
          <a:prstGeom prst="rect">
            <a:avLst/>
          </a:prstGeom>
          <a:noFill/>
        </p:spPr>
        <p:txBody>
          <a:bodyPr wrap="square" lIns="22860" rIns="22860" tIns="22860" bIns="22860" anchor="t">
            <a:spAutoFit/>
          </a:bodyPr>
          <a:lstStyle/>
          <a:p>
            <a:pPr>
              <a:spcAft>
                <a:spcPts val="200"/>
              </a:spcAft>
              <a:defRPr sz="1200" b="1" i="0">
                <a:solidFill>
                  <a:srgbClr val="17324D"/>
                </a:solidFill>
                <a:latin typeface="Aptos"/>
              </a:defRPr>
            </a:pPr>
            <a:r>
              <a:t>SS2 chose XGBoost: test F1 0.459; CV mean F1 0.446 vs LR 0.373 and RF 0.314.</a:t>
            </a:r>
          </a:p>
        </p:txBody>
      </p:sp>
      <p:sp>
        <p:nvSpPr>
          <p:cNvPr id="23" name="Rounded Rectangle 22"/>
          <p:cNvSpPr/>
          <p:nvPr/>
        </p:nvSpPr>
        <p:spPr>
          <a:xfrm>
            <a:off x="621792" y="5001768"/>
            <a:ext cx="10927080" cy="658368"/>
          </a:xfrm>
          <a:prstGeom prst="roundRect">
            <a:avLst/>
          </a:prstGeom>
          <a:solidFill>
            <a:srgbClr val="FBEDEE"/>
          </a:solidFill>
          <a:ln w="10160">
            <a:solidFill>
              <a:srgbClr val="F0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5138928"/>
            <a:ext cx="10515600" cy="384048"/>
          </a:xfrm>
          <a:prstGeom prst="rect">
            <a:avLst/>
          </a:prstGeom>
          <a:noFill/>
        </p:spPr>
        <p:txBody>
          <a:bodyPr wrap="square" lIns="22860" rIns="22860" tIns="22860" bIns="22860" anchor="t">
            <a:spAutoFit/>
          </a:bodyPr>
          <a:lstStyle/>
          <a:p>
            <a:pPr>
              <a:spcAft>
                <a:spcPts val="200"/>
              </a:spcAft>
              <a:defRPr sz="1100" b="1" i="0">
                <a:solidFill>
                  <a:srgbClr val="B94B4B"/>
                </a:solidFill>
                <a:latin typeface="Aptos"/>
              </a:defRPr>
            </a:pPr>
            <a:r>
              <a:t>SS2 and SS3 are different datasets and positive-class definitions: do not compare their F1 values as if they were the same test.</a:t>
            </a:r>
          </a:p>
        </p:txBody>
      </p:sp>
      <p:sp>
        <p:nvSpPr>
          <p:cNvPr id="25" name="TextBox 24"/>
          <p:cNvSpPr txBox="1"/>
          <p:nvPr/>
        </p:nvSpPr>
        <p:spPr>
          <a:xfrm>
            <a:off x="566928" y="6272784"/>
            <a:ext cx="10972800" cy="164592"/>
          </a:xfrm>
          <a:prstGeom prst="rect">
            <a:avLst/>
          </a:prstGeom>
          <a:noFill/>
        </p:spPr>
        <p:txBody>
          <a:bodyPr wrap="square" lIns="22860" rIns="22860" tIns="22860" bIns="22860" anchor="t">
            <a:spAutoFit/>
          </a:bodyPr>
          <a:lstStyle/>
          <a:p>
            <a:pPr>
              <a:spcAft>
                <a:spcPts val="200"/>
              </a:spcAft>
              <a:defRPr sz="700" b="0" i="1">
                <a:solidFill>
                  <a:srgbClr val="586A78"/>
                </a:solidFill>
                <a:latin typeface="Aptos"/>
              </a:defRPr>
            </a:pPr>
            <a:r>
              <a:t>Literature summarized in SS2 Part A: Weterings et al. (2019); Moro et al. (2014); Isen et al. (2026). SS2 results: READMEPartB&amp;C.md.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28600"/>
            <a:ext cx="7772400" cy="210312"/>
          </a:xfrm>
          <a:prstGeom prst="rect">
            <a:avLst/>
          </a:prstGeom>
          <a:noFill/>
        </p:spPr>
        <p:txBody>
          <a:bodyPr wrap="square" lIns="22860" rIns="22860" tIns="22860" bIns="22860" anchor="t">
            <a:spAutoFit/>
          </a:bodyPr>
          <a:lstStyle/>
          <a:p>
            <a:pPr>
              <a:spcAft>
                <a:spcPts val="200"/>
              </a:spcAft>
              <a:defRPr sz="900" b="1" i="0">
                <a:solidFill>
                  <a:srgbClr val="2E6F9E"/>
                </a:solidFill>
                <a:latin typeface="Aptos"/>
              </a:defRPr>
            </a:pPr>
            <a:r>
              <a:t>SS3: METHOD AND CODE</a:t>
            </a:r>
          </a:p>
        </p:txBody>
      </p:sp>
      <p:sp>
        <p:nvSpPr>
          <p:cNvPr id="4" name="TextBox 3"/>
          <p:cNvSpPr txBox="1"/>
          <p:nvPr/>
        </p:nvSpPr>
        <p:spPr>
          <a:xfrm>
            <a:off x="530352" y="502920"/>
            <a:ext cx="10972800" cy="438912"/>
          </a:xfrm>
          <a:prstGeom prst="rect">
            <a:avLst/>
          </a:prstGeom>
          <a:noFill/>
        </p:spPr>
        <p:txBody>
          <a:bodyPr wrap="square" lIns="22860" rIns="22860" tIns="22860" bIns="22860" anchor="t">
            <a:spAutoFit/>
          </a:bodyPr>
          <a:lstStyle/>
          <a:p>
            <a:pPr>
              <a:spcAft>
                <a:spcPts val="200"/>
              </a:spcAft>
              <a:defRPr sz="2400" b="1" i="0">
                <a:solidFill>
                  <a:srgbClr val="17324D"/>
                </a:solidFill>
                <a:latin typeface="Aptos"/>
              </a:defRPr>
            </a:pPr>
            <a:r>
              <a:t>The SS2 toolkit is applied to account activation</a:t>
            </a:r>
          </a:p>
        </p:txBody>
      </p:sp>
      <p:sp>
        <p:nvSpPr>
          <p:cNvPr id="5" name="TextBox 4"/>
          <p:cNvSpPr txBox="1"/>
          <p:nvPr/>
        </p:nvSpPr>
        <p:spPr>
          <a:xfrm>
            <a:off x="548640" y="987552"/>
            <a:ext cx="10972800" cy="310896"/>
          </a:xfrm>
          <a:prstGeom prst="rect">
            <a:avLst/>
          </a:prstGeom>
          <a:noFill/>
        </p:spPr>
        <p:txBody>
          <a:bodyPr wrap="square" lIns="22860" rIns="22860" tIns="22860" bIns="22860" anchor="t">
            <a:spAutoFit/>
          </a:bodyPr>
          <a:lstStyle/>
          <a:p>
            <a:pPr>
              <a:spcAft>
                <a:spcPts val="200"/>
              </a:spcAft>
              <a:defRPr sz="1100" b="0" i="0">
                <a:solidFill>
                  <a:srgbClr val="586A78"/>
                </a:solidFill>
                <a:latin typeface="Aptos"/>
              </a:defRPr>
            </a:pPr>
            <a:r>
              <a:t>Key safeguard: fit transformations and resampling on training data only.</a:t>
            </a:r>
          </a:p>
        </p:txBody>
      </p:sp>
      <p:sp>
        <p:nvSpPr>
          <p:cNvPr id="6" name="Rectangle 5"/>
          <p:cNvSpPr/>
          <p:nvPr/>
        </p:nvSpPr>
        <p:spPr>
          <a:xfrm>
            <a:off x="530352" y="6501384"/>
            <a:ext cx="11128248" cy="10972"/>
          </a:xfrm>
          <a:prstGeom prst="rect">
            <a:avLst/>
          </a:prstGeom>
          <a:solidFill>
            <a:srgbClr val="DCE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56248"/>
            <a:ext cx="8229600" cy="155448"/>
          </a:xfrm>
          <a:prstGeom prst="rect">
            <a:avLst/>
          </a:prstGeom>
          <a:noFill/>
        </p:spPr>
        <p:txBody>
          <a:bodyPr wrap="square" lIns="22860" rIns="22860" tIns="22860" bIns="22860" anchor="t">
            <a:spAutoFit/>
          </a:bodyPr>
          <a:lstStyle/>
          <a:p>
            <a:pPr>
              <a:spcAft>
                <a:spcPts val="200"/>
              </a:spcAft>
              <a:defRPr sz="700" b="0" i="0">
                <a:solidFill>
                  <a:srgbClr val="586A78"/>
                </a:solidFill>
                <a:latin typeface="Aptos"/>
              </a:defRPr>
            </a:pPr>
            <a:r>
              <a:t>CAP182  •  SS3 PART C  •  STADIOEQUITIES</a:t>
            </a:r>
          </a:p>
        </p:txBody>
      </p:sp>
      <p:sp>
        <p:nvSpPr>
          <p:cNvPr id="8" name="TextBox 7"/>
          <p:cNvSpPr txBox="1"/>
          <p:nvPr/>
        </p:nvSpPr>
        <p:spPr>
          <a:xfrm>
            <a:off x="10972800" y="6556248"/>
            <a:ext cx="685800" cy="155448"/>
          </a:xfrm>
          <a:prstGeom prst="rect">
            <a:avLst/>
          </a:prstGeom>
          <a:noFill/>
        </p:spPr>
        <p:txBody>
          <a:bodyPr wrap="square" lIns="22860" rIns="22860" tIns="22860" bIns="22860" anchor="t">
            <a:spAutoFit/>
          </a:bodyPr>
          <a:lstStyle/>
          <a:p>
            <a:pPr algn="r">
              <a:spcAft>
                <a:spcPts val="200"/>
              </a:spcAft>
              <a:defRPr sz="700" b="0" i="0">
                <a:solidFill>
                  <a:srgbClr val="586A78"/>
                </a:solidFill>
                <a:latin typeface="Aptos"/>
              </a:defRPr>
            </a:pPr>
            <a:r>
              <a:t>07 / 12</a:t>
            </a:r>
          </a:p>
        </p:txBody>
      </p:sp>
      <p:sp>
        <p:nvSpPr>
          <p:cNvPr id="9" name="Rounded Rectangle 8"/>
          <p:cNvSpPr/>
          <p:nvPr/>
        </p:nvSpPr>
        <p:spPr>
          <a:xfrm>
            <a:off x="566928" y="1600200"/>
            <a:ext cx="1664208" cy="1078992"/>
          </a:xfrm>
          <a:prstGeom prst="roundRect">
            <a:avLst/>
          </a:prstGeom>
          <a:solidFill>
            <a:srgbClr val="F2F6F8"/>
          </a:solidFill>
          <a:ln w="10160">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792224"/>
            <a:ext cx="1481328" cy="274320"/>
          </a:xfrm>
          <a:prstGeom prst="rect">
            <a:avLst/>
          </a:prstGeom>
          <a:noFill/>
        </p:spPr>
        <p:txBody>
          <a:bodyPr wrap="square" lIns="22860" rIns="22860" tIns="22860" bIns="22860" anchor="t">
            <a:spAutoFit/>
          </a:bodyPr>
          <a:lstStyle/>
          <a:p>
            <a:pPr algn="ctr">
              <a:spcAft>
                <a:spcPts val="200"/>
              </a:spcAft>
              <a:defRPr sz="1100" b="1" i="0">
                <a:solidFill>
                  <a:srgbClr val="17324D"/>
                </a:solidFill>
                <a:latin typeface="Aptos"/>
              </a:defRPr>
            </a:pPr>
            <a:r>
              <a:t>1  Source</a:t>
            </a:r>
          </a:p>
        </p:txBody>
      </p:sp>
      <p:sp>
        <p:nvSpPr>
          <p:cNvPr id="11" name="TextBox 10"/>
          <p:cNvSpPr txBox="1"/>
          <p:nvPr/>
        </p:nvSpPr>
        <p:spPr>
          <a:xfrm>
            <a:off x="658368" y="2157984"/>
            <a:ext cx="1481328" cy="411480"/>
          </a:xfrm>
          <a:prstGeom prst="rect">
            <a:avLst/>
          </a:prstGeom>
          <a:noFill/>
        </p:spPr>
        <p:txBody>
          <a:bodyPr wrap="square" lIns="22860" rIns="22860" tIns="22860" bIns="22860" anchor="t">
            <a:spAutoFit/>
          </a:bodyPr>
          <a:lstStyle/>
          <a:p>
            <a:pPr algn="ctr">
              <a:spcAft>
                <a:spcPts val="200"/>
              </a:spcAft>
              <a:defRPr sz="950" b="0" i="0">
                <a:solidFill>
                  <a:srgbClr val="24313D"/>
                </a:solidFill>
                <a:latin typeface="Aptos"/>
              </a:defRPr>
            </a:pPr>
            <a:r>
              <a:t>12 tables</a:t>
            </a:r>
          </a:p>
          <a:p>
            <a:pPr algn="ctr">
              <a:spcAft>
                <a:spcPts val="200"/>
              </a:spcAft>
              <a:defRPr sz="950" b="0" i="0">
                <a:solidFill>
                  <a:srgbClr val="24313D"/>
                </a:solidFill>
                <a:latin typeface="Aptos"/>
              </a:defRPr>
            </a:pPr>
            <a:r>
              <a:t>account-level join</a:t>
            </a:r>
          </a:p>
        </p:txBody>
      </p:sp>
      <p:cxnSp>
        <p:nvCxnSpPr>
          <p:cNvPr id="12" name="Connector 11"/>
          <p:cNvCxnSpPr/>
          <p:nvPr/>
        </p:nvCxnSpPr>
        <p:spPr>
          <a:xfrm>
            <a:off x="2240280" y="2139696"/>
            <a:ext cx="201168" cy="0"/>
          </a:xfrm>
          <a:prstGeom prst="line">
            <a:avLst/>
          </a:prstGeom>
          <a:ln w="25400">
            <a:solidFill>
              <a:srgbClr val="2A9D8F"/>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487168" y="1600200"/>
            <a:ext cx="1664208" cy="1078992"/>
          </a:xfrm>
          <a:prstGeom prst="roundRect">
            <a:avLst/>
          </a:prstGeom>
          <a:solidFill>
            <a:srgbClr val="E7F4F1"/>
          </a:solidFill>
          <a:ln w="10160">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78608" y="1792224"/>
            <a:ext cx="1481328" cy="274320"/>
          </a:xfrm>
          <a:prstGeom prst="rect">
            <a:avLst/>
          </a:prstGeom>
          <a:noFill/>
        </p:spPr>
        <p:txBody>
          <a:bodyPr wrap="square" lIns="22860" rIns="22860" tIns="22860" bIns="22860" anchor="t">
            <a:spAutoFit/>
          </a:bodyPr>
          <a:lstStyle/>
          <a:p>
            <a:pPr algn="ctr">
              <a:spcAft>
                <a:spcPts val="200"/>
              </a:spcAft>
              <a:defRPr sz="1100" b="1" i="0">
                <a:solidFill>
                  <a:srgbClr val="17324D"/>
                </a:solidFill>
                <a:latin typeface="Aptos"/>
              </a:defRPr>
            </a:pPr>
            <a:r>
              <a:t>2  Split</a:t>
            </a:r>
          </a:p>
        </p:txBody>
      </p:sp>
      <p:sp>
        <p:nvSpPr>
          <p:cNvPr id="15" name="TextBox 14"/>
          <p:cNvSpPr txBox="1"/>
          <p:nvPr/>
        </p:nvSpPr>
        <p:spPr>
          <a:xfrm>
            <a:off x="2578608" y="2157984"/>
            <a:ext cx="1481328" cy="411480"/>
          </a:xfrm>
          <a:prstGeom prst="rect">
            <a:avLst/>
          </a:prstGeom>
          <a:noFill/>
        </p:spPr>
        <p:txBody>
          <a:bodyPr wrap="square" lIns="22860" rIns="22860" tIns="22860" bIns="22860" anchor="t">
            <a:spAutoFit/>
          </a:bodyPr>
          <a:lstStyle/>
          <a:p>
            <a:pPr algn="ctr">
              <a:spcAft>
                <a:spcPts val="200"/>
              </a:spcAft>
              <a:defRPr sz="950" b="0" i="0">
                <a:solidFill>
                  <a:srgbClr val="24313D"/>
                </a:solidFill>
                <a:latin typeface="Aptos"/>
              </a:defRPr>
            </a:pPr>
            <a:r>
              <a:t>70 / 15 / 15</a:t>
            </a:r>
          </a:p>
          <a:p>
            <a:pPr algn="ctr">
              <a:spcAft>
                <a:spcPts val="200"/>
              </a:spcAft>
              <a:defRPr sz="950" b="0" i="0">
                <a:solidFill>
                  <a:srgbClr val="24313D"/>
                </a:solidFill>
                <a:latin typeface="Aptos"/>
              </a:defRPr>
            </a:pPr>
            <a:r>
              <a:t>stratified IDs</a:t>
            </a:r>
          </a:p>
        </p:txBody>
      </p:sp>
      <p:cxnSp>
        <p:nvCxnSpPr>
          <p:cNvPr id="16" name="Connector 15"/>
          <p:cNvCxnSpPr/>
          <p:nvPr/>
        </p:nvCxnSpPr>
        <p:spPr>
          <a:xfrm>
            <a:off x="4160520" y="2139696"/>
            <a:ext cx="201168" cy="0"/>
          </a:xfrm>
          <a:prstGeom prst="line">
            <a:avLst/>
          </a:prstGeom>
          <a:ln w="25400">
            <a:solidFill>
              <a:srgbClr val="2A9D8F"/>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407408" y="1600200"/>
            <a:ext cx="1664208" cy="1078992"/>
          </a:xfrm>
          <a:prstGeom prst="roundRect">
            <a:avLst/>
          </a:prstGeom>
          <a:solidFill>
            <a:srgbClr val="F2F6F8"/>
          </a:solidFill>
          <a:ln w="10160">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98848" y="1792224"/>
            <a:ext cx="1481328" cy="274320"/>
          </a:xfrm>
          <a:prstGeom prst="rect">
            <a:avLst/>
          </a:prstGeom>
          <a:noFill/>
        </p:spPr>
        <p:txBody>
          <a:bodyPr wrap="square" lIns="22860" rIns="22860" tIns="22860" bIns="22860" anchor="t">
            <a:spAutoFit/>
          </a:bodyPr>
          <a:lstStyle/>
          <a:p>
            <a:pPr algn="ctr">
              <a:spcAft>
                <a:spcPts val="200"/>
              </a:spcAft>
              <a:defRPr sz="1100" b="1" i="0">
                <a:solidFill>
                  <a:srgbClr val="17324D"/>
                </a:solidFill>
                <a:latin typeface="Aptos"/>
              </a:defRPr>
            </a:pPr>
            <a:r>
              <a:t>3  Prepare</a:t>
            </a:r>
          </a:p>
        </p:txBody>
      </p:sp>
      <p:sp>
        <p:nvSpPr>
          <p:cNvPr id="19" name="TextBox 18"/>
          <p:cNvSpPr txBox="1"/>
          <p:nvPr/>
        </p:nvSpPr>
        <p:spPr>
          <a:xfrm>
            <a:off x="4498848" y="2157984"/>
            <a:ext cx="1481328" cy="411480"/>
          </a:xfrm>
          <a:prstGeom prst="rect">
            <a:avLst/>
          </a:prstGeom>
          <a:noFill/>
        </p:spPr>
        <p:txBody>
          <a:bodyPr wrap="square" lIns="22860" rIns="22860" tIns="22860" bIns="22860" anchor="t">
            <a:spAutoFit/>
          </a:bodyPr>
          <a:lstStyle/>
          <a:p>
            <a:pPr algn="ctr">
              <a:spcAft>
                <a:spcPts val="200"/>
              </a:spcAft>
              <a:defRPr sz="950" b="0" i="0">
                <a:solidFill>
                  <a:srgbClr val="24313D"/>
                </a:solidFill>
                <a:latin typeface="Aptos"/>
              </a:defRPr>
            </a:pPr>
            <a:r>
              <a:t>train-fit impute</a:t>
            </a:r>
          </a:p>
          <a:p>
            <a:pPr algn="ctr">
              <a:spcAft>
                <a:spcPts val="200"/>
              </a:spcAft>
              <a:defRPr sz="950" b="0" i="0">
                <a:solidFill>
                  <a:srgbClr val="24313D"/>
                </a:solidFill>
                <a:latin typeface="Aptos"/>
              </a:defRPr>
            </a:pPr>
            <a:r>
              <a:t>scale + one-hot</a:t>
            </a:r>
          </a:p>
        </p:txBody>
      </p:sp>
      <p:cxnSp>
        <p:nvCxnSpPr>
          <p:cNvPr id="20" name="Connector 19"/>
          <p:cNvCxnSpPr/>
          <p:nvPr/>
        </p:nvCxnSpPr>
        <p:spPr>
          <a:xfrm>
            <a:off x="6080760" y="2139696"/>
            <a:ext cx="201168" cy="0"/>
          </a:xfrm>
          <a:prstGeom prst="line">
            <a:avLst/>
          </a:prstGeom>
          <a:ln w="25400">
            <a:solidFill>
              <a:srgbClr val="2A9D8F"/>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327648" y="1600200"/>
            <a:ext cx="1664208" cy="1078992"/>
          </a:xfrm>
          <a:prstGeom prst="roundRect">
            <a:avLst/>
          </a:prstGeom>
          <a:solidFill>
            <a:srgbClr val="FCF5E6"/>
          </a:solidFill>
          <a:ln w="10160">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92224"/>
            <a:ext cx="1481328" cy="274320"/>
          </a:xfrm>
          <a:prstGeom prst="rect">
            <a:avLst/>
          </a:prstGeom>
          <a:noFill/>
        </p:spPr>
        <p:txBody>
          <a:bodyPr wrap="square" lIns="22860" rIns="22860" tIns="22860" bIns="22860" anchor="t">
            <a:spAutoFit/>
          </a:bodyPr>
          <a:lstStyle/>
          <a:p>
            <a:pPr algn="ctr">
              <a:spcAft>
                <a:spcPts val="200"/>
              </a:spcAft>
              <a:defRPr sz="1100" b="1" i="0">
                <a:solidFill>
                  <a:srgbClr val="17324D"/>
                </a:solidFill>
                <a:latin typeface="Aptos"/>
              </a:defRPr>
            </a:pPr>
            <a:r>
              <a:t>4  Balance</a:t>
            </a:r>
          </a:p>
        </p:txBody>
      </p:sp>
      <p:sp>
        <p:nvSpPr>
          <p:cNvPr id="23" name="TextBox 22"/>
          <p:cNvSpPr txBox="1"/>
          <p:nvPr/>
        </p:nvSpPr>
        <p:spPr>
          <a:xfrm>
            <a:off x="6419088" y="2157984"/>
            <a:ext cx="1481328" cy="411480"/>
          </a:xfrm>
          <a:prstGeom prst="rect">
            <a:avLst/>
          </a:prstGeom>
          <a:noFill/>
        </p:spPr>
        <p:txBody>
          <a:bodyPr wrap="square" lIns="22860" rIns="22860" tIns="22860" bIns="22860" anchor="t">
            <a:spAutoFit/>
          </a:bodyPr>
          <a:lstStyle/>
          <a:p>
            <a:pPr algn="ctr">
              <a:spcAft>
                <a:spcPts val="200"/>
              </a:spcAft>
              <a:defRPr sz="950" b="0" i="0">
                <a:solidFill>
                  <a:srgbClr val="24313D"/>
                </a:solidFill>
                <a:latin typeface="Aptos"/>
              </a:defRPr>
            </a:pPr>
            <a:r>
              <a:t>SMOTE k=5</a:t>
            </a:r>
          </a:p>
          <a:p>
            <a:pPr algn="ctr">
              <a:spcAft>
                <a:spcPts val="200"/>
              </a:spcAft>
              <a:defRPr sz="950" b="0" i="0">
                <a:solidFill>
                  <a:srgbClr val="24313D"/>
                </a:solidFill>
                <a:latin typeface="Aptos"/>
              </a:defRPr>
            </a:pPr>
            <a:r>
              <a:t>train only</a:t>
            </a:r>
          </a:p>
        </p:txBody>
      </p:sp>
      <p:cxnSp>
        <p:nvCxnSpPr>
          <p:cNvPr id="24" name="Connector 23"/>
          <p:cNvCxnSpPr/>
          <p:nvPr/>
        </p:nvCxnSpPr>
        <p:spPr>
          <a:xfrm>
            <a:off x="8001000" y="2139696"/>
            <a:ext cx="201168" cy="0"/>
          </a:xfrm>
          <a:prstGeom prst="line">
            <a:avLst/>
          </a:prstGeom>
          <a:ln w="25400">
            <a:solidFill>
              <a:srgbClr val="2A9D8F"/>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247888" y="1600200"/>
            <a:ext cx="1664208" cy="1078992"/>
          </a:xfrm>
          <a:prstGeom prst="roundRect">
            <a:avLst/>
          </a:prstGeom>
          <a:solidFill>
            <a:srgbClr val="F2F6F8"/>
          </a:solidFill>
          <a:ln w="10160">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39327" y="1792224"/>
            <a:ext cx="1481328" cy="274320"/>
          </a:xfrm>
          <a:prstGeom prst="rect">
            <a:avLst/>
          </a:prstGeom>
          <a:noFill/>
        </p:spPr>
        <p:txBody>
          <a:bodyPr wrap="square" lIns="22860" rIns="22860" tIns="22860" bIns="22860" anchor="t">
            <a:spAutoFit/>
          </a:bodyPr>
          <a:lstStyle/>
          <a:p>
            <a:pPr algn="ctr">
              <a:spcAft>
                <a:spcPts val="200"/>
              </a:spcAft>
              <a:defRPr sz="1100" b="1" i="0">
                <a:solidFill>
                  <a:srgbClr val="17324D"/>
                </a:solidFill>
                <a:latin typeface="Aptos"/>
              </a:defRPr>
            </a:pPr>
            <a:r>
              <a:t>5  Compare</a:t>
            </a:r>
          </a:p>
        </p:txBody>
      </p:sp>
      <p:sp>
        <p:nvSpPr>
          <p:cNvPr id="27" name="TextBox 26"/>
          <p:cNvSpPr txBox="1"/>
          <p:nvPr/>
        </p:nvSpPr>
        <p:spPr>
          <a:xfrm>
            <a:off x="8339327" y="2157984"/>
            <a:ext cx="1481328" cy="411480"/>
          </a:xfrm>
          <a:prstGeom prst="rect">
            <a:avLst/>
          </a:prstGeom>
          <a:noFill/>
        </p:spPr>
        <p:txBody>
          <a:bodyPr wrap="square" lIns="22860" rIns="22860" tIns="22860" bIns="22860" anchor="t">
            <a:spAutoFit/>
          </a:bodyPr>
          <a:lstStyle/>
          <a:p>
            <a:pPr algn="ctr">
              <a:spcAft>
                <a:spcPts val="200"/>
              </a:spcAft>
              <a:defRPr sz="950" b="0" i="0">
                <a:solidFill>
                  <a:srgbClr val="24313D"/>
                </a:solidFill>
                <a:latin typeface="Aptos"/>
              </a:defRPr>
            </a:pPr>
            <a:r>
              <a:t>LR • RF • XGB</a:t>
            </a:r>
          </a:p>
          <a:p>
            <a:pPr algn="ctr">
              <a:spcAft>
                <a:spcPts val="200"/>
              </a:spcAft>
              <a:defRPr sz="950" b="0" i="0">
                <a:solidFill>
                  <a:srgbClr val="24313D"/>
                </a:solidFill>
                <a:latin typeface="Aptos"/>
              </a:defRPr>
            </a:pPr>
            <a:r>
              <a:t>average probabilities</a:t>
            </a:r>
          </a:p>
        </p:txBody>
      </p:sp>
      <p:cxnSp>
        <p:nvCxnSpPr>
          <p:cNvPr id="28" name="Connector 27"/>
          <p:cNvCxnSpPr/>
          <p:nvPr/>
        </p:nvCxnSpPr>
        <p:spPr>
          <a:xfrm>
            <a:off x="9921240" y="2139696"/>
            <a:ext cx="201168" cy="0"/>
          </a:xfrm>
          <a:prstGeom prst="line">
            <a:avLst/>
          </a:prstGeom>
          <a:ln w="25400">
            <a:solidFill>
              <a:srgbClr val="2A9D8F"/>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10168128" y="1600200"/>
            <a:ext cx="1664208" cy="1078992"/>
          </a:xfrm>
          <a:prstGeom prst="roundRect">
            <a:avLst/>
          </a:prstGeom>
          <a:solidFill>
            <a:srgbClr val="E7F4F1"/>
          </a:solidFill>
          <a:ln w="10160">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259567" y="1792224"/>
            <a:ext cx="1481328" cy="274320"/>
          </a:xfrm>
          <a:prstGeom prst="rect">
            <a:avLst/>
          </a:prstGeom>
          <a:noFill/>
        </p:spPr>
        <p:txBody>
          <a:bodyPr wrap="square" lIns="22860" rIns="22860" tIns="22860" bIns="22860" anchor="t">
            <a:spAutoFit/>
          </a:bodyPr>
          <a:lstStyle/>
          <a:p>
            <a:pPr algn="ctr">
              <a:spcAft>
                <a:spcPts val="200"/>
              </a:spcAft>
              <a:defRPr sz="1100" b="1" i="0">
                <a:solidFill>
                  <a:srgbClr val="17324D"/>
                </a:solidFill>
                <a:latin typeface="Aptos"/>
              </a:defRPr>
            </a:pPr>
            <a:r>
              <a:t>6  Evaluate</a:t>
            </a:r>
          </a:p>
        </p:txBody>
      </p:sp>
      <p:sp>
        <p:nvSpPr>
          <p:cNvPr id="31" name="TextBox 30"/>
          <p:cNvSpPr txBox="1"/>
          <p:nvPr/>
        </p:nvSpPr>
        <p:spPr>
          <a:xfrm>
            <a:off x="10259567" y="2157984"/>
            <a:ext cx="1481328" cy="411480"/>
          </a:xfrm>
          <a:prstGeom prst="rect">
            <a:avLst/>
          </a:prstGeom>
          <a:noFill/>
        </p:spPr>
        <p:txBody>
          <a:bodyPr wrap="square" lIns="22860" rIns="22860" tIns="22860" bIns="22860" anchor="t">
            <a:spAutoFit/>
          </a:bodyPr>
          <a:lstStyle/>
          <a:p>
            <a:pPr algn="ctr">
              <a:spcAft>
                <a:spcPts val="200"/>
              </a:spcAft>
              <a:defRPr sz="950" b="0" i="0">
                <a:solidFill>
                  <a:srgbClr val="24313D"/>
                </a:solidFill>
                <a:latin typeface="Aptos"/>
              </a:defRPr>
            </a:pPr>
            <a:r>
              <a:t>validation +</a:t>
            </a:r>
          </a:p>
          <a:p>
            <a:pPr algn="ctr">
              <a:spcAft>
                <a:spcPts val="200"/>
              </a:spcAft>
              <a:defRPr sz="950" b="0" i="0">
                <a:solidFill>
                  <a:srgbClr val="24313D"/>
                </a:solidFill>
                <a:latin typeface="Aptos"/>
              </a:defRPr>
            </a:pPr>
            <a:r>
              <a:t>unseen test</a:t>
            </a:r>
          </a:p>
        </p:txBody>
      </p:sp>
      <p:sp>
        <p:nvSpPr>
          <p:cNvPr id="32" name="Rounded Rectangle 31"/>
          <p:cNvSpPr/>
          <p:nvPr/>
        </p:nvSpPr>
        <p:spPr>
          <a:xfrm>
            <a:off x="621792" y="2999232"/>
            <a:ext cx="5349240" cy="1353312"/>
          </a:xfrm>
          <a:prstGeom prst="roundRect">
            <a:avLst/>
          </a:prstGeom>
          <a:solidFill>
            <a:srgbClr val="F2F6F8"/>
          </a:solidFill>
          <a:ln w="10160">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792" y="2999232"/>
            <a:ext cx="64008" cy="1353312"/>
          </a:xfrm>
          <a:prstGeom prst="rect">
            <a:avLst/>
          </a:prstGeom>
          <a:solidFill>
            <a:srgbClr val="2E6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 y="3118103"/>
            <a:ext cx="5038344" cy="274320"/>
          </a:xfrm>
          <a:prstGeom prst="rect">
            <a:avLst/>
          </a:prstGeom>
          <a:noFill/>
        </p:spPr>
        <p:txBody>
          <a:bodyPr wrap="square" lIns="22860" rIns="22860" tIns="22860" bIns="22860" anchor="t">
            <a:spAutoFit/>
          </a:bodyPr>
          <a:lstStyle/>
          <a:p>
            <a:pPr>
              <a:spcAft>
                <a:spcPts val="200"/>
              </a:spcAft>
              <a:defRPr sz="1300" b="1" i="0">
                <a:solidFill>
                  <a:srgbClr val="17324D"/>
                </a:solidFill>
                <a:latin typeface="Aptos"/>
              </a:defRPr>
            </a:pPr>
            <a:r>
              <a:t>Code choices</a:t>
            </a:r>
          </a:p>
        </p:txBody>
      </p:sp>
      <p:sp>
        <p:nvSpPr>
          <p:cNvPr id="35" name="TextBox 34"/>
          <p:cNvSpPr txBox="1"/>
          <p:nvPr/>
        </p:nvSpPr>
        <p:spPr>
          <a:xfrm>
            <a:off x="786384" y="3456432"/>
            <a:ext cx="5038344" cy="822960"/>
          </a:xfrm>
          <a:prstGeom prst="rect">
            <a:avLst/>
          </a:prstGeom>
          <a:noFill/>
        </p:spPr>
        <p:txBody>
          <a:bodyPr wrap="square" lIns="22860" rIns="22860" tIns="22860" bIns="22860" anchor="t">
            <a:spAutoFit/>
          </a:bodyPr>
          <a:lstStyle/>
          <a:p>
            <a:pPr>
              <a:spcAft>
                <a:spcPts val="200"/>
              </a:spcAft>
              <a:defRPr sz="1070" b="0" i="0">
                <a:solidFill>
                  <a:srgbClr val="24313D"/>
                </a:solidFill>
                <a:latin typeface="Aptos"/>
              </a:defRPr>
            </a:pPr>
            <a:r>
              <a:t>Median numeric imputation + scaling; categorical imputation + one-hot; outlier caps learned on train; deposit-derived leakage removed.</a:t>
            </a:r>
          </a:p>
        </p:txBody>
      </p:sp>
      <p:sp>
        <p:nvSpPr>
          <p:cNvPr id="36" name="Rounded Rectangle 35"/>
          <p:cNvSpPr/>
          <p:nvPr/>
        </p:nvSpPr>
        <p:spPr>
          <a:xfrm>
            <a:off x="6199632" y="2999232"/>
            <a:ext cx="5349240" cy="1353312"/>
          </a:xfrm>
          <a:prstGeom prst="roundRect">
            <a:avLst/>
          </a:prstGeom>
          <a:solidFill>
            <a:srgbClr val="F2F6F8"/>
          </a:solidFill>
          <a:ln w="10160">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199632" y="2999232"/>
            <a:ext cx="64008" cy="1353312"/>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64224" y="3118103"/>
            <a:ext cx="5038344" cy="274320"/>
          </a:xfrm>
          <a:prstGeom prst="rect">
            <a:avLst/>
          </a:prstGeom>
          <a:noFill/>
        </p:spPr>
        <p:txBody>
          <a:bodyPr wrap="square" lIns="22860" rIns="22860" tIns="22860" bIns="22860" anchor="t">
            <a:spAutoFit/>
          </a:bodyPr>
          <a:lstStyle/>
          <a:p>
            <a:pPr>
              <a:spcAft>
                <a:spcPts val="200"/>
              </a:spcAft>
              <a:defRPr sz="1300" b="1" i="0">
                <a:solidFill>
                  <a:srgbClr val="17324D"/>
                </a:solidFill>
                <a:latin typeface="Aptos"/>
              </a:defRPr>
            </a:pPr>
            <a:r>
              <a:t>Models</a:t>
            </a:r>
          </a:p>
        </p:txBody>
      </p:sp>
      <p:sp>
        <p:nvSpPr>
          <p:cNvPr id="39" name="TextBox 38"/>
          <p:cNvSpPr txBox="1"/>
          <p:nvPr/>
        </p:nvSpPr>
        <p:spPr>
          <a:xfrm>
            <a:off x="6364224" y="3456432"/>
            <a:ext cx="5038344" cy="822960"/>
          </a:xfrm>
          <a:prstGeom prst="rect">
            <a:avLst/>
          </a:prstGeom>
          <a:noFill/>
        </p:spPr>
        <p:txBody>
          <a:bodyPr wrap="square" lIns="22860" rIns="22860" tIns="22860" bIns="22860" anchor="t">
            <a:spAutoFit/>
          </a:bodyPr>
          <a:lstStyle/>
          <a:p>
            <a:pPr>
              <a:spcAft>
                <a:spcPts val="200"/>
              </a:spcAft>
              <a:defRPr sz="1070" b="0" i="0">
                <a:solidFill>
                  <a:srgbClr val="24313D"/>
                </a:solidFill>
                <a:latin typeface="Aptos"/>
              </a:defRPr>
            </a:pPr>
            <a:r>
              <a:t>LR = interpretable baseline; RF = bagged trees; XGBoost = boosted trees; ensemble = averaged probabilities. Seed = 42.</a:t>
            </a:r>
          </a:p>
        </p:txBody>
      </p:sp>
      <p:sp>
        <p:nvSpPr>
          <p:cNvPr id="40" name="Rounded Rectangle 39"/>
          <p:cNvSpPr/>
          <p:nvPr/>
        </p:nvSpPr>
        <p:spPr>
          <a:xfrm>
            <a:off x="621792" y="4645152"/>
            <a:ext cx="10927080" cy="713232"/>
          </a:xfrm>
          <a:prstGeom prst="roundRect">
            <a:avLst/>
          </a:prstGeom>
          <a:solidFill>
            <a:srgbClr val="FBEDEE"/>
          </a:solidFill>
          <a:ln w="10160">
            <a:solidFill>
              <a:srgbClr val="F0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2960" y="4828032"/>
            <a:ext cx="10515600" cy="329184"/>
          </a:xfrm>
          <a:prstGeom prst="rect">
            <a:avLst/>
          </a:prstGeom>
          <a:noFill/>
        </p:spPr>
        <p:txBody>
          <a:bodyPr wrap="square" lIns="22860" rIns="22860" tIns="22860" bIns="22860" anchor="t">
            <a:spAutoFit/>
          </a:bodyPr>
          <a:lstStyle/>
          <a:p>
            <a:pPr>
              <a:spcAft>
                <a:spcPts val="200"/>
              </a:spcAft>
              <a:defRPr sz="1150" b="1" i="0">
                <a:solidFill>
                  <a:srgbClr val="B94B4B"/>
                </a:solidFill>
                <a:latin typeface="Aptos"/>
              </a:defRPr>
            </a:pPr>
            <a:r>
              <a:t>Validation and test retain natural prevalence. Applying SMOTE before splitting would leak neighbour information.</a:t>
            </a:r>
          </a:p>
        </p:txBody>
      </p:sp>
      <p:sp>
        <p:nvSpPr>
          <p:cNvPr id="42" name="TextBox 41"/>
          <p:cNvSpPr txBox="1"/>
          <p:nvPr/>
        </p:nvSpPr>
        <p:spPr>
          <a:xfrm>
            <a:off x="566928" y="6272784"/>
            <a:ext cx="10972800" cy="164592"/>
          </a:xfrm>
          <a:prstGeom prst="rect">
            <a:avLst/>
          </a:prstGeom>
          <a:noFill/>
        </p:spPr>
        <p:txBody>
          <a:bodyPr wrap="square" lIns="22860" rIns="22860" tIns="22860" bIns="22860" anchor="t">
            <a:spAutoFit/>
          </a:bodyPr>
          <a:lstStyle/>
          <a:p>
            <a:pPr>
              <a:spcAft>
                <a:spcPts val="200"/>
              </a:spcAft>
              <a:defRPr sz="700" b="0" i="1">
                <a:solidFill>
                  <a:srgbClr val="586A78"/>
                </a:solidFill>
                <a:latin typeface="Aptos"/>
              </a:defRPr>
            </a:pPr>
            <a:r>
              <a:t>Source: SS3 notebook sections 02 Data preparation and 03 Model training; results/02_split_summary.csv.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28600"/>
            <a:ext cx="7772400" cy="210312"/>
          </a:xfrm>
          <a:prstGeom prst="rect">
            <a:avLst/>
          </a:prstGeom>
          <a:noFill/>
        </p:spPr>
        <p:txBody>
          <a:bodyPr wrap="square" lIns="22860" rIns="22860" tIns="22860" bIns="22860" anchor="t">
            <a:spAutoFit/>
          </a:bodyPr>
          <a:lstStyle/>
          <a:p>
            <a:pPr>
              <a:spcAft>
                <a:spcPts val="200"/>
              </a:spcAft>
              <a:defRPr sz="900" b="1" i="0">
                <a:solidFill>
                  <a:srgbClr val="2E6F9E"/>
                </a:solidFill>
                <a:latin typeface="Aptos"/>
              </a:defRPr>
            </a:pPr>
            <a:r>
              <a:t>SS3: MODEL EVALUATION</a:t>
            </a:r>
          </a:p>
        </p:txBody>
      </p:sp>
      <p:sp>
        <p:nvSpPr>
          <p:cNvPr id="4" name="TextBox 3"/>
          <p:cNvSpPr txBox="1"/>
          <p:nvPr/>
        </p:nvSpPr>
        <p:spPr>
          <a:xfrm>
            <a:off x="530352" y="502920"/>
            <a:ext cx="10972800" cy="438912"/>
          </a:xfrm>
          <a:prstGeom prst="rect">
            <a:avLst/>
          </a:prstGeom>
          <a:noFill/>
        </p:spPr>
        <p:txBody>
          <a:bodyPr wrap="square" lIns="22860" rIns="22860" tIns="22860" bIns="22860" anchor="t">
            <a:spAutoFit/>
          </a:bodyPr>
          <a:lstStyle/>
          <a:p>
            <a:pPr>
              <a:spcAft>
                <a:spcPts val="200"/>
              </a:spcAft>
              <a:defRPr sz="2400" b="1" i="0">
                <a:solidFill>
                  <a:srgbClr val="17324D"/>
                </a:solidFill>
                <a:latin typeface="Aptos"/>
              </a:defRPr>
            </a:pPr>
            <a:r>
              <a:t>On unseen accounts, no single model wins every objective</a:t>
            </a:r>
          </a:p>
        </p:txBody>
      </p:sp>
      <p:sp>
        <p:nvSpPr>
          <p:cNvPr id="5" name="TextBox 4"/>
          <p:cNvSpPr txBox="1"/>
          <p:nvPr/>
        </p:nvSpPr>
        <p:spPr>
          <a:xfrm>
            <a:off x="548640" y="987552"/>
            <a:ext cx="10972800" cy="310896"/>
          </a:xfrm>
          <a:prstGeom prst="rect">
            <a:avLst/>
          </a:prstGeom>
          <a:noFill/>
        </p:spPr>
        <p:txBody>
          <a:bodyPr wrap="square" lIns="22860" rIns="22860" tIns="22860" bIns="22860" anchor="t">
            <a:spAutoFit/>
          </a:bodyPr>
          <a:lstStyle/>
          <a:p>
            <a:pPr>
              <a:spcAft>
                <a:spcPts val="200"/>
              </a:spcAft>
              <a:defRPr sz="1100" b="0" i="0">
                <a:solidFill>
                  <a:srgbClr val="586A78"/>
                </a:solidFill>
                <a:latin typeface="Aptos"/>
              </a:defRPr>
            </a:pPr>
            <a:r>
              <a:t>Test set: 736 accounts, 314 activated. Evaluate more than accuracy.</a:t>
            </a:r>
          </a:p>
        </p:txBody>
      </p:sp>
      <p:sp>
        <p:nvSpPr>
          <p:cNvPr id="6" name="Rectangle 5"/>
          <p:cNvSpPr/>
          <p:nvPr/>
        </p:nvSpPr>
        <p:spPr>
          <a:xfrm>
            <a:off x="530352" y="6501384"/>
            <a:ext cx="11128248" cy="10972"/>
          </a:xfrm>
          <a:prstGeom prst="rect">
            <a:avLst/>
          </a:prstGeom>
          <a:solidFill>
            <a:srgbClr val="DCE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56248"/>
            <a:ext cx="8229600" cy="155448"/>
          </a:xfrm>
          <a:prstGeom prst="rect">
            <a:avLst/>
          </a:prstGeom>
          <a:noFill/>
        </p:spPr>
        <p:txBody>
          <a:bodyPr wrap="square" lIns="22860" rIns="22860" tIns="22860" bIns="22860" anchor="t">
            <a:spAutoFit/>
          </a:bodyPr>
          <a:lstStyle/>
          <a:p>
            <a:pPr>
              <a:spcAft>
                <a:spcPts val="200"/>
              </a:spcAft>
              <a:defRPr sz="700" b="0" i="0">
                <a:solidFill>
                  <a:srgbClr val="586A78"/>
                </a:solidFill>
                <a:latin typeface="Aptos"/>
              </a:defRPr>
            </a:pPr>
            <a:r>
              <a:t>CAP182  •  SS3 PART C  •  STADIOEQUITIES</a:t>
            </a:r>
          </a:p>
        </p:txBody>
      </p:sp>
      <p:sp>
        <p:nvSpPr>
          <p:cNvPr id="8" name="TextBox 7"/>
          <p:cNvSpPr txBox="1"/>
          <p:nvPr/>
        </p:nvSpPr>
        <p:spPr>
          <a:xfrm>
            <a:off x="10972800" y="6556248"/>
            <a:ext cx="685800" cy="155448"/>
          </a:xfrm>
          <a:prstGeom prst="rect">
            <a:avLst/>
          </a:prstGeom>
          <a:noFill/>
        </p:spPr>
        <p:txBody>
          <a:bodyPr wrap="square" lIns="22860" rIns="22860" tIns="22860" bIns="22860" anchor="t">
            <a:spAutoFit/>
          </a:bodyPr>
          <a:lstStyle/>
          <a:p>
            <a:pPr algn="r">
              <a:spcAft>
                <a:spcPts val="200"/>
              </a:spcAft>
              <a:defRPr sz="700" b="0" i="0">
                <a:solidFill>
                  <a:srgbClr val="586A78"/>
                </a:solidFill>
                <a:latin typeface="Aptos"/>
              </a:defRPr>
            </a:pPr>
            <a:r>
              <a:t>08 / 12</a:t>
            </a:r>
          </a:p>
        </p:txBody>
      </p:sp>
      <p:pic>
        <p:nvPicPr>
          <p:cNvPr id="9" name="Picture 8" descr="metrics.png"/>
          <p:cNvPicPr>
            <a:picLocks noChangeAspect="1"/>
          </p:cNvPicPr>
          <p:nvPr/>
        </p:nvPicPr>
        <p:blipFill>
          <a:blip r:embed="rId2"/>
          <a:stretch>
            <a:fillRect/>
          </a:stretch>
        </p:blipFill>
        <p:spPr>
          <a:xfrm>
            <a:off x="502920" y="1371600"/>
            <a:ext cx="7040880" cy="3246120"/>
          </a:xfrm>
          <a:prstGeom prst="rect">
            <a:avLst/>
          </a:prstGeom>
        </p:spPr>
      </p:pic>
      <p:sp>
        <p:nvSpPr>
          <p:cNvPr id="10" name="Rounded Rectangle 9"/>
          <p:cNvSpPr/>
          <p:nvPr/>
        </p:nvSpPr>
        <p:spPr>
          <a:xfrm>
            <a:off x="7699248" y="1536192"/>
            <a:ext cx="3730752" cy="832104"/>
          </a:xfrm>
          <a:prstGeom prst="roundRect">
            <a:avLst/>
          </a:prstGeom>
          <a:solidFill>
            <a:srgbClr val="F2F6F8"/>
          </a:solidFill>
          <a:ln w="10160">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36408" y="1627632"/>
            <a:ext cx="3474720" cy="182880"/>
          </a:xfrm>
          <a:prstGeom prst="rect">
            <a:avLst/>
          </a:prstGeom>
          <a:noFill/>
        </p:spPr>
        <p:txBody>
          <a:bodyPr wrap="square" lIns="22860" rIns="22860" tIns="22860" bIns="22860" anchor="t">
            <a:spAutoFit/>
          </a:bodyPr>
          <a:lstStyle/>
          <a:p>
            <a:pPr>
              <a:spcAft>
                <a:spcPts val="200"/>
              </a:spcAft>
              <a:defRPr sz="900" b="1" i="0">
                <a:solidFill>
                  <a:srgbClr val="2A9D8F"/>
                </a:solidFill>
                <a:latin typeface="Aptos"/>
              </a:defRPr>
            </a:pPr>
            <a:r>
              <a:t>RANDOM FOREST</a:t>
            </a:r>
          </a:p>
        </p:txBody>
      </p:sp>
      <p:sp>
        <p:nvSpPr>
          <p:cNvPr id="12" name="TextBox 11"/>
          <p:cNvSpPr txBox="1"/>
          <p:nvPr/>
        </p:nvSpPr>
        <p:spPr>
          <a:xfrm>
            <a:off x="7836408" y="1892807"/>
            <a:ext cx="3474720" cy="283464"/>
          </a:xfrm>
          <a:prstGeom prst="rect">
            <a:avLst/>
          </a:prstGeom>
          <a:noFill/>
        </p:spPr>
        <p:txBody>
          <a:bodyPr wrap="square" lIns="22860" rIns="22860" tIns="22860" bIns="22860" anchor="t">
            <a:spAutoFit/>
          </a:bodyPr>
          <a:lstStyle/>
          <a:p>
            <a:pPr>
              <a:spcAft>
                <a:spcPts val="200"/>
              </a:spcAft>
              <a:defRPr sz="1100" b="1" i="0">
                <a:solidFill>
                  <a:srgbClr val="17324D"/>
                </a:solidFill>
                <a:latin typeface="Aptos"/>
              </a:defRPr>
            </a:pPr>
            <a:r>
              <a:t>F1 0.857   AUC 0.943   Acc 0.865</a:t>
            </a:r>
          </a:p>
        </p:txBody>
      </p:sp>
      <p:sp>
        <p:nvSpPr>
          <p:cNvPr id="13" name="Rounded Rectangle 12"/>
          <p:cNvSpPr/>
          <p:nvPr/>
        </p:nvSpPr>
        <p:spPr>
          <a:xfrm>
            <a:off x="7699248" y="2560320"/>
            <a:ext cx="3730752" cy="832104"/>
          </a:xfrm>
          <a:prstGeom prst="roundRect">
            <a:avLst/>
          </a:prstGeom>
          <a:solidFill>
            <a:srgbClr val="F2F6F8"/>
          </a:solidFill>
          <a:ln w="10160">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36408" y="2651760"/>
            <a:ext cx="3474720" cy="182880"/>
          </a:xfrm>
          <a:prstGeom prst="rect">
            <a:avLst/>
          </a:prstGeom>
          <a:noFill/>
        </p:spPr>
        <p:txBody>
          <a:bodyPr wrap="square" lIns="22860" rIns="22860" tIns="22860" bIns="22860" anchor="t">
            <a:spAutoFit/>
          </a:bodyPr>
          <a:lstStyle/>
          <a:p>
            <a:pPr>
              <a:spcAft>
                <a:spcPts val="200"/>
              </a:spcAft>
              <a:defRPr sz="900" b="1" i="0">
                <a:solidFill>
                  <a:srgbClr val="2E6F9E"/>
                </a:solidFill>
                <a:latin typeface="Aptos"/>
              </a:defRPr>
            </a:pPr>
            <a:r>
              <a:t>LOGISTIC REGRESSION</a:t>
            </a:r>
          </a:p>
        </p:txBody>
      </p:sp>
      <p:sp>
        <p:nvSpPr>
          <p:cNvPr id="15" name="TextBox 14"/>
          <p:cNvSpPr txBox="1"/>
          <p:nvPr/>
        </p:nvSpPr>
        <p:spPr>
          <a:xfrm>
            <a:off x="7836408" y="2916936"/>
            <a:ext cx="3474720" cy="283464"/>
          </a:xfrm>
          <a:prstGeom prst="rect">
            <a:avLst/>
          </a:prstGeom>
          <a:noFill/>
        </p:spPr>
        <p:txBody>
          <a:bodyPr wrap="square" lIns="22860" rIns="22860" tIns="22860" bIns="22860" anchor="t">
            <a:spAutoFit/>
          </a:bodyPr>
          <a:lstStyle/>
          <a:p>
            <a:pPr>
              <a:spcAft>
                <a:spcPts val="200"/>
              </a:spcAft>
              <a:defRPr sz="1100" b="1" i="0">
                <a:solidFill>
                  <a:srgbClr val="17324D"/>
                </a:solidFill>
                <a:latin typeface="Aptos"/>
              </a:defRPr>
            </a:pPr>
            <a:r>
              <a:t>F1 0.856   AUC 0.937   Acc 0.870</a:t>
            </a:r>
          </a:p>
        </p:txBody>
      </p:sp>
      <p:sp>
        <p:nvSpPr>
          <p:cNvPr id="16" name="Rounded Rectangle 15"/>
          <p:cNvSpPr/>
          <p:nvPr/>
        </p:nvSpPr>
        <p:spPr>
          <a:xfrm>
            <a:off x="7699248" y="3584448"/>
            <a:ext cx="3730752" cy="832104"/>
          </a:xfrm>
          <a:prstGeom prst="roundRect">
            <a:avLst/>
          </a:prstGeom>
          <a:solidFill>
            <a:srgbClr val="F2F6F8"/>
          </a:solidFill>
          <a:ln w="10160">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36408" y="3675887"/>
            <a:ext cx="3474720" cy="182880"/>
          </a:xfrm>
          <a:prstGeom prst="rect">
            <a:avLst/>
          </a:prstGeom>
          <a:noFill/>
        </p:spPr>
        <p:txBody>
          <a:bodyPr wrap="square" lIns="22860" rIns="22860" tIns="22860" bIns="22860" anchor="t">
            <a:spAutoFit/>
          </a:bodyPr>
          <a:lstStyle/>
          <a:p>
            <a:pPr>
              <a:spcAft>
                <a:spcPts val="200"/>
              </a:spcAft>
              <a:defRPr sz="900" b="1" i="0">
                <a:solidFill>
                  <a:srgbClr val="E9B44C"/>
                </a:solidFill>
                <a:latin typeface="Aptos"/>
              </a:defRPr>
            </a:pPr>
            <a:r>
              <a:t>ENSEMBLE</a:t>
            </a:r>
          </a:p>
        </p:txBody>
      </p:sp>
      <p:sp>
        <p:nvSpPr>
          <p:cNvPr id="18" name="TextBox 17"/>
          <p:cNvSpPr txBox="1"/>
          <p:nvPr/>
        </p:nvSpPr>
        <p:spPr>
          <a:xfrm>
            <a:off x="7836408" y="3941063"/>
            <a:ext cx="3474720" cy="283464"/>
          </a:xfrm>
          <a:prstGeom prst="rect">
            <a:avLst/>
          </a:prstGeom>
          <a:noFill/>
        </p:spPr>
        <p:txBody>
          <a:bodyPr wrap="square" lIns="22860" rIns="22860" tIns="22860" bIns="22860" anchor="t">
            <a:spAutoFit/>
          </a:bodyPr>
          <a:lstStyle/>
          <a:p>
            <a:pPr>
              <a:spcAft>
                <a:spcPts val="200"/>
              </a:spcAft>
              <a:defRPr sz="1100" b="1" i="0">
                <a:solidFill>
                  <a:srgbClr val="17324D"/>
                </a:solidFill>
                <a:latin typeface="Aptos"/>
              </a:defRPr>
            </a:pPr>
            <a:r>
              <a:t>F1 0.849   AUC 0.942   Acc 0.861</a:t>
            </a:r>
          </a:p>
        </p:txBody>
      </p:sp>
      <p:sp>
        <p:nvSpPr>
          <p:cNvPr id="19" name="Rounded Rectangle 18"/>
          <p:cNvSpPr/>
          <p:nvPr/>
        </p:nvSpPr>
        <p:spPr>
          <a:xfrm>
            <a:off x="621792" y="4846320"/>
            <a:ext cx="10927080" cy="722376"/>
          </a:xfrm>
          <a:prstGeom prst="roundRect">
            <a:avLst/>
          </a:prstGeom>
          <a:solidFill>
            <a:srgbClr val="FCF5E6"/>
          </a:solidFill>
          <a:ln w="10160">
            <a:solidFill>
              <a:srgbClr val="F2E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992624"/>
            <a:ext cx="10515600" cy="438912"/>
          </a:xfrm>
          <a:prstGeom prst="rect">
            <a:avLst/>
          </a:prstGeom>
          <a:noFill/>
        </p:spPr>
        <p:txBody>
          <a:bodyPr wrap="square" lIns="22860" rIns="22860" tIns="22860" bIns="22860" anchor="t">
            <a:spAutoFit/>
          </a:bodyPr>
          <a:lstStyle/>
          <a:p>
            <a:pPr>
              <a:spcAft>
                <a:spcPts val="200"/>
              </a:spcAft>
              <a:defRPr sz="1100" b="1" i="0">
                <a:solidFill>
                  <a:srgbClr val="17324D"/>
                </a:solidFill>
                <a:latin typeface="Aptos"/>
              </a:defRPr>
            </a:pPr>
            <a:r>
              <a:t>RF leads recall (0.943), F1 (0.857), AUC (0.943); LR leads accuracy (0.870) and precision (0.810). Choose by the cost of misses vs. unnecessary contact.</a:t>
            </a:r>
          </a:p>
        </p:txBody>
      </p:sp>
      <p:sp>
        <p:nvSpPr>
          <p:cNvPr id="21" name="TextBox 20"/>
          <p:cNvSpPr txBox="1"/>
          <p:nvPr/>
        </p:nvSpPr>
        <p:spPr>
          <a:xfrm>
            <a:off x="566928" y="6272784"/>
            <a:ext cx="10972800" cy="164592"/>
          </a:xfrm>
          <a:prstGeom prst="rect">
            <a:avLst/>
          </a:prstGeom>
          <a:noFill/>
        </p:spPr>
        <p:txBody>
          <a:bodyPr wrap="square" lIns="22860" rIns="22860" tIns="22860" bIns="22860" anchor="t">
            <a:spAutoFit/>
          </a:bodyPr>
          <a:lstStyle/>
          <a:p>
            <a:pPr>
              <a:spcAft>
                <a:spcPts val="200"/>
              </a:spcAft>
              <a:defRPr sz="700" b="0" i="1">
                <a:solidFill>
                  <a:srgbClr val="586A78"/>
                </a:solidFill>
                <a:latin typeface="Aptos"/>
              </a:defRPr>
            </a:pPr>
            <a:r>
              <a:t>At 0.5 classification threshold; positive class = activated. Source: results/04_metrics_all_splits.csv. Brier lower is better.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28600"/>
            <a:ext cx="7772400" cy="210312"/>
          </a:xfrm>
          <a:prstGeom prst="rect">
            <a:avLst/>
          </a:prstGeom>
          <a:noFill/>
        </p:spPr>
        <p:txBody>
          <a:bodyPr wrap="square" lIns="22860" rIns="22860" tIns="22860" bIns="22860" anchor="t">
            <a:spAutoFit/>
          </a:bodyPr>
          <a:lstStyle/>
          <a:p>
            <a:pPr>
              <a:spcAft>
                <a:spcPts val="200"/>
              </a:spcAft>
              <a:defRPr sz="900" b="1" i="0">
                <a:solidFill>
                  <a:srgbClr val="2E6F9E"/>
                </a:solidFill>
                <a:latin typeface="Aptos"/>
              </a:defRPr>
            </a:pPr>
            <a:r>
              <a:t>CLIENT LENS: FROM SCORE TO SERVICE</a:t>
            </a:r>
          </a:p>
        </p:txBody>
      </p:sp>
      <p:sp>
        <p:nvSpPr>
          <p:cNvPr id="4" name="TextBox 3"/>
          <p:cNvSpPr txBox="1"/>
          <p:nvPr/>
        </p:nvSpPr>
        <p:spPr>
          <a:xfrm>
            <a:off x="530352" y="502920"/>
            <a:ext cx="10972800" cy="438912"/>
          </a:xfrm>
          <a:prstGeom prst="rect">
            <a:avLst/>
          </a:prstGeom>
          <a:noFill/>
        </p:spPr>
        <p:txBody>
          <a:bodyPr wrap="square" lIns="22860" rIns="22860" tIns="22860" bIns="22860" anchor="t">
            <a:spAutoFit/>
          </a:bodyPr>
          <a:lstStyle/>
          <a:p>
            <a:pPr>
              <a:spcAft>
                <a:spcPts val="200"/>
              </a:spcAft>
              <a:defRPr sz="2400" b="1" i="0">
                <a:solidFill>
                  <a:srgbClr val="17324D"/>
                </a:solidFill>
                <a:latin typeface="Aptos"/>
              </a:defRPr>
            </a:pPr>
            <a:r>
              <a:t>A capacity-based shortlist can focus support—but it is not causal proof</a:t>
            </a:r>
          </a:p>
        </p:txBody>
      </p:sp>
      <p:sp>
        <p:nvSpPr>
          <p:cNvPr id="5" name="TextBox 4"/>
          <p:cNvSpPr txBox="1"/>
          <p:nvPr/>
        </p:nvSpPr>
        <p:spPr>
          <a:xfrm>
            <a:off x="548640" y="987552"/>
            <a:ext cx="10972800" cy="310896"/>
          </a:xfrm>
          <a:prstGeom prst="rect">
            <a:avLst/>
          </a:prstGeom>
          <a:noFill/>
        </p:spPr>
        <p:txBody>
          <a:bodyPr wrap="square" lIns="22860" rIns="22860" tIns="22860" bIns="22860" anchor="t">
            <a:spAutoFit/>
          </a:bodyPr>
          <a:lstStyle/>
          <a:p>
            <a:pPr>
              <a:spcAft>
                <a:spcPts val="200"/>
              </a:spcAft>
              <a:defRPr sz="1100" b="0" i="0">
                <a:solidFill>
                  <a:srgbClr val="586A78"/>
                </a:solidFill>
                <a:latin typeface="Aptos"/>
              </a:defRPr>
            </a:pPr>
            <a:r>
              <a:t>Retrospective test scenario: contact the 30% with the lowest ensemble activation probabilities.</a:t>
            </a:r>
          </a:p>
        </p:txBody>
      </p:sp>
      <p:sp>
        <p:nvSpPr>
          <p:cNvPr id="6" name="Rectangle 5"/>
          <p:cNvSpPr/>
          <p:nvPr/>
        </p:nvSpPr>
        <p:spPr>
          <a:xfrm>
            <a:off x="530352" y="6501384"/>
            <a:ext cx="11128248" cy="10972"/>
          </a:xfrm>
          <a:prstGeom prst="rect">
            <a:avLst/>
          </a:prstGeom>
          <a:solidFill>
            <a:srgbClr val="DCE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56248"/>
            <a:ext cx="8229600" cy="155448"/>
          </a:xfrm>
          <a:prstGeom prst="rect">
            <a:avLst/>
          </a:prstGeom>
          <a:noFill/>
        </p:spPr>
        <p:txBody>
          <a:bodyPr wrap="square" lIns="22860" rIns="22860" tIns="22860" bIns="22860" anchor="t">
            <a:spAutoFit/>
          </a:bodyPr>
          <a:lstStyle/>
          <a:p>
            <a:pPr>
              <a:spcAft>
                <a:spcPts val="200"/>
              </a:spcAft>
              <a:defRPr sz="700" b="0" i="0">
                <a:solidFill>
                  <a:srgbClr val="586A78"/>
                </a:solidFill>
                <a:latin typeface="Aptos"/>
              </a:defRPr>
            </a:pPr>
            <a:r>
              <a:t>CAP182  •  SS3 PART C  •  STADIOEQUITIES</a:t>
            </a:r>
          </a:p>
        </p:txBody>
      </p:sp>
      <p:sp>
        <p:nvSpPr>
          <p:cNvPr id="8" name="TextBox 7"/>
          <p:cNvSpPr txBox="1"/>
          <p:nvPr/>
        </p:nvSpPr>
        <p:spPr>
          <a:xfrm>
            <a:off x="10972800" y="6556248"/>
            <a:ext cx="685800" cy="155448"/>
          </a:xfrm>
          <a:prstGeom prst="rect">
            <a:avLst/>
          </a:prstGeom>
          <a:noFill/>
        </p:spPr>
        <p:txBody>
          <a:bodyPr wrap="square" lIns="22860" rIns="22860" tIns="22860" bIns="22860" anchor="t">
            <a:spAutoFit/>
          </a:bodyPr>
          <a:lstStyle/>
          <a:p>
            <a:pPr algn="r">
              <a:spcAft>
                <a:spcPts val="200"/>
              </a:spcAft>
              <a:defRPr sz="700" b="0" i="0">
                <a:solidFill>
                  <a:srgbClr val="586A78"/>
                </a:solidFill>
                <a:latin typeface="Aptos"/>
              </a:defRPr>
            </a:pPr>
            <a:r>
              <a:t>09 / 12</a:t>
            </a:r>
          </a:p>
        </p:txBody>
      </p:sp>
      <p:sp>
        <p:nvSpPr>
          <p:cNvPr id="9" name="Rounded Rectangle 8"/>
          <p:cNvSpPr/>
          <p:nvPr/>
        </p:nvSpPr>
        <p:spPr>
          <a:xfrm>
            <a:off x="594360" y="1536192"/>
            <a:ext cx="2606040" cy="1024128"/>
          </a:xfrm>
          <a:prstGeom prst="roundRect">
            <a:avLst/>
          </a:prstGeom>
          <a:solidFill>
            <a:srgbClr val="F2F6F8"/>
          </a:solidFill>
          <a:ln w="10160">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0664" y="1691640"/>
            <a:ext cx="2331720" cy="365760"/>
          </a:xfrm>
          <a:prstGeom prst="rect">
            <a:avLst/>
          </a:prstGeom>
          <a:noFill/>
        </p:spPr>
        <p:txBody>
          <a:bodyPr wrap="square" lIns="22860" rIns="22860" tIns="22860" bIns="22860" anchor="t">
            <a:spAutoFit/>
          </a:bodyPr>
          <a:lstStyle/>
          <a:p>
            <a:pPr>
              <a:spcAft>
                <a:spcPts val="200"/>
              </a:spcAft>
              <a:defRPr sz="2200" b="1" i="0">
                <a:solidFill>
                  <a:srgbClr val="2E6F9E"/>
                </a:solidFill>
                <a:latin typeface="Aptos"/>
              </a:defRPr>
            </a:pPr>
            <a:r>
              <a:t>221</a:t>
            </a:r>
          </a:p>
        </p:txBody>
      </p:sp>
      <p:sp>
        <p:nvSpPr>
          <p:cNvPr id="11" name="TextBox 10"/>
          <p:cNvSpPr txBox="1"/>
          <p:nvPr/>
        </p:nvSpPr>
        <p:spPr>
          <a:xfrm>
            <a:off x="740664" y="2139696"/>
            <a:ext cx="2331720" cy="256032"/>
          </a:xfrm>
          <a:prstGeom prst="rect">
            <a:avLst/>
          </a:prstGeom>
          <a:noFill/>
        </p:spPr>
        <p:txBody>
          <a:bodyPr wrap="square" lIns="22860" rIns="22860" tIns="22860" bIns="22860" anchor="t">
            <a:spAutoFit/>
          </a:bodyPr>
          <a:lstStyle/>
          <a:p>
            <a:pPr>
              <a:spcAft>
                <a:spcPts val="200"/>
              </a:spcAft>
              <a:defRPr sz="950" b="0" i="0">
                <a:solidFill>
                  <a:srgbClr val="586A78"/>
                </a:solidFill>
                <a:latin typeface="Aptos"/>
              </a:defRPr>
            </a:pPr>
            <a:r>
              <a:t>accounts selected</a:t>
            </a:r>
          </a:p>
        </p:txBody>
      </p:sp>
      <p:sp>
        <p:nvSpPr>
          <p:cNvPr id="12" name="Rounded Rectangle 11"/>
          <p:cNvSpPr/>
          <p:nvPr/>
        </p:nvSpPr>
        <p:spPr>
          <a:xfrm>
            <a:off x="3474720" y="1536192"/>
            <a:ext cx="2606040" cy="1024128"/>
          </a:xfrm>
          <a:prstGeom prst="roundRect">
            <a:avLst/>
          </a:prstGeom>
          <a:solidFill>
            <a:srgbClr val="F2F6F8"/>
          </a:solidFill>
          <a:ln w="10160">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21024" y="1691640"/>
            <a:ext cx="2331720" cy="365760"/>
          </a:xfrm>
          <a:prstGeom prst="rect">
            <a:avLst/>
          </a:prstGeom>
          <a:noFill/>
        </p:spPr>
        <p:txBody>
          <a:bodyPr wrap="square" lIns="22860" rIns="22860" tIns="22860" bIns="22860" anchor="t">
            <a:spAutoFit/>
          </a:bodyPr>
          <a:lstStyle/>
          <a:p>
            <a:pPr>
              <a:spcAft>
                <a:spcPts val="200"/>
              </a:spcAft>
              <a:defRPr sz="2200" b="1" i="0">
                <a:solidFill>
                  <a:srgbClr val="2A9D8F"/>
                </a:solidFill>
                <a:latin typeface="Aptos"/>
              </a:defRPr>
            </a:pPr>
            <a:r>
              <a:t>218 / 221</a:t>
            </a:r>
          </a:p>
        </p:txBody>
      </p:sp>
      <p:sp>
        <p:nvSpPr>
          <p:cNvPr id="14" name="TextBox 13"/>
          <p:cNvSpPr txBox="1"/>
          <p:nvPr/>
        </p:nvSpPr>
        <p:spPr>
          <a:xfrm>
            <a:off x="3621024" y="2139696"/>
            <a:ext cx="2331720" cy="256032"/>
          </a:xfrm>
          <a:prstGeom prst="rect">
            <a:avLst/>
          </a:prstGeom>
          <a:noFill/>
        </p:spPr>
        <p:txBody>
          <a:bodyPr wrap="square" lIns="22860" rIns="22860" tIns="22860" bIns="22860" anchor="t">
            <a:spAutoFit/>
          </a:bodyPr>
          <a:lstStyle/>
          <a:p>
            <a:pPr>
              <a:spcAft>
                <a:spcPts val="200"/>
              </a:spcAft>
              <a:defRPr sz="950" b="0" i="0">
                <a:solidFill>
                  <a:srgbClr val="586A78"/>
                </a:solidFill>
                <a:latin typeface="Aptos"/>
              </a:defRPr>
            </a:pPr>
            <a:r>
              <a:t>non-activators in list</a:t>
            </a:r>
          </a:p>
        </p:txBody>
      </p:sp>
      <p:sp>
        <p:nvSpPr>
          <p:cNvPr id="15" name="Rounded Rectangle 14"/>
          <p:cNvSpPr/>
          <p:nvPr/>
        </p:nvSpPr>
        <p:spPr>
          <a:xfrm>
            <a:off x="6355080" y="1536192"/>
            <a:ext cx="2606040" cy="1024128"/>
          </a:xfrm>
          <a:prstGeom prst="roundRect">
            <a:avLst/>
          </a:prstGeom>
          <a:solidFill>
            <a:srgbClr val="F2F6F8"/>
          </a:solidFill>
          <a:ln w="10160">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01384" y="1691640"/>
            <a:ext cx="2331720" cy="365760"/>
          </a:xfrm>
          <a:prstGeom prst="rect">
            <a:avLst/>
          </a:prstGeom>
          <a:noFill/>
        </p:spPr>
        <p:txBody>
          <a:bodyPr wrap="square" lIns="22860" rIns="22860" tIns="22860" bIns="22860" anchor="t">
            <a:spAutoFit/>
          </a:bodyPr>
          <a:lstStyle/>
          <a:p>
            <a:pPr>
              <a:spcAft>
                <a:spcPts val="200"/>
              </a:spcAft>
              <a:defRPr sz="2200" b="1" i="0">
                <a:solidFill>
                  <a:srgbClr val="E9B44C"/>
                </a:solidFill>
                <a:latin typeface="Aptos"/>
              </a:defRPr>
            </a:pPr>
            <a:r>
              <a:t>51.7%</a:t>
            </a:r>
          </a:p>
        </p:txBody>
      </p:sp>
      <p:sp>
        <p:nvSpPr>
          <p:cNvPr id="17" name="TextBox 16"/>
          <p:cNvSpPr txBox="1"/>
          <p:nvPr/>
        </p:nvSpPr>
        <p:spPr>
          <a:xfrm>
            <a:off x="6501384" y="2139696"/>
            <a:ext cx="2331720" cy="256032"/>
          </a:xfrm>
          <a:prstGeom prst="rect">
            <a:avLst/>
          </a:prstGeom>
          <a:noFill/>
        </p:spPr>
        <p:txBody>
          <a:bodyPr wrap="square" lIns="22860" rIns="22860" tIns="22860" bIns="22860" anchor="t">
            <a:spAutoFit/>
          </a:bodyPr>
          <a:lstStyle/>
          <a:p>
            <a:pPr>
              <a:spcAft>
                <a:spcPts val="200"/>
              </a:spcAft>
              <a:defRPr sz="950" b="0" i="0">
                <a:solidFill>
                  <a:srgbClr val="586A78"/>
                </a:solidFill>
                <a:latin typeface="Aptos"/>
              </a:defRPr>
            </a:pPr>
            <a:r>
              <a:t>of test non-activators reached</a:t>
            </a:r>
          </a:p>
        </p:txBody>
      </p:sp>
      <p:sp>
        <p:nvSpPr>
          <p:cNvPr id="18" name="Rounded Rectangle 17"/>
          <p:cNvSpPr/>
          <p:nvPr/>
        </p:nvSpPr>
        <p:spPr>
          <a:xfrm>
            <a:off x="9235440" y="1536192"/>
            <a:ext cx="2606040" cy="1024128"/>
          </a:xfrm>
          <a:prstGeom prst="roundRect">
            <a:avLst/>
          </a:prstGeom>
          <a:solidFill>
            <a:srgbClr val="F2F6F8"/>
          </a:solidFill>
          <a:ln w="10160">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81744" y="1691640"/>
            <a:ext cx="2331720" cy="365760"/>
          </a:xfrm>
          <a:prstGeom prst="rect">
            <a:avLst/>
          </a:prstGeom>
          <a:noFill/>
        </p:spPr>
        <p:txBody>
          <a:bodyPr wrap="square" lIns="22860" rIns="22860" tIns="22860" bIns="22860" anchor="t">
            <a:spAutoFit/>
          </a:bodyPr>
          <a:lstStyle/>
          <a:p>
            <a:pPr>
              <a:spcAft>
                <a:spcPts val="200"/>
              </a:spcAft>
              <a:defRPr sz="2200" b="1" i="0">
                <a:solidFill>
                  <a:srgbClr val="2F855A"/>
                </a:solidFill>
                <a:latin typeface="Aptos"/>
              </a:defRPr>
            </a:pPr>
            <a:r>
              <a:t>98.6%</a:t>
            </a:r>
          </a:p>
        </p:txBody>
      </p:sp>
      <p:sp>
        <p:nvSpPr>
          <p:cNvPr id="20" name="TextBox 19"/>
          <p:cNvSpPr txBox="1"/>
          <p:nvPr/>
        </p:nvSpPr>
        <p:spPr>
          <a:xfrm>
            <a:off x="9381744" y="2139696"/>
            <a:ext cx="2331720" cy="256032"/>
          </a:xfrm>
          <a:prstGeom prst="rect">
            <a:avLst/>
          </a:prstGeom>
          <a:noFill/>
        </p:spPr>
        <p:txBody>
          <a:bodyPr wrap="square" lIns="22860" rIns="22860" tIns="22860" bIns="22860" anchor="t">
            <a:spAutoFit/>
          </a:bodyPr>
          <a:lstStyle/>
          <a:p>
            <a:pPr>
              <a:spcAft>
                <a:spcPts val="200"/>
              </a:spcAft>
              <a:defRPr sz="950" b="0" i="0">
                <a:solidFill>
                  <a:srgbClr val="586A78"/>
                </a:solidFill>
                <a:latin typeface="Aptos"/>
              </a:defRPr>
            </a:pPr>
            <a:r>
              <a:t>list precision for stalling</a:t>
            </a:r>
          </a:p>
        </p:txBody>
      </p:sp>
      <p:sp>
        <p:nvSpPr>
          <p:cNvPr id="21" name="TextBox 20"/>
          <p:cNvSpPr txBox="1"/>
          <p:nvPr/>
        </p:nvSpPr>
        <p:spPr>
          <a:xfrm>
            <a:off x="685800" y="2907792"/>
            <a:ext cx="4572000" cy="237744"/>
          </a:xfrm>
          <a:prstGeom prst="rect">
            <a:avLst/>
          </a:prstGeom>
          <a:noFill/>
        </p:spPr>
        <p:txBody>
          <a:bodyPr wrap="square" lIns="22860" rIns="22860" tIns="22860" bIns="22860" anchor="t">
            <a:spAutoFit/>
          </a:bodyPr>
          <a:lstStyle/>
          <a:p>
            <a:pPr>
              <a:spcAft>
                <a:spcPts val="200"/>
              </a:spcAft>
              <a:defRPr sz="900" b="1" i="0">
                <a:solidFill>
                  <a:srgbClr val="2E6F9E"/>
                </a:solidFill>
                <a:latin typeface="Aptos"/>
              </a:defRPr>
            </a:pPr>
            <a:r>
              <a:t>ENSEMBLE LABEL AT THRESHOLD 0.5 (ACTUAL × PREDICTED)</a:t>
            </a:r>
          </a:p>
        </p:txBody>
      </p:sp>
      <p:graphicFrame>
        <p:nvGraphicFramePr>
          <p:cNvPr id="22" name="Table 21"/>
          <p:cNvGraphicFramePr>
            <a:graphicFrameLocks noGrp="1"/>
          </p:cNvGraphicFramePr>
          <p:nvPr/>
        </p:nvGraphicFramePr>
        <p:xfrm>
          <a:off x="685800" y="3236976"/>
          <a:ext cx="6492238" cy="1097280"/>
        </p:xfrm>
        <a:graphic>
          <a:graphicData uri="http://schemas.openxmlformats.org/drawingml/2006/table">
            <a:tbl>
              <a:tblPr firstRow="1" bandRow="1">
                <a:tableStyleId>{5C22544A-7EE6-4342-B048-85BDC9FD1C3A}</a:tableStyleId>
              </a:tblPr>
              <a:tblGrid>
                <a:gridCol w="2337206"/>
                <a:gridCol w="2077516"/>
                <a:gridCol w="2077516"/>
              </a:tblGrid>
              <a:tr h="365760">
                <a:tc>
                  <a:txBody>
                    <a:bodyPr/>
                    <a:lstStyle/>
                    <a:p>
                      <a:pPr>
                        <a:defRPr sz="900" b="1">
                          <a:solidFill>
                            <a:srgbClr val="FFFFFF"/>
                          </a:solidFill>
                          <a:latin typeface="Aptos"/>
                        </a:defRPr>
                      </a:pPr>
                      <a:r>
                        <a:t>Actual</a:t>
                      </a:r>
                    </a:p>
                  </a:txBody>
                  <a:tcPr marL="73152" marR="54864" marT="41148" marB="22860">
                    <a:solidFill>
                      <a:srgbClr val="17324D"/>
                    </a:solidFill>
                  </a:tcPr>
                </a:tc>
                <a:tc>
                  <a:txBody>
                    <a:bodyPr/>
                    <a:lstStyle/>
                    <a:p>
                      <a:pPr>
                        <a:defRPr sz="900" b="1">
                          <a:solidFill>
                            <a:srgbClr val="FFFFFF"/>
                          </a:solidFill>
                          <a:latin typeface="Aptos"/>
                        </a:defRPr>
                      </a:pPr>
                      <a:r>
                        <a:t>Predicted 0: not activated</a:t>
                      </a:r>
                    </a:p>
                  </a:txBody>
                  <a:tcPr marL="73152" marR="54864" marT="41148" marB="22860">
                    <a:solidFill>
                      <a:srgbClr val="17324D"/>
                    </a:solidFill>
                  </a:tcPr>
                </a:tc>
                <a:tc>
                  <a:txBody>
                    <a:bodyPr/>
                    <a:lstStyle/>
                    <a:p>
                      <a:pPr>
                        <a:defRPr sz="900" b="1">
                          <a:solidFill>
                            <a:srgbClr val="FFFFFF"/>
                          </a:solidFill>
                          <a:latin typeface="Aptos"/>
                        </a:defRPr>
                      </a:pPr>
                      <a:r>
                        <a:t>Predicted 1: activated</a:t>
                      </a:r>
                    </a:p>
                  </a:txBody>
                  <a:tcPr marL="73152" marR="54864" marT="41148" marB="22860">
                    <a:solidFill>
                      <a:srgbClr val="17324D"/>
                    </a:solidFill>
                  </a:tcPr>
                </a:tc>
              </a:tr>
              <a:tr h="365760">
                <a:tc>
                  <a:txBody>
                    <a:bodyPr/>
                    <a:lstStyle/>
                    <a:p>
                      <a:pPr>
                        <a:defRPr sz="900" b="0">
                          <a:solidFill>
                            <a:srgbClr val="24313D"/>
                          </a:solidFill>
                          <a:latin typeface="Aptos"/>
                        </a:defRPr>
                      </a:pPr>
                      <a:r>
                        <a:t>Not activated</a:t>
                      </a:r>
                    </a:p>
                  </a:txBody>
                  <a:tcPr marL="73152" marR="54864" marT="41148" marB="22860">
                    <a:solidFill>
                      <a:srgbClr val="FFFFFF"/>
                    </a:solidFill>
                  </a:tcPr>
                </a:tc>
                <a:tc>
                  <a:txBody>
                    <a:bodyPr/>
                    <a:lstStyle/>
                    <a:p>
                      <a:pPr>
                        <a:defRPr sz="900" b="0">
                          <a:solidFill>
                            <a:srgbClr val="24313D"/>
                          </a:solidFill>
                          <a:latin typeface="Aptos"/>
                        </a:defRPr>
                      </a:pPr>
                      <a:r>
                        <a:t>348</a:t>
                      </a:r>
                    </a:p>
                  </a:txBody>
                  <a:tcPr marL="73152" marR="54864" marT="41148" marB="22860">
                    <a:solidFill>
                      <a:srgbClr val="FFFFFF"/>
                    </a:solidFill>
                  </a:tcPr>
                </a:tc>
                <a:tc>
                  <a:txBody>
                    <a:bodyPr/>
                    <a:lstStyle/>
                    <a:p>
                      <a:pPr>
                        <a:defRPr sz="900" b="0">
                          <a:solidFill>
                            <a:srgbClr val="24313D"/>
                          </a:solidFill>
                          <a:latin typeface="Aptos"/>
                        </a:defRPr>
                      </a:pPr>
                      <a:r>
                        <a:t>74</a:t>
                      </a:r>
                    </a:p>
                  </a:txBody>
                  <a:tcPr marL="73152" marR="54864" marT="41148" marB="22860">
                    <a:solidFill>
                      <a:srgbClr val="FFFFFF"/>
                    </a:solidFill>
                  </a:tcPr>
                </a:tc>
              </a:tr>
              <a:tr h="365760">
                <a:tc>
                  <a:txBody>
                    <a:bodyPr/>
                    <a:lstStyle/>
                    <a:p>
                      <a:pPr>
                        <a:defRPr sz="900" b="0">
                          <a:solidFill>
                            <a:srgbClr val="24313D"/>
                          </a:solidFill>
                          <a:latin typeface="Aptos"/>
                        </a:defRPr>
                      </a:pPr>
                      <a:r>
                        <a:t>Activated</a:t>
                      </a:r>
                    </a:p>
                  </a:txBody>
                  <a:tcPr marL="73152" marR="54864" marT="41148" marB="22860">
                    <a:solidFill>
                      <a:srgbClr val="F2F6F8"/>
                    </a:solidFill>
                  </a:tcPr>
                </a:tc>
                <a:tc>
                  <a:txBody>
                    <a:bodyPr/>
                    <a:lstStyle/>
                    <a:p>
                      <a:pPr>
                        <a:defRPr sz="900" b="0">
                          <a:solidFill>
                            <a:srgbClr val="24313D"/>
                          </a:solidFill>
                          <a:latin typeface="Aptos"/>
                        </a:defRPr>
                      </a:pPr>
                      <a:r>
                        <a:t>28</a:t>
                      </a:r>
                    </a:p>
                  </a:txBody>
                  <a:tcPr marL="73152" marR="54864" marT="41148" marB="22860">
                    <a:solidFill>
                      <a:srgbClr val="F2F6F8"/>
                    </a:solidFill>
                  </a:tcPr>
                </a:tc>
                <a:tc>
                  <a:txBody>
                    <a:bodyPr/>
                    <a:lstStyle/>
                    <a:p>
                      <a:pPr>
                        <a:defRPr sz="900" b="0">
                          <a:solidFill>
                            <a:srgbClr val="24313D"/>
                          </a:solidFill>
                          <a:latin typeface="Aptos"/>
                        </a:defRPr>
                      </a:pPr>
                      <a:r>
                        <a:t>286</a:t>
                      </a:r>
                    </a:p>
                  </a:txBody>
                  <a:tcPr marL="73152" marR="54864" marT="41148" marB="22860">
                    <a:solidFill>
                      <a:srgbClr val="F2F6F8"/>
                    </a:solidFill>
                  </a:tcPr>
                </a:tc>
              </a:tr>
            </a:tbl>
          </a:graphicData>
        </a:graphic>
      </p:graphicFrame>
      <p:sp>
        <p:nvSpPr>
          <p:cNvPr id="23" name="Rounded Rectangle 22"/>
          <p:cNvSpPr/>
          <p:nvPr/>
        </p:nvSpPr>
        <p:spPr>
          <a:xfrm>
            <a:off x="7452360" y="3017520"/>
            <a:ext cx="4069080" cy="1426464"/>
          </a:xfrm>
          <a:prstGeom prst="roundRect">
            <a:avLst/>
          </a:prstGeom>
          <a:solidFill>
            <a:srgbClr val="FBEDEE"/>
          </a:solidFill>
          <a:ln w="10160">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452360" y="3017520"/>
            <a:ext cx="64008" cy="1426464"/>
          </a:xfrm>
          <a:prstGeom prst="rect">
            <a:avLst/>
          </a:prstGeom>
          <a:solidFill>
            <a:srgbClr val="B9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16952" y="3136391"/>
            <a:ext cx="3758184" cy="274320"/>
          </a:xfrm>
          <a:prstGeom prst="rect">
            <a:avLst/>
          </a:prstGeom>
          <a:noFill/>
        </p:spPr>
        <p:txBody>
          <a:bodyPr wrap="square" lIns="22860" rIns="22860" tIns="22860" bIns="22860" anchor="t">
            <a:spAutoFit/>
          </a:bodyPr>
          <a:lstStyle/>
          <a:p>
            <a:pPr>
              <a:spcAft>
                <a:spcPts val="200"/>
              </a:spcAft>
              <a:defRPr sz="1200" b="1" i="0">
                <a:solidFill>
                  <a:srgbClr val="17324D"/>
                </a:solidFill>
                <a:latin typeface="Aptos"/>
              </a:defRPr>
            </a:pPr>
            <a:r>
              <a:t>How to interpret</a:t>
            </a:r>
          </a:p>
        </p:txBody>
      </p:sp>
      <p:sp>
        <p:nvSpPr>
          <p:cNvPr id="26" name="TextBox 25"/>
          <p:cNvSpPr txBox="1"/>
          <p:nvPr/>
        </p:nvSpPr>
        <p:spPr>
          <a:xfrm>
            <a:off x="7616952" y="3474720"/>
            <a:ext cx="3758184" cy="896112"/>
          </a:xfrm>
          <a:prstGeom prst="rect">
            <a:avLst/>
          </a:prstGeom>
          <a:noFill/>
        </p:spPr>
        <p:txBody>
          <a:bodyPr wrap="square" lIns="22860" rIns="22860" tIns="22860" bIns="22860" anchor="t">
            <a:spAutoFit/>
          </a:bodyPr>
          <a:lstStyle/>
          <a:p>
            <a:pPr>
              <a:spcAft>
                <a:spcPts val="200"/>
              </a:spcAft>
              <a:defRPr sz="1050" b="0" i="0">
                <a:solidFill>
                  <a:srgbClr val="24313D"/>
                </a:solidFill>
                <a:latin typeface="Aptos"/>
              </a:defRPr>
            </a:pPr>
            <a:r>
              <a:t>The low-score outreach ranking differs from the 0.5 class threshold. High list precision does not mean every stalling account is reached.</a:t>
            </a:r>
          </a:p>
        </p:txBody>
      </p:sp>
      <p:sp>
        <p:nvSpPr>
          <p:cNvPr id="27" name="Rounded Rectangle 26"/>
          <p:cNvSpPr/>
          <p:nvPr/>
        </p:nvSpPr>
        <p:spPr>
          <a:xfrm>
            <a:off x="658368" y="4882896"/>
            <a:ext cx="10844784" cy="630936"/>
          </a:xfrm>
          <a:prstGeom prst="round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038344"/>
            <a:ext cx="10378440" cy="320040"/>
          </a:xfrm>
          <a:prstGeom prst="rect">
            <a:avLst/>
          </a:prstGeom>
          <a:noFill/>
        </p:spPr>
        <p:txBody>
          <a:bodyPr wrap="square" lIns="22860" rIns="22860" tIns="22860" bIns="22860" anchor="t">
            <a:spAutoFit/>
          </a:bodyPr>
          <a:lstStyle/>
          <a:p>
            <a:pPr algn="ctr">
              <a:spcAft>
                <a:spcPts val="200"/>
              </a:spcAft>
              <a:defRPr sz="1200" b="1" i="0">
                <a:solidFill>
                  <a:srgbClr val="FFFFFF"/>
                </a:solidFill>
                <a:latin typeface="Aptos"/>
              </a:defRPr>
            </a:pPr>
            <a:r>
              <a:t>NEXT TEST: randomise eligible high-risk accounts to supportive outreach vs. business-as-usual.</a:t>
            </a:r>
          </a:p>
        </p:txBody>
      </p:sp>
      <p:sp>
        <p:nvSpPr>
          <p:cNvPr id="29" name="TextBox 28"/>
          <p:cNvSpPr txBox="1"/>
          <p:nvPr/>
        </p:nvSpPr>
        <p:spPr>
          <a:xfrm>
            <a:off x="566928" y="6272784"/>
            <a:ext cx="10972800" cy="164592"/>
          </a:xfrm>
          <a:prstGeom prst="rect">
            <a:avLst/>
          </a:prstGeom>
          <a:noFill/>
        </p:spPr>
        <p:txBody>
          <a:bodyPr wrap="square" lIns="22860" rIns="22860" tIns="22860" bIns="22860" anchor="t">
            <a:spAutoFit/>
          </a:bodyPr>
          <a:lstStyle/>
          <a:p>
            <a:pPr>
              <a:spcAft>
                <a:spcPts val="200"/>
              </a:spcAft>
              <a:defRPr sz="700" b="0" i="1">
                <a:solidFill>
                  <a:srgbClr val="586A78"/>
                </a:solidFill>
                <a:latin typeface="Aptos"/>
              </a:defRPr>
            </a:pPr>
            <a:r>
              <a:t>Source: results/04_outreach_coverage_test.csv and 04_test_predictions.csv. Random-list baseline = 57.3% non-activation prevalence.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28600"/>
            <a:ext cx="7772400" cy="210312"/>
          </a:xfrm>
          <a:prstGeom prst="rect">
            <a:avLst/>
          </a:prstGeom>
          <a:noFill/>
        </p:spPr>
        <p:txBody>
          <a:bodyPr wrap="square" lIns="22860" rIns="22860" tIns="22860" bIns="22860" anchor="t">
            <a:spAutoFit/>
          </a:bodyPr>
          <a:lstStyle/>
          <a:p>
            <a:pPr>
              <a:spcAft>
                <a:spcPts val="200"/>
              </a:spcAft>
              <a:defRPr sz="900" b="1" i="0">
                <a:solidFill>
                  <a:srgbClr val="2E6F9E"/>
                </a:solidFill>
                <a:latin typeface="Aptos"/>
              </a:defRPr>
            </a:pPr>
            <a:r>
              <a:t>DATA SCIENCE LENS: EXPLAINABILITY</a:t>
            </a:r>
          </a:p>
        </p:txBody>
      </p:sp>
      <p:sp>
        <p:nvSpPr>
          <p:cNvPr id="4" name="TextBox 3"/>
          <p:cNvSpPr txBox="1"/>
          <p:nvPr/>
        </p:nvSpPr>
        <p:spPr>
          <a:xfrm>
            <a:off x="530352" y="502920"/>
            <a:ext cx="10972800" cy="438912"/>
          </a:xfrm>
          <a:prstGeom prst="rect">
            <a:avLst/>
          </a:prstGeom>
          <a:noFill/>
        </p:spPr>
        <p:txBody>
          <a:bodyPr wrap="square" lIns="22860" rIns="22860" tIns="22860" bIns="22860" anchor="t">
            <a:spAutoFit/>
          </a:bodyPr>
          <a:lstStyle/>
          <a:p>
            <a:pPr>
              <a:spcAft>
                <a:spcPts val="200"/>
              </a:spcAft>
              <a:defRPr sz="2400" b="1" i="0">
                <a:solidFill>
                  <a:srgbClr val="17324D"/>
                </a:solidFill>
                <a:latin typeface="Aptos"/>
              </a:defRPr>
            </a:pPr>
            <a:r>
              <a:t>KYC progress and onboarding completion carry strong model signals</a:t>
            </a:r>
          </a:p>
        </p:txBody>
      </p:sp>
      <p:sp>
        <p:nvSpPr>
          <p:cNvPr id="5" name="TextBox 4"/>
          <p:cNvSpPr txBox="1"/>
          <p:nvPr/>
        </p:nvSpPr>
        <p:spPr>
          <a:xfrm>
            <a:off x="548640" y="987552"/>
            <a:ext cx="10972800" cy="310896"/>
          </a:xfrm>
          <a:prstGeom prst="rect">
            <a:avLst/>
          </a:prstGeom>
          <a:noFill/>
        </p:spPr>
        <p:txBody>
          <a:bodyPr wrap="square" lIns="22860" rIns="22860" tIns="22860" bIns="22860" anchor="t">
            <a:spAutoFit/>
          </a:bodyPr>
          <a:lstStyle/>
          <a:p>
            <a:pPr>
              <a:spcAft>
                <a:spcPts val="200"/>
              </a:spcAft>
              <a:defRPr sz="1100" b="0" i="0">
                <a:solidFill>
                  <a:srgbClr val="586A78"/>
                </a:solidFill>
                <a:latin typeface="Aptos"/>
              </a:defRPr>
            </a:pPr>
            <a:r>
              <a:t>Importance answers “what helped prediction?”—not “what causes activation?”</a:t>
            </a:r>
          </a:p>
        </p:txBody>
      </p:sp>
      <p:sp>
        <p:nvSpPr>
          <p:cNvPr id="6" name="Rectangle 5"/>
          <p:cNvSpPr/>
          <p:nvPr/>
        </p:nvSpPr>
        <p:spPr>
          <a:xfrm>
            <a:off x="530352" y="6501384"/>
            <a:ext cx="11128248" cy="10972"/>
          </a:xfrm>
          <a:prstGeom prst="rect">
            <a:avLst/>
          </a:prstGeom>
          <a:solidFill>
            <a:srgbClr val="DCE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56248"/>
            <a:ext cx="8229600" cy="155448"/>
          </a:xfrm>
          <a:prstGeom prst="rect">
            <a:avLst/>
          </a:prstGeom>
          <a:noFill/>
        </p:spPr>
        <p:txBody>
          <a:bodyPr wrap="square" lIns="22860" rIns="22860" tIns="22860" bIns="22860" anchor="t">
            <a:spAutoFit/>
          </a:bodyPr>
          <a:lstStyle/>
          <a:p>
            <a:pPr>
              <a:spcAft>
                <a:spcPts val="200"/>
              </a:spcAft>
              <a:defRPr sz="700" b="0" i="0">
                <a:solidFill>
                  <a:srgbClr val="586A78"/>
                </a:solidFill>
                <a:latin typeface="Aptos"/>
              </a:defRPr>
            </a:pPr>
            <a:r>
              <a:t>CAP182  •  SS3 PART C  •  STADIOEQUITIES</a:t>
            </a:r>
          </a:p>
        </p:txBody>
      </p:sp>
      <p:sp>
        <p:nvSpPr>
          <p:cNvPr id="8" name="TextBox 7"/>
          <p:cNvSpPr txBox="1"/>
          <p:nvPr/>
        </p:nvSpPr>
        <p:spPr>
          <a:xfrm>
            <a:off x="10972800" y="6556248"/>
            <a:ext cx="685800" cy="155448"/>
          </a:xfrm>
          <a:prstGeom prst="rect">
            <a:avLst/>
          </a:prstGeom>
          <a:noFill/>
        </p:spPr>
        <p:txBody>
          <a:bodyPr wrap="square" lIns="22860" rIns="22860" tIns="22860" bIns="22860" anchor="t">
            <a:spAutoFit/>
          </a:bodyPr>
          <a:lstStyle/>
          <a:p>
            <a:pPr algn="r">
              <a:spcAft>
                <a:spcPts val="200"/>
              </a:spcAft>
              <a:defRPr sz="700" b="0" i="0">
                <a:solidFill>
                  <a:srgbClr val="586A78"/>
                </a:solidFill>
                <a:latin typeface="Aptos"/>
              </a:defRPr>
            </a:pPr>
            <a:r>
              <a:t>10 / 12</a:t>
            </a:r>
          </a:p>
        </p:txBody>
      </p:sp>
      <p:pic>
        <p:nvPicPr>
          <p:cNvPr id="9" name="Picture 8" descr="07_feature_importance_top15.png"/>
          <p:cNvPicPr>
            <a:picLocks noChangeAspect="1"/>
          </p:cNvPicPr>
          <p:nvPr/>
        </p:nvPicPr>
        <p:blipFill>
          <a:blip r:embed="rId2"/>
          <a:stretch>
            <a:fillRect/>
          </a:stretch>
        </p:blipFill>
        <p:spPr>
          <a:xfrm>
            <a:off x="502920" y="1353312"/>
            <a:ext cx="6903720" cy="4069080"/>
          </a:xfrm>
          <a:prstGeom prst="rect">
            <a:avLst/>
          </a:prstGeom>
        </p:spPr>
      </p:pic>
      <p:sp>
        <p:nvSpPr>
          <p:cNvPr id="10" name="Rounded Rectangle 9"/>
          <p:cNvSpPr/>
          <p:nvPr/>
        </p:nvSpPr>
        <p:spPr>
          <a:xfrm>
            <a:off x="7607808" y="1536192"/>
            <a:ext cx="3840480" cy="914400"/>
          </a:xfrm>
          <a:prstGeom prst="roundRect">
            <a:avLst/>
          </a:prstGeom>
          <a:solidFill>
            <a:srgbClr val="FBEDEE"/>
          </a:solidFill>
          <a:ln w="10160">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607808" y="1536192"/>
            <a:ext cx="64008" cy="914400"/>
          </a:xfrm>
          <a:prstGeom prst="rect">
            <a:avLst/>
          </a:prstGeom>
          <a:solidFill>
            <a:srgbClr val="B9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0" y="1655064"/>
            <a:ext cx="3529584" cy="274320"/>
          </a:xfrm>
          <a:prstGeom prst="rect">
            <a:avLst/>
          </a:prstGeom>
          <a:noFill/>
        </p:spPr>
        <p:txBody>
          <a:bodyPr wrap="square" lIns="22860" rIns="22860" tIns="22860" bIns="22860" anchor="t">
            <a:spAutoFit/>
          </a:bodyPr>
          <a:lstStyle/>
          <a:p>
            <a:pPr>
              <a:spcAft>
                <a:spcPts val="200"/>
              </a:spcAft>
              <a:defRPr sz="1200" b="1" i="0">
                <a:solidFill>
                  <a:srgbClr val="17324D"/>
                </a:solidFill>
                <a:latin typeface="Aptos"/>
              </a:defRPr>
            </a:pPr>
            <a:r>
              <a:t>KYC recorded</a:t>
            </a:r>
          </a:p>
        </p:txBody>
      </p:sp>
      <p:sp>
        <p:nvSpPr>
          <p:cNvPr id="13" name="TextBox 12"/>
          <p:cNvSpPr txBox="1"/>
          <p:nvPr/>
        </p:nvSpPr>
        <p:spPr>
          <a:xfrm>
            <a:off x="7772400" y="1993391"/>
            <a:ext cx="3529584" cy="384048"/>
          </a:xfrm>
          <a:prstGeom prst="rect">
            <a:avLst/>
          </a:prstGeom>
          <a:noFill/>
        </p:spPr>
        <p:txBody>
          <a:bodyPr wrap="square" lIns="22860" rIns="22860" tIns="22860" bIns="22860" anchor="t">
            <a:spAutoFit/>
          </a:bodyPr>
          <a:lstStyle/>
          <a:p>
            <a:pPr>
              <a:spcAft>
                <a:spcPts val="200"/>
              </a:spcAft>
              <a:defRPr sz="1019" b="0" i="0">
                <a:solidFill>
                  <a:srgbClr val="24313D"/>
                </a:solidFill>
                <a:latin typeface="Aptos"/>
              </a:defRPr>
            </a:pPr>
            <a:r>
              <a:t>Largest ensemble-average importance (~0.215). Verify availability at scoring time.</a:t>
            </a:r>
          </a:p>
        </p:txBody>
      </p:sp>
      <p:sp>
        <p:nvSpPr>
          <p:cNvPr id="14" name="Rounded Rectangle 13"/>
          <p:cNvSpPr/>
          <p:nvPr/>
        </p:nvSpPr>
        <p:spPr>
          <a:xfrm>
            <a:off x="7607808" y="2624328"/>
            <a:ext cx="3840480" cy="914400"/>
          </a:xfrm>
          <a:prstGeom prst="roundRect">
            <a:avLst/>
          </a:prstGeom>
          <a:solidFill>
            <a:srgbClr val="FCF5E6"/>
          </a:solidFill>
          <a:ln w="10160">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07808" y="2624328"/>
            <a:ext cx="64008" cy="914400"/>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0" y="2743200"/>
            <a:ext cx="3529584" cy="274320"/>
          </a:xfrm>
          <a:prstGeom prst="rect">
            <a:avLst/>
          </a:prstGeom>
          <a:noFill/>
        </p:spPr>
        <p:txBody>
          <a:bodyPr wrap="square" lIns="22860" rIns="22860" tIns="22860" bIns="22860" anchor="t">
            <a:spAutoFit/>
          </a:bodyPr>
          <a:lstStyle/>
          <a:p>
            <a:pPr>
              <a:spcAft>
                <a:spcPts val="200"/>
              </a:spcAft>
              <a:defRPr sz="1200" b="1" i="0">
                <a:solidFill>
                  <a:srgbClr val="17324D"/>
                </a:solidFill>
                <a:latin typeface="Aptos"/>
              </a:defRPr>
            </a:pPr>
            <a:r>
              <a:t>KYC verification days</a:t>
            </a:r>
          </a:p>
        </p:txBody>
      </p:sp>
      <p:sp>
        <p:nvSpPr>
          <p:cNvPr id="17" name="TextBox 16"/>
          <p:cNvSpPr txBox="1"/>
          <p:nvPr/>
        </p:nvSpPr>
        <p:spPr>
          <a:xfrm>
            <a:off x="7772400" y="3081528"/>
            <a:ext cx="3529584" cy="384048"/>
          </a:xfrm>
          <a:prstGeom prst="rect">
            <a:avLst/>
          </a:prstGeom>
          <a:noFill/>
        </p:spPr>
        <p:txBody>
          <a:bodyPr wrap="square" lIns="22860" rIns="22860" tIns="22860" bIns="22860" anchor="t">
            <a:spAutoFit/>
          </a:bodyPr>
          <a:lstStyle/>
          <a:p>
            <a:pPr>
              <a:spcAft>
                <a:spcPts val="200"/>
              </a:spcAft>
              <a:defRPr sz="1019" b="0" i="0">
                <a:solidFill>
                  <a:srgbClr val="24313D"/>
                </a:solidFill>
                <a:latin typeface="Aptos"/>
              </a:defRPr>
            </a:pPr>
            <a:r>
              <a:t>Second-ranked (~0.099). Could reflect process completion or a later snapshot.</a:t>
            </a:r>
          </a:p>
        </p:txBody>
      </p:sp>
      <p:sp>
        <p:nvSpPr>
          <p:cNvPr id="18" name="Rounded Rectangle 17"/>
          <p:cNvSpPr/>
          <p:nvPr/>
        </p:nvSpPr>
        <p:spPr>
          <a:xfrm>
            <a:off x="7607808" y="3712463"/>
            <a:ext cx="3840480" cy="914400"/>
          </a:xfrm>
          <a:prstGeom prst="roundRect">
            <a:avLst/>
          </a:prstGeom>
          <a:solidFill>
            <a:srgbClr val="E7F4F1"/>
          </a:solidFill>
          <a:ln w="10160">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607808" y="3712463"/>
            <a:ext cx="64008" cy="91440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831335"/>
            <a:ext cx="3529584" cy="274320"/>
          </a:xfrm>
          <a:prstGeom prst="rect">
            <a:avLst/>
          </a:prstGeom>
          <a:noFill/>
        </p:spPr>
        <p:txBody>
          <a:bodyPr wrap="square" lIns="22860" rIns="22860" tIns="22860" bIns="22860" anchor="t">
            <a:spAutoFit/>
          </a:bodyPr>
          <a:lstStyle/>
          <a:p>
            <a:pPr>
              <a:spcAft>
                <a:spcPts val="200"/>
              </a:spcAft>
              <a:defRPr sz="1200" b="1" i="0">
                <a:solidFill>
                  <a:srgbClr val="17324D"/>
                </a:solidFill>
                <a:latin typeface="Aptos"/>
              </a:defRPr>
            </a:pPr>
            <a:r>
              <a:t>Onboarding completion</a:t>
            </a:r>
          </a:p>
        </p:txBody>
      </p:sp>
      <p:sp>
        <p:nvSpPr>
          <p:cNvPr id="21" name="TextBox 20"/>
          <p:cNvSpPr txBox="1"/>
          <p:nvPr/>
        </p:nvSpPr>
        <p:spPr>
          <a:xfrm>
            <a:off x="7772400" y="4169663"/>
            <a:ext cx="3529584" cy="384048"/>
          </a:xfrm>
          <a:prstGeom prst="rect">
            <a:avLst/>
          </a:prstGeom>
          <a:noFill/>
        </p:spPr>
        <p:txBody>
          <a:bodyPr wrap="square" lIns="22860" rIns="22860" tIns="22860" bIns="22860" anchor="t">
            <a:spAutoFit/>
          </a:bodyPr>
          <a:lstStyle/>
          <a:p>
            <a:pPr>
              <a:spcAft>
                <a:spcPts val="200"/>
              </a:spcAft>
              <a:defRPr sz="1019" b="0" i="0">
                <a:solidFill>
                  <a:srgbClr val="24313D"/>
                </a:solidFill>
                <a:latin typeface="Aptos"/>
              </a:defRPr>
            </a:pPr>
            <a:r>
              <a:t>Completion and elapsed time rank highly; investigate timing and actionability.</a:t>
            </a:r>
          </a:p>
        </p:txBody>
      </p:sp>
      <p:sp>
        <p:nvSpPr>
          <p:cNvPr id="22" name="Rounded Rectangle 21"/>
          <p:cNvSpPr/>
          <p:nvPr/>
        </p:nvSpPr>
        <p:spPr>
          <a:xfrm>
            <a:off x="621792" y="5577840"/>
            <a:ext cx="10927080" cy="411480"/>
          </a:xfrm>
          <a:prstGeom prst="roundRect">
            <a:avLst/>
          </a:prstGeom>
          <a:solidFill>
            <a:srgbClr val="FBEDEE"/>
          </a:solidFill>
          <a:ln w="10160">
            <a:solidFill>
              <a:srgbClr val="F0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5669280"/>
            <a:ext cx="10515600" cy="210312"/>
          </a:xfrm>
          <a:prstGeom prst="rect">
            <a:avLst/>
          </a:prstGeom>
          <a:noFill/>
        </p:spPr>
        <p:txBody>
          <a:bodyPr wrap="square" lIns="22860" rIns="22860" tIns="22860" bIns="22860" anchor="t">
            <a:spAutoFit/>
          </a:bodyPr>
          <a:lstStyle/>
          <a:p>
            <a:pPr algn="ctr">
              <a:spcAft>
                <a:spcPts val="200"/>
              </a:spcAft>
              <a:defRPr sz="1100" b="1" i="0">
                <a:solidFill>
                  <a:srgbClr val="B94B4B"/>
                </a:solidFill>
                <a:latin typeface="Aptos"/>
              </a:defRPr>
            </a:pPr>
            <a:r>
              <a:t>GO / NO-GO GATE: exclude any feature recorded after the prediction cut-off.</a:t>
            </a:r>
          </a:p>
        </p:txBody>
      </p:sp>
      <p:sp>
        <p:nvSpPr>
          <p:cNvPr id="24" name="TextBox 23"/>
          <p:cNvSpPr txBox="1"/>
          <p:nvPr/>
        </p:nvSpPr>
        <p:spPr>
          <a:xfrm>
            <a:off x="566928" y="6272784"/>
            <a:ext cx="10972800" cy="164592"/>
          </a:xfrm>
          <a:prstGeom prst="rect">
            <a:avLst/>
          </a:prstGeom>
          <a:noFill/>
        </p:spPr>
        <p:txBody>
          <a:bodyPr wrap="square" lIns="22860" rIns="22860" tIns="22860" bIns="22860" anchor="t">
            <a:spAutoFit/>
          </a:bodyPr>
          <a:lstStyle/>
          <a:p>
            <a:pPr>
              <a:spcAft>
                <a:spcPts val="200"/>
              </a:spcAft>
              <a:defRPr sz="700" b="0" i="1">
                <a:solidFill>
                  <a:srgbClr val="586A78"/>
                </a:solidFill>
                <a:latin typeface="Aptos"/>
              </a:defRPr>
            </a:pPr>
            <a:r>
              <a:t>Source: results/03_feature_importance.csv and results/figures/07_feature_importance_top15.png. Importance is not causal attribution.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28600"/>
            <a:ext cx="7772400" cy="210312"/>
          </a:xfrm>
          <a:prstGeom prst="rect">
            <a:avLst/>
          </a:prstGeom>
          <a:noFill/>
        </p:spPr>
        <p:txBody>
          <a:bodyPr wrap="square" lIns="22860" rIns="22860" tIns="22860" bIns="22860" anchor="t">
            <a:spAutoFit/>
          </a:bodyPr>
          <a:lstStyle/>
          <a:p>
            <a:pPr>
              <a:spcAft>
                <a:spcPts val="200"/>
              </a:spcAft>
              <a:defRPr sz="900" b="1" i="0">
                <a:solidFill>
                  <a:srgbClr val="2E6F9E"/>
                </a:solidFill>
                <a:latin typeface="Aptos"/>
              </a:defRPr>
            </a:pPr>
            <a:r>
              <a:t>EVALUATION: STABILITY AND LIMITS</a:t>
            </a:r>
          </a:p>
        </p:txBody>
      </p:sp>
      <p:sp>
        <p:nvSpPr>
          <p:cNvPr id="4" name="TextBox 3"/>
          <p:cNvSpPr txBox="1"/>
          <p:nvPr/>
        </p:nvSpPr>
        <p:spPr>
          <a:xfrm>
            <a:off x="530352" y="502920"/>
            <a:ext cx="10972800" cy="438912"/>
          </a:xfrm>
          <a:prstGeom prst="rect">
            <a:avLst/>
          </a:prstGeom>
          <a:noFill/>
        </p:spPr>
        <p:txBody>
          <a:bodyPr wrap="square" lIns="22860" rIns="22860" tIns="22860" bIns="22860" anchor="t">
            <a:spAutoFit/>
          </a:bodyPr>
          <a:lstStyle/>
          <a:p>
            <a:pPr>
              <a:spcAft>
                <a:spcPts val="200"/>
              </a:spcAft>
              <a:defRPr sz="2400" b="1" i="0">
                <a:solidFill>
                  <a:srgbClr val="17324D"/>
                </a:solidFill>
                <a:latin typeface="Aptos"/>
              </a:defRPr>
            </a:pPr>
            <a:r>
              <a:t>Promising results still need a time-aware test</a:t>
            </a:r>
          </a:p>
        </p:txBody>
      </p:sp>
      <p:sp>
        <p:nvSpPr>
          <p:cNvPr id="5" name="TextBox 4"/>
          <p:cNvSpPr txBox="1"/>
          <p:nvPr/>
        </p:nvSpPr>
        <p:spPr>
          <a:xfrm>
            <a:off x="548640" y="987552"/>
            <a:ext cx="10972800" cy="310896"/>
          </a:xfrm>
          <a:prstGeom prst="rect">
            <a:avLst/>
          </a:prstGeom>
          <a:noFill/>
        </p:spPr>
        <p:txBody>
          <a:bodyPr wrap="square" lIns="22860" rIns="22860" tIns="22860" bIns="22860" anchor="t">
            <a:spAutoFit/>
          </a:bodyPr>
          <a:lstStyle/>
          <a:p>
            <a:pPr>
              <a:spcAft>
                <a:spcPts val="200"/>
              </a:spcAft>
              <a:defRPr sz="1100" b="0" i="0">
                <a:solidFill>
                  <a:srgbClr val="586A78"/>
                </a:solidFill>
                <a:latin typeface="Aptos"/>
              </a:defRPr>
            </a:pPr>
            <a:r>
              <a:t>Read the holdout, cross-validation, sensitivity and governance evidence together.</a:t>
            </a:r>
          </a:p>
        </p:txBody>
      </p:sp>
      <p:sp>
        <p:nvSpPr>
          <p:cNvPr id="6" name="Rectangle 5"/>
          <p:cNvSpPr/>
          <p:nvPr/>
        </p:nvSpPr>
        <p:spPr>
          <a:xfrm>
            <a:off x="530352" y="6501384"/>
            <a:ext cx="11128248" cy="10972"/>
          </a:xfrm>
          <a:prstGeom prst="rect">
            <a:avLst/>
          </a:prstGeom>
          <a:solidFill>
            <a:srgbClr val="DCE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56248"/>
            <a:ext cx="8229600" cy="155448"/>
          </a:xfrm>
          <a:prstGeom prst="rect">
            <a:avLst/>
          </a:prstGeom>
          <a:noFill/>
        </p:spPr>
        <p:txBody>
          <a:bodyPr wrap="square" lIns="22860" rIns="22860" tIns="22860" bIns="22860" anchor="t">
            <a:spAutoFit/>
          </a:bodyPr>
          <a:lstStyle/>
          <a:p>
            <a:pPr>
              <a:spcAft>
                <a:spcPts val="200"/>
              </a:spcAft>
              <a:defRPr sz="700" b="0" i="0">
                <a:solidFill>
                  <a:srgbClr val="586A78"/>
                </a:solidFill>
                <a:latin typeface="Aptos"/>
              </a:defRPr>
            </a:pPr>
            <a:r>
              <a:t>CAP182  •  SS3 PART C  •  STADIOEQUITIES</a:t>
            </a:r>
          </a:p>
        </p:txBody>
      </p:sp>
      <p:sp>
        <p:nvSpPr>
          <p:cNvPr id="8" name="TextBox 7"/>
          <p:cNvSpPr txBox="1"/>
          <p:nvPr/>
        </p:nvSpPr>
        <p:spPr>
          <a:xfrm>
            <a:off x="10972800" y="6556248"/>
            <a:ext cx="685800" cy="155448"/>
          </a:xfrm>
          <a:prstGeom prst="rect">
            <a:avLst/>
          </a:prstGeom>
          <a:noFill/>
        </p:spPr>
        <p:txBody>
          <a:bodyPr wrap="square" lIns="22860" rIns="22860" tIns="22860" bIns="22860" anchor="t">
            <a:spAutoFit/>
          </a:bodyPr>
          <a:lstStyle/>
          <a:p>
            <a:pPr algn="r">
              <a:spcAft>
                <a:spcPts val="200"/>
              </a:spcAft>
              <a:defRPr sz="700" b="0" i="0">
                <a:solidFill>
                  <a:srgbClr val="586A78"/>
                </a:solidFill>
                <a:latin typeface="Aptos"/>
              </a:defRPr>
            </a:pPr>
            <a:r>
              <a:t>11 / 12</a:t>
            </a:r>
          </a:p>
        </p:txBody>
      </p:sp>
      <p:pic>
        <p:nvPicPr>
          <p:cNvPr id="9" name="Picture 8" descr="sensitivity.png"/>
          <p:cNvPicPr>
            <a:picLocks noChangeAspect="1"/>
          </p:cNvPicPr>
          <p:nvPr/>
        </p:nvPicPr>
        <p:blipFill>
          <a:blip r:embed="rId2"/>
          <a:stretch>
            <a:fillRect/>
          </a:stretch>
        </p:blipFill>
        <p:spPr>
          <a:xfrm>
            <a:off x="530352" y="1371600"/>
            <a:ext cx="5486400" cy="2468880"/>
          </a:xfrm>
          <a:prstGeom prst="rect">
            <a:avLst/>
          </a:prstGeom>
        </p:spPr>
      </p:pic>
      <p:sp>
        <p:nvSpPr>
          <p:cNvPr id="10" name="TextBox 9"/>
          <p:cNvSpPr txBox="1"/>
          <p:nvPr/>
        </p:nvSpPr>
        <p:spPr>
          <a:xfrm>
            <a:off x="6291072" y="1417320"/>
            <a:ext cx="5120640" cy="256032"/>
          </a:xfrm>
          <a:prstGeom prst="rect">
            <a:avLst/>
          </a:prstGeom>
          <a:noFill/>
        </p:spPr>
        <p:txBody>
          <a:bodyPr wrap="square" lIns="22860" rIns="22860" tIns="22860" bIns="22860" anchor="t">
            <a:spAutoFit/>
          </a:bodyPr>
          <a:lstStyle/>
          <a:p>
            <a:pPr>
              <a:spcAft>
                <a:spcPts val="200"/>
              </a:spcAft>
              <a:defRPr sz="900" b="1" i="0">
                <a:solidFill>
                  <a:srgbClr val="2E6F9E"/>
                </a:solidFill>
                <a:latin typeface="Aptos"/>
              </a:defRPr>
            </a:pPr>
            <a:r>
              <a:t>TRAINING CV • 5 FOLDS × 10 REPEATS</a:t>
            </a:r>
          </a:p>
        </p:txBody>
      </p:sp>
      <p:sp>
        <p:nvSpPr>
          <p:cNvPr id="11" name="TextBox 10"/>
          <p:cNvSpPr txBox="1"/>
          <p:nvPr/>
        </p:nvSpPr>
        <p:spPr>
          <a:xfrm>
            <a:off x="6309360" y="1810512"/>
            <a:ext cx="1645920" cy="210312"/>
          </a:xfrm>
          <a:prstGeom prst="rect">
            <a:avLst/>
          </a:prstGeom>
          <a:noFill/>
        </p:spPr>
        <p:txBody>
          <a:bodyPr wrap="square" lIns="22860" rIns="22860" tIns="22860" bIns="22860" anchor="t">
            <a:spAutoFit/>
          </a:bodyPr>
          <a:lstStyle/>
          <a:p>
            <a:pPr>
              <a:spcAft>
                <a:spcPts val="200"/>
              </a:spcAft>
              <a:defRPr sz="969" b="1" i="0">
                <a:solidFill>
                  <a:srgbClr val="24313D"/>
                </a:solidFill>
                <a:latin typeface="Aptos"/>
              </a:defRPr>
            </a:pPr>
            <a:r>
              <a:t>Logistic Regression</a:t>
            </a:r>
          </a:p>
        </p:txBody>
      </p:sp>
      <p:sp>
        <p:nvSpPr>
          <p:cNvPr id="12" name="TextBox 11"/>
          <p:cNvSpPr txBox="1"/>
          <p:nvPr/>
        </p:nvSpPr>
        <p:spPr>
          <a:xfrm>
            <a:off x="8046720" y="1810512"/>
            <a:ext cx="685800" cy="210312"/>
          </a:xfrm>
          <a:prstGeom prst="rect">
            <a:avLst/>
          </a:prstGeom>
          <a:noFill/>
        </p:spPr>
        <p:txBody>
          <a:bodyPr wrap="square" lIns="22860" rIns="22860" tIns="22860" bIns="22860" anchor="t">
            <a:spAutoFit/>
          </a:bodyPr>
          <a:lstStyle/>
          <a:p>
            <a:pPr>
              <a:spcAft>
                <a:spcPts val="200"/>
              </a:spcAft>
              <a:defRPr sz="1000" b="1" i="0">
                <a:solidFill>
                  <a:srgbClr val="17324D"/>
                </a:solidFill>
                <a:latin typeface="Aptos"/>
              </a:defRPr>
            </a:pPr>
            <a:r>
              <a:t>0.848</a:t>
            </a:r>
          </a:p>
        </p:txBody>
      </p:sp>
      <p:sp>
        <p:nvSpPr>
          <p:cNvPr id="13" name="TextBox 12"/>
          <p:cNvSpPr txBox="1"/>
          <p:nvPr/>
        </p:nvSpPr>
        <p:spPr>
          <a:xfrm>
            <a:off x="8823960" y="1810512"/>
            <a:ext cx="2423160" cy="210312"/>
          </a:xfrm>
          <a:prstGeom prst="rect">
            <a:avLst/>
          </a:prstGeom>
          <a:noFill/>
        </p:spPr>
        <p:txBody>
          <a:bodyPr wrap="square" lIns="22860" rIns="22860" tIns="22860" bIns="22860" anchor="t">
            <a:spAutoFit/>
          </a:bodyPr>
          <a:lstStyle/>
          <a:p>
            <a:pPr>
              <a:spcAft>
                <a:spcPts val="200"/>
              </a:spcAft>
              <a:defRPr sz="880" b="0" i="0">
                <a:solidFill>
                  <a:srgbClr val="586A78"/>
                </a:solidFill>
                <a:latin typeface="Aptos"/>
              </a:defRPr>
            </a:pPr>
            <a:r>
              <a:t>95% CI 0.844–0.853</a:t>
            </a:r>
          </a:p>
        </p:txBody>
      </p:sp>
      <p:sp>
        <p:nvSpPr>
          <p:cNvPr id="14" name="TextBox 13"/>
          <p:cNvSpPr txBox="1"/>
          <p:nvPr/>
        </p:nvSpPr>
        <p:spPr>
          <a:xfrm>
            <a:off x="6309360" y="2240280"/>
            <a:ext cx="1645920" cy="210312"/>
          </a:xfrm>
          <a:prstGeom prst="rect">
            <a:avLst/>
          </a:prstGeom>
          <a:noFill/>
        </p:spPr>
        <p:txBody>
          <a:bodyPr wrap="square" lIns="22860" rIns="22860" tIns="22860" bIns="22860" anchor="t">
            <a:spAutoFit/>
          </a:bodyPr>
          <a:lstStyle/>
          <a:p>
            <a:pPr>
              <a:spcAft>
                <a:spcPts val="200"/>
              </a:spcAft>
              <a:defRPr sz="969" b="1" i="0">
                <a:solidFill>
                  <a:srgbClr val="24313D"/>
                </a:solidFill>
                <a:latin typeface="Aptos"/>
              </a:defRPr>
            </a:pPr>
            <a:r>
              <a:t>Random Forest</a:t>
            </a:r>
          </a:p>
        </p:txBody>
      </p:sp>
      <p:sp>
        <p:nvSpPr>
          <p:cNvPr id="15" name="TextBox 14"/>
          <p:cNvSpPr txBox="1"/>
          <p:nvPr/>
        </p:nvSpPr>
        <p:spPr>
          <a:xfrm>
            <a:off x="8046720" y="2240280"/>
            <a:ext cx="685800" cy="210312"/>
          </a:xfrm>
          <a:prstGeom prst="rect">
            <a:avLst/>
          </a:prstGeom>
          <a:noFill/>
        </p:spPr>
        <p:txBody>
          <a:bodyPr wrap="square" lIns="22860" rIns="22860" tIns="22860" bIns="22860" anchor="t">
            <a:spAutoFit/>
          </a:bodyPr>
          <a:lstStyle/>
          <a:p>
            <a:pPr>
              <a:spcAft>
                <a:spcPts val="200"/>
              </a:spcAft>
              <a:defRPr sz="1000" b="1" i="0">
                <a:solidFill>
                  <a:srgbClr val="17324D"/>
                </a:solidFill>
                <a:latin typeface="Aptos"/>
              </a:defRPr>
            </a:pPr>
            <a:r>
              <a:t>0.852</a:t>
            </a:r>
          </a:p>
        </p:txBody>
      </p:sp>
      <p:sp>
        <p:nvSpPr>
          <p:cNvPr id="16" name="TextBox 15"/>
          <p:cNvSpPr txBox="1"/>
          <p:nvPr/>
        </p:nvSpPr>
        <p:spPr>
          <a:xfrm>
            <a:off x="8823960" y="2240280"/>
            <a:ext cx="2423160" cy="210312"/>
          </a:xfrm>
          <a:prstGeom prst="rect">
            <a:avLst/>
          </a:prstGeom>
          <a:noFill/>
        </p:spPr>
        <p:txBody>
          <a:bodyPr wrap="square" lIns="22860" rIns="22860" tIns="22860" bIns="22860" anchor="t">
            <a:spAutoFit/>
          </a:bodyPr>
          <a:lstStyle/>
          <a:p>
            <a:pPr>
              <a:spcAft>
                <a:spcPts val="200"/>
              </a:spcAft>
              <a:defRPr sz="880" b="0" i="0">
                <a:solidFill>
                  <a:srgbClr val="586A78"/>
                </a:solidFill>
                <a:latin typeface="Aptos"/>
              </a:defRPr>
            </a:pPr>
            <a:r>
              <a:t>95% CI 0.849–0.856</a:t>
            </a:r>
          </a:p>
        </p:txBody>
      </p:sp>
      <p:sp>
        <p:nvSpPr>
          <p:cNvPr id="17" name="TextBox 16"/>
          <p:cNvSpPr txBox="1"/>
          <p:nvPr/>
        </p:nvSpPr>
        <p:spPr>
          <a:xfrm>
            <a:off x="6309360" y="2670048"/>
            <a:ext cx="1645920" cy="210312"/>
          </a:xfrm>
          <a:prstGeom prst="rect">
            <a:avLst/>
          </a:prstGeom>
          <a:noFill/>
        </p:spPr>
        <p:txBody>
          <a:bodyPr wrap="square" lIns="22860" rIns="22860" tIns="22860" bIns="22860" anchor="t">
            <a:spAutoFit/>
          </a:bodyPr>
          <a:lstStyle/>
          <a:p>
            <a:pPr>
              <a:spcAft>
                <a:spcPts val="200"/>
              </a:spcAft>
              <a:defRPr sz="969" b="1" i="0">
                <a:solidFill>
                  <a:srgbClr val="24313D"/>
                </a:solidFill>
                <a:latin typeface="Aptos"/>
              </a:defRPr>
            </a:pPr>
            <a:r>
              <a:t>XGBoost</a:t>
            </a:r>
          </a:p>
        </p:txBody>
      </p:sp>
      <p:sp>
        <p:nvSpPr>
          <p:cNvPr id="18" name="TextBox 17"/>
          <p:cNvSpPr txBox="1"/>
          <p:nvPr/>
        </p:nvSpPr>
        <p:spPr>
          <a:xfrm>
            <a:off x="8046720" y="2670048"/>
            <a:ext cx="685800" cy="210312"/>
          </a:xfrm>
          <a:prstGeom prst="rect">
            <a:avLst/>
          </a:prstGeom>
          <a:noFill/>
        </p:spPr>
        <p:txBody>
          <a:bodyPr wrap="square" lIns="22860" rIns="22860" tIns="22860" bIns="22860" anchor="t">
            <a:spAutoFit/>
          </a:bodyPr>
          <a:lstStyle/>
          <a:p>
            <a:pPr>
              <a:spcAft>
                <a:spcPts val="200"/>
              </a:spcAft>
              <a:defRPr sz="1000" b="1" i="0">
                <a:solidFill>
                  <a:srgbClr val="17324D"/>
                </a:solidFill>
                <a:latin typeface="Aptos"/>
              </a:defRPr>
            </a:pPr>
            <a:r>
              <a:t>0.848</a:t>
            </a:r>
          </a:p>
        </p:txBody>
      </p:sp>
      <p:sp>
        <p:nvSpPr>
          <p:cNvPr id="19" name="TextBox 18"/>
          <p:cNvSpPr txBox="1"/>
          <p:nvPr/>
        </p:nvSpPr>
        <p:spPr>
          <a:xfrm>
            <a:off x="8823960" y="2670048"/>
            <a:ext cx="2423160" cy="210312"/>
          </a:xfrm>
          <a:prstGeom prst="rect">
            <a:avLst/>
          </a:prstGeom>
          <a:noFill/>
        </p:spPr>
        <p:txBody>
          <a:bodyPr wrap="square" lIns="22860" rIns="22860" tIns="22860" bIns="22860" anchor="t">
            <a:spAutoFit/>
          </a:bodyPr>
          <a:lstStyle/>
          <a:p>
            <a:pPr>
              <a:spcAft>
                <a:spcPts val="200"/>
              </a:spcAft>
              <a:defRPr sz="880" b="0" i="0">
                <a:solidFill>
                  <a:srgbClr val="586A78"/>
                </a:solidFill>
                <a:latin typeface="Aptos"/>
              </a:defRPr>
            </a:pPr>
            <a:r>
              <a:t>95% CI 0.844–0.852</a:t>
            </a:r>
          </a:p>
        </p:txBody>
      </p:sp>
      <p:sp>
        <p:nvSpPr>
          <p:cNvPr id="20" name="Rounded Rectangle 19"/>
          <p:cNvSpPr/>
          <p:nvPr/>
        </p:nvSpPr>
        <p:spPr>
          <a:xfrm>
            <a:off x="6281928" y="3246120"/>
            <a:ext cx="5029200" cy="630936"/>
          </a:xfrm>
          <a:prstGeom prst="roundRect">
            <a:avLst/>
          </a:prstGeom>
          <a:solidFill>
            <a:srgbClr val="FCF5E6"/>
          </a:solidFill>
          <a:ln w="10160">
            <a:solidFill>
              <a:srgbClr val="F2E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73952" y="3364992"/>
            <a:ext cx="4663440" cy="393192"/>
          </a:xfrm>
          <a:prstGeom prst="rect">
            <a:avLst/>
          </a:prstGeom>
          <a:noFill/>
        </p:spPr>
        <p:txBody>
          <a:bodyPr wrap="square" lIns="22860" rIns="22860" tIns="22860" bIns="22860" anchor="t">
            <a:spAutoFit/>
          </a:bodyPr>
          <a:lstStyle/>
          <a:p>
            <a:pPr>
              <a:spcAft>
                <a:spcPts val="200"/>
              </a:spcAft>
              <a:defRPr sz="960" b="1" i="0">
                <a:solidFill>
                  <a:srgbClr val="24313D"/>
                </a:solidFill>
                <a:latin typeface="Aptos"/>
              </a:defRPr>
            </a:pPr>
            <a:r>
              <a:t>RF mean F1 is higher by ~0.004; intervals overlap. t-tests and Mann–Whitney tests disagree.</a:t>
            </a:r>
          </a:p>
        </p:txBody>
      </p:sp>
      <p:sp>
        <p:nvSpPr>
          <p:cNvPr id="22" name="Rounded Rectangle 21"/>
          <p:cNvSpPr/>
          <p:nvPr/>
        </p:nvSpPr>
        <p:spPr>
          <a:xfrm>
            <a:off x="612648" y="4160520"/>
            <a:ext cx="3529584" cy="1097280"/>
          </a:xfrm>
          <a:prstGeom prst="roundRect">
            <a:avLst/>
          </a:prstGeom>
          <a:solidFill>
            <a:srgbClr val="FCF5E6"/>
          </a:solidFill>
          <a:ln w="10160">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2648" y="4160520"/>
            <a:ext cx="64008" cy="1097280"/>
          </a:xfrm>
          <a:prstGeom prst="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279392"/>
            <a:ext cx="3218688" cy="274320"/>
          </a:xfrm>
          <a:prstGeom prst="rect">
            <a:avLst/>
          </a:prstGeom>
          <a:noFill/>
        </p:spPr>
        <p:txBody>
          <a:bodyPr wrap="square" lIns="22860" rIns="22860" tIns="22860" bIns="22860" anchor="t">
            <a:spAutoFit/>
          </a:bodyPr>
          <a:lstStyle/>
          <a:p>
            <a:pPr>
              <a:spcAft>
                <a:spcPts val="200"/>
              </a:spcAft>
              <a:defRPr sz="1150" b="1" i="0">
                <a:solidFill>
                  <a:srgbClr val="17324D"/>
                </a:solidFill>
                <a:latin typeface="Aptos"/>
              </a:defRPr>
            </a:pPr>
            <a:r>
              <a:t>Random split</a:t>
            </a:r>
          </a:p>
        </p:txBody>
      </p:sp>
      <p:sp>
        <p:nvSpPr>
          <p:cNvPr id="25" name="TextBox 24"/>
          <p:cNvSpPr txBox="1"/>
          <p:nvPr/>
        </p:nvSpPr>
        <p:spPr>
          <a:xfrm>
            <a:off x="777240" y="4617720"/>
            <a:ext cx="3218688" cy="566928"/>
          </a:xfrm>
          <a:prstGeom prst="rect">
            <a:avLst/>
          </a:prstGeom>
          <a:noFill/>
        </p:spPr>
        <p:txBody>
          <a:bodyPr wrap="square" lIns="22860" rIns="22860" tIns="22860" bIns="22860" anchor="t">
            <a:spAutoFit/>
          </a:bodyPr>
          <a:lstStyle/>
          <a:p>
            <a:pPr>
              <a:spcAft>
                <a:spcPts val="200"/>
              </a:spcAft>
              <a:defRPr sz="1000" b="0" i="0">
                <a:solidFill>
                  <a:srgbClr val="24313D"/>
                </a:solidFill>
                <a:latin typeface="Aptos"/>
              </a:defRPr>
            </a:pPr>
            <a:r>
              <a:t>No chronological holdout; drift remains untested.</a:t>
            </a:r>
          </a:p>
        </p:txBody>
      </p:sp>
      <p:sp>
        <p:nvSpPr>
          <p:cNvPr id="26" name="Rounded Rectangle 25"/>
          <p:cNvSpPr/>
          <p:nvPr/>
        </p:nvSpPr>
        <p:spPr>
          <a:xfrm>
            <a:off x="4343400" y="4160520"/>
            <a:ext cx="3529584" cy="1097280"/>
          </a:xfrm>
          <a:prstGeom prst="roundRect">
            <a:avLst/>
          </a:prstGeom>
          <a:solidFill>
            <a:srgbClr val="FBEDEE"/>
          </a:solidFill>
          <a:ln w="10160">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43400" y="4160520"/>
            <a:ext cx="64008" cy="1097280"/>
          </a:xfrm>
          <a:prstGeom prst="rect">
            <a:avLst/>
          </a:prstGeom>
          <a:solidFill>
            <a:srgbClr val="B9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07992" y="4279392"/>
            <a:ext cx="3218688" cy="274320"/>
          </a:xfrm>
          <a:prstGeom prst="rect">
            <a:avLst/>
          </a:prstGeom>
          <a:noFill/>
        </p:spPr>
        <p:txBody>
          <a:bodyPr wrap="square" lIns="22860" rIns="22860" tIns="22860" bIns="22860" anchor="t">
            <a:spAutoFit/>
          </a:bodyPr>
          <a:lstStyle/>
          <a:p>
            <a:pPr>
              <a:spcAft>
                <a:spcPts val="200"/>
              </a:spcAft>
              <a:defRPr sz="1150" b="1" i="0">
                <a:solidFill>
                  <a:srgbClr val="17324D"/>
                </a:solidFill>
                <a:latin typeface="Aptos"/>
              </a:defRPr>
            </a:pPr>
            <a:r>
              <a:t>Train/test gap</a:t>
            </a:r>
          </a:p>
        </p:txBody>
      </p:sp>
      <p:sp>
        <p:nvSpPr>
          <p:cNvPr id="29" name="TextBox 28"/>
          <p:cNvSpPr txBox="1"/>
          <p:nvPr/>
        </p:nvSpPr>
        <p:spPr>
          <a:xfrm>
            <a:off x="4507992" y="4617720"/>
            <a:ext cx="3218688" cy="566928"/>
          </a:xfrm>
          <a:prstGeom prst="rect">
            <a:avLst/>
          </a:prstGeom>
          <a:noFill/>
        </p:spPr>
        <p:txBody>
          <a:bodyPr wrap="square" lIns="22860" rIns="22860" tIns="22860" bIns="22860" anchor="t">
            <a:spAutoFit/>
          </a:bodyPr>
          <a:lstStyle/>
          <a:p>
            <a:pPr>
              <a:spcAft>
                <a:spcPts val="200"/>
              </a:spcAft>
              <a:defRPr sz="1000" b="0" i="0">
                <a:solidFill>
                  <a:srgbClr val="24313D"/>
                </a:solidFill>
                <a:latin typeface="Aptos"/>
              </a:defRPr>
            </a:pPr>
            <a:r>
              <a:t>Near-perfect tree training scores vs ~0.84–0.86 test F1 suggest overfit risk.</a:t>
            </a:r>
          </a:p>
        </p:txBody>
      </p:sp>
      <p:sp>
        <p:nvSpPr>
          <p:cNvPr id="30" name="Rounded Rectangle 29"/>
          <p:cNvSpPr/>
          <p:nvPr/>
        </p:nvSpPr>
        <p:spPr>
          <a:xfrm>
            <a:off x="8065008" y="4160520"/>
            <a:ext cx="3529584" cy="1097280"/>
          </a:xfrm>
          <a:prstGeom prst="roundRect">
            <a:avLst/>
          </a:prstGeom>
          <a:solidFill>
            <a:srgbClr val="F2F6F8"/>
          </a:solidFill>
          <a:ln w="10160">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65008" y="4160520"/>
            <a:ext cx="64008" cy="1097280"/>
          </a:xfrm>
          <a:prstGeom prst="rect">
            <a:avLst/>
          </a:prstGeom>
          <a:solidFill>
            <a:srgbClr val="2E6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0" y="4279392"/>
            <a:ext cx="3218688" cy="274320"/>
          </a:xfrm>
          <a:prstGeom prst="rect">
            <a:avLst/>
          </a:prstGeom>
          <a:noFill/>
        </p:spPr>
        <p:txBody>
          <a:bodyPr wrap="square" lIns="22860" rIns="22860" tIns="22860" bIns="22860" anchor="t">
            <a:spAutoFit/>
          </a:bodyPr>
          <a:lstStyle/>
          <a:p>
            <a:pPr>
              <a:spcAft>
                <a:spcPts val="200"/>
              </a:spcAft>
              <a:defRPr sz="1150" b="1" i="0">
                <a:solidFill>
                  <a:srgbClr val="17324D"/>
                </a:solidFill>
                <a:latin typeface="Aptos"/>
              </a:defRPr>
            </a:pPr>
            <a:r>
              <a:t>Snapshot sensitivity</a:t>
            </a:r>
          </a:p>
        </p:txBody>
      </p:sp>
      <p:sp>
        <p:nvSpPr>
          <p:cNvPr id="33" name="TextBox 32"/>
          <p:cNvSpPr txBox="1"/>
          <p:nvPr/>
        </p:nvSpPr>
        <p:spPr>
          <a:xfrm>
            <a:off x="8229600" y="4617720"/>
            <a:ext cx="3218688" cy="566928"/>
          </a:xfrm>
          <a:prstGeom prst="rect">
            <a:avLst/>
          </a:prstGeom>
          <a:noFill/>
        </p:spPr>
        <p:txBody>
          <a:bodyPr wrap="square" lIns="22860" rIns="22860" tIns="22860" bIns="22860" anchor="t">
            <a:spAutoFit/>
          </a:bodyPr>
          <a:lstStyle/>
          <a:p>
            <a:pPr>
              <a:spcAft>
                <a:spcPts val="200"/>
              </a:spcAft>
              <a:defRPr sz="1000" b="0" i="0">
                <a:solidFill>
                  <a:srgbClr val="24313D"/>
                </a:solidFill>
                <a:latin typeface="Aptos"/>
              </a:defRPr>
            </a:pPr>
            <a:r>
              <a:t>Similar scores do not rule out leakage; audit event timestamps.</a:t>
            </a:r>
          </a:p>
        </p:txBody>
      </p:sp>
      <p:sp>
        <p:nvSpPr>
          <p:cNvPr id="34" name="TextBox 33"/>
          <p:cNvSpPr txBox="1"/>
          <p:nvPr/>
        </p:nvSpPr>
        <p:spPr>
          <a:xfrm>
            <a:off x="566928" y="6272784"/>
            <a:ext cx="10972800" cy="164592"/>
          </a:xfrm>
          <a:prstGeom prst="rect">
            <a:avLst/>
          </a:prstGeom>
          <a:noFill/>
        </p:spPr>
        <p:txBody>
          <a:bodyPr wrap="square" lIns="22860" rIns="22860" tIns="22860" bIns="22860" anchor="t">
            <a:spAutoFit/>
          </a:bodyPr>
          <a:lstStyle/>
          <a:p>
            <a:pPr>
              <a:spcAft>
                <a:spcPts val="200"/>
              </a:spcAft>
              <a:defRPr sz="700" b="0" i="1">
                <a:solidFill>
                  <a:srgbClr val="586A78"/>
                </a:solidFill>
                <a:latin typeface="Aptos"/>
              </a:defRPr>
            </a:pPr>
            <a:r>
              <a:t>Source: results/05_cv_confidence_intervals.csv, 05_paired_ttests.csv, 05_mann_whitney_cv.csv, 04_sensitivity_analysis.csv.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28600"/>
            <a:ext cx="7772400" cy="210312"/>
          </a:xfrm>
          <a:prstGeom prst="rect">
            <a:avLst/>
          </a:prstGeom>
          <a:noFill/>
        </p:spPr>
        <p:txBody>
          <a:bodyPr wrap="square" lIns="22860" rIns="22860" tIns="22860" bIns="22860" anchor="t">
            <a:spAutoFit/>
          </a:bodyPr>
          <a:lstStyle/>
          <a:p>
            <a:pPr>
              <a:spcAft>
                <a:spcPts val="200"/>
              </a:spcAft>
              <a:defRPr sz="900" b="1" i="0">
                <a:solidFill>
                  <a:srgbClr val="2E6F9E"/>
                </a:solidFill>
                <a:latin typeface="Aptos"/>
              </a:defRPr>
            </a:pPr>
            <a:r>
              <a:t>RECOMMENDATION &amp; CONCLUSION</a:t>
            </a:r>
          </a:p>
        </p:txBody>
      </p:sp>
      <p:sp>
        <p:nvSpPr>
          <p:cNvPr id="4" name="TextBox 3"/>
          <p:cNvSpPr txBox="1"/>
          <p:nvPr/>
        </p:nvSpPr>
        <p:spPr>
          <a:xfrm>
            <a:off x="530352" y="502920"/>
            <a:ext cx="10972800" cy="438912"/>
          </a:xfrm>
          <a:prstGeom prst="rect">
            <a:avLst/>
          </a:prstGeom>
          <a:noFill/>
        </p:spPr>
        <p:txBody>
          <a:bodyPr wrap="square" lIns="22860" rIns="22860" tIns="22860" bIns="22860" anchor="t">
            <a:spAutoFit/>
          </a:bodyPr>
          <a:lstStyle/>
          <a:p>
            <a:pPr>
              <a:spcAft>
                <a:spcPts val="200"/>
              </a:spcAft>
              <a:defRPr sz="2400" b="1" i="0">
                <a:solidFill>
                  <a:srgbClr val="17324D"/>
                </a:solidFill>
                <a:latin typeface="Aptos"/>
              </a:defRPr>
            </a:pPr>
            <a:r>
              <a:t>Controlled learning—not automatic decisions</a:t>
            </a:r>
          </a:p>
        </p:txBody>
      </p:sp>
      <p:sp>
        <p:nvSpPr>
          <p:cNvPr id="5" name="TextBox 4"/>
          <p:cNvSpPr txBox="1"/>
          <p:nvPr/>
        </p:nvSpPr>
        <p:spPr>
          <a:xfrm>
            <a:off x="548640" y="987552"/>
            <a:ext cx="10972800" cy="310896"/>
          </a:xfrm>
          <a:prstGeom prst="rect">
            <a:avLst/>
          </a:prstGeom>
          <a:noFill/>
        </p:spPr>
        <p:txBody>
          <a:bodyPr wrap="square" lIns="22860" rIns="22860" tIns="22860" bIns="22860" anchor="t">
            <a:spAutoFit/>
          </a:bodyPr>
          <a:lstStyle/>
          <a:p>
            <a:pPr>
              <a:spcAft>
                <a:spcPts val="200"/>
              </a:spcAft>
              <a:defRPr sz="1100" b="0" i="0">
                <a:solidFill>
                  <a:srgbClr val="586A78"/>
                </a:solidFill>
                <a:latin typeface="Aptos"/>
              </a:defRPr>
            </a:pPr>
            <a:r>
              <a:t>Conclusion: the model can rank risk; a pilot must show whether support changes outcomes.</a:t>
            </a:r>
          </a:p>
        </p:txBody>
      </p:sp>
      <p:sp>
        <p:nvSpPr>
          <p:cNvPr id="6" name="Rectangle 5"/>
          <p:cNvSpPr/>
          <p:nvPr/>
        </p:nvSpPr>
        <p:spPr>
          <a:xfrm>
            <a:off x="530352" y="6501384"/>
            <a:ext cx="11128248" cy="10972"/>
          </a:xfrm>
          <a:prstGeom prst="rect">
            <a:avLst/>
          </a:prstGeom>
          <a:solidFill>
            <a:srgbClr val="DCE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56248"/>
            <a:ext cx="8229600" cy="155448"/>
          </a:xfrm>
          <a:prstGeom prst="rect">
            <a:avLst/>
          </a:prstGeom>
          <a:noFill/>
        </p:spPr>
        <p:txBody>
          <a:bodyPr wrap="square" lIns="22860" rIns="22860" tIns="22860" bIns="22860" anchor="t">
            <a:spAutoFit/>
          </a:bodyPr>
          <a:lstStyle/>
          <a:p>
            <a:pPr>
              <a:spcAft>
                <a:spcPts val="200"/>
              </a:spcAft>
              <a:defRPr sz="700" b="0" i="0">
                <a:solidFill>
                  <a:srgbClr val="586A78"/>
                </a:solidFill>
                <a:latin typeface="Aptos"/>
              </a:defRPr>
            </a:pPr>
            <a:r>
              <a:t>CAP182  •  SS3 PART C  •  STADIOEQUITIES</a:t>
            </a:r>
          </a:p>
        </p:txBody>
      </p:sp>
      <p:sp>
        <p:nvSpPr>
          <p:cNvPr id="8" name="TextBox 7"/>
          <p:cNvSpPr txBox="1"/>
          <p:nvPr/>
        </p:nvSpPr>
        <p:spPr>
          <a:xfrm>
            <a:off x="10972800" y="6556248"/>
            <a:ext cx="685800" cy="155448"/>
          </a:xfrm>
          <a:prstGeom prst="rect">
            <a:avLst/>
          </a:prstGeom>
          <a:noFill/>
        </p:spPr>
        <p:txBody>
          <a:bodyPr wrap="square" lIns="22860" rIns="22860" tIns="22860" bIns="22860" anchor="t">
            <a:spAutoFit/>
          </a:bodyPr>
          <a:lstStyle/>
          <a:p>
            <a:pPr algn="r">
              <a:spcAft>
                <a:spcPts val="200"/>
              </a:spcAft>
              <a:defRPr sz="700" b="0" i="0">
                <a:solidFill>
                  <a:srgbClr val="586A78"/>
                </a:solidFill>
                <a:latin typeface="Aptos"/>
              </a:defRPr>
            </a:pPr>
            <a:r>
              <a:t>12 / 12</a:t>
            </a:r>
          </a:p>
        </p:txBody>
      </p:sp>
      <p:sp>
        <p:nvSpPr>
          <p:cNvPr id="9" name="Rounded Rectangle 8"/>
          <p:cNvSpPr/>
          <p:nvPr/>
        </p:nvSpPr>
        <p:spPr>
          <a:xfrm>
            <a:off x="621792" y="1399032"/>
            <a:ext cx="2468880" cy="457200"/>
          </a:xfrm>
          <a:prstGeom prst="roundRect">
            <a:avLst/>
          </a:prstGeom>
          <a:solidFill>
            <a:srgbClr val="2E6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508760"/>
            <a:ext cx="2194560" cy="219456"/>
          </a:xfrm>
          <a:prstGeom prst="rect">
            <a:avLst/>
          </a:prstGeom>
          <a:noFill/>
        </p:spPr>
        <p:txBody>
          <a:bodyPr wrap="square" lIns="22860" rIns="22860" tIns="22860" bIns="22860" anchor="t">
            <a:spAutoFit/>
          </a:bodyPr>
          <a:lstStyle/>
          <a:p>
            <a:pPr>
              <a:spcAft>
                <a:spcPts val="200"/>
              </a:spcAft>
              <a:defRPr sz="1100" b="1" i="0">
                <a:solidFill>
                  <a:srgbClr val="FFFFFF"/>
                </a:solidFill>
                <a:latin typeface="Aptos"/>
              </a:defRPr>
            </a:pPr>
            <a:r>
              <a:t>01  Validate timing</a:t>
            </a:r>
          </a:p>
        </p:txBody>
      </p:sp>
      <p:sp>
        <p:nvSpPr>
          <p:cNvPr id="11" name="TextBox 10"/>
          <p:cNvSpPr txBox="1"/>
          <p:nvPr/>
        </p:nvSpPr>
        <p:spPr>
          <a:xfrm>
            <a:off x="3310128" y="1472184"/>
            <a:ext cx="7863840" cy="320040"/>
          </a:xfrm>
          <a:prstGeom prst="rect">
            <a:avLst/>
          </a:prstGeom>
          <a:noFill/>
        </p:spPr>
        <p:txBody>
          <a:bodyPr wrap="square" lIns="22860" rIns="22860" tIns="22860" bIns="22860" anchor="t">
            <a:spAutoFit/>
          </a:bodyPr>
          <a:lstStyle/>
          <a:p>
            <a:pPr>
              <a:spcAft>
                <a:spcPts val="200"/>
              </a:spcAft>
              <a:defRPr sz="1150" b="0" i="0">
                <a:solidFill>
                  <a:srgbClr val="24313D"/>
                </a:solidFill>
                <a:latin typeface="Aptos"/>
              </a:defRPr>
            </a:pPr>
            <a:r>
              <a:t>Lock score moment; audit KYC, deposit and engagement timestamps.</a:t>
            </a:r>
          </a:p>
        </p:txBody>
      </p:sp>
      <p:cxnSp>
        <p:nvCxnSpPr>
          <p:cNvPr id="12" name="Connector 11"/>
          <p:cNvCxnSpPr/>
          <p:nvPr/>
        </p:nvCxnSpPr>
        <p:spPr>
          <a:xfrm>
            <a:off x="1856231" y="1865376"/>
            <a:ext cx="0" cy="219456"/>
          </a:xfrm>
          <a:prstGeom prst="line">
            <a:avLst/>
          </a:prstGeom>
          <a:ln w="25400">
            <a:solidFill>
              <a:srgbClr val="DCE7ED"/>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21792" y="2112264"/>
            <a:ext cx="2468880" cy="457200"/>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2221992"/>
            <a:ext cx="2194560" cy="219456"/>
          </a:xfrm>
          <a:prstGeom prst="rect">
            <a:avLst/>
          </a:prstGeom>
          <a:noFill/>
        </p:spPr>
        <p:txBody>
          <a:bodyPr wrap="square" lIns="22860" rIns="22860" tIns="22860" bIns="22860" anchor="t">
            <a:spAutoFit/>
          </a:bodyPr>
          <a:lstStyle/>
          <a:p>
            <a:pPr>
              <a:spcAft>
                <a:spcPts val="200"/>
              </a:spcAft>
              <a:defRPr sz="1100" b="1" i="0">
                <a:solidFill>
                  <a:srgbClr val="FFFFFF"/>
                </a:solidFill>
                <a:latin typeface="Aptos"/>
              </a:defRPr>
            </a:pPr>
            <a:r>
              <a:t>02  Validate transport</a:t>
            </a:r>
          </a:p>
        </p:txBody>
      </p:sp>
      <p:sp>
        <p:nvSpPr>
          <p:cNvPr id="15" name="TextBox 14"/>
          <p:cNvSpPr txBox="1"/>
          <p:nvPr/>
        </p:nvSpPr>
        <p:spPr>
          <a:xfrm>
            <a:off x="3310128" y="2185416"/>
            <a:ext cx="7863840" cy="320040"/>
          </a:xfrm>
          <a:prstGeom prst="rect">
            <a:avLst/>
          </a:prstGeom>
          <a:noFill/>
        </p:spPr>
        <p:txBody>
          <a:bodyPr wrap="square" lIns="22860" rIns="22860" tIns="22860" bIns="22860" anchor="t">
            <a:spAutoFit/>
          </a:bodyPr>
          <a:lstStyle/>
          <a:p>
            <a:pPr>
              <a:spcAft>
                <a:spcPts val="200"/>
              </a:spcAft>
              <a:defRPr sz="1150" b="0" i="0">
                <a:solidFill>
                  <a:srgbClr val="24313D"/>
                </a:solidFill>
                <a:latin typeface="Aptos"/>
              </a:defRPr>
            </a:pPr>
            <a:r>
              <a:t>Test later cohorts and permitted segments; monitor prevalence and calibration.</a:t>
            </a:r>
          </a:p>
        </p:txBody>
      </p:sp>
      <p:cxnSp>
        <p:nvCxnSpPr>
          <p:cNvPr id="16" name="Connector 15"/>
          <p:cNvCxnSpPr/>
          <p:nvPr/>
        </p:nvCxnSpPr>
        <p:spPr>
          <a:xfrm>
            <a:off x="1856231" y="2578608"/>
            <a:ext cx="0" cy="219456"/>
          </a:xfrm>
          <a:prstGeom prst="line">
            <a:avLst/>
          </a:prstGeom>
          <a:ln w="25400">
            <a:solidFill>
              <a:srgbClr val="DCE7ED"/>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21792" y="2825496"/>
            <a:ext cx="2468880" cy="457200"/>
          </a:xfrm>
          <a:prstGeom prst="roundRect">
            <a:avLst/>
          </a:prstGeom>
          <a:solidFill>
            <a:srgbClr val="E9B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2935224"/>
            <a:ext cx="2194560" cy="219456"/>
          </a:xfrm>
          <a:prstGeom prst="rect">
            <a:avLst/>
          </a:prstGeom>
          <a:noFill/>
        </p:spPr>
        <p:txBody>
          <a:bodyPr wrap="square" lIns="22860" rIns="22860" tIns="22860" bIns="22860" anchor="t">
            <a:spAutoFit/>
          </a:bodyPr>
          <a:lstStyle/>
          <a:p>
            <a:pPr>
              <a:spcAft>
                <a:spcPts val="200"/>
              </a:spcAft>
              <a:defRPr sz="1100" b="1" i="0">
                <a:solidFill>
                  <a:srgbClr val="FFFFFF"/>
                </a:solidFill>
                <a:latin typeface="Aptos"/>
              </a:defRPr>
            </a:pPr>
            <a:r>
              <a:t>03  Pilot support</a:t>
            </a:r>
          </a:p>
        </p:txBody>
      </p:sp>
      <p:sp>
        <p:nvSpPr>
          <p:cNvPr id="19" name="TextBox 18"/>
          <p:cNvSpPr txBox="1"/>
          <p:nvPr/>
        </p:nvSpPr>
        <p:spPr>
          <a:xfrm>
            <a:off x="3310128" y="2898648"/>
            <a:ext cx="7863840" cy="320040"/>
          </a:xfrm>
          <a:prstGeom prst="rect">
            <a:avLst/>
          </a:prstGeom>
          <a:noFill/>
        </p:spPr>
        <p:txBody>
          <a:bodyPr wrap="square" lIns="22860" rIns="22860" tIns="22860" bIns="22860" anchor="t">
            <a:spAutoFit/>
          </a:bodyPr>
          <a:lstStyle/>
          <a:p>
            <a:pPr>
              <a:spcAft>
                <a:spcPts val="200"/>
              </a:spcAft>
              <a:defRPr sz="1150" b="0" i="0">
                <a:solidFill>
                  <a:srgbClr val="24313D"/>
                </a:solidFill>
                <a:latin typeface="Aptos"/>
              </a:defRPr>
            </a:pPr>
            <a:r>
              <a:t>Randomise outreach vs. holdout; measure 90-day uplift and cost.</a:t>
            </a:r>
          </a:p>
        </p:txBody>
      </p:sp>
      <p:cxnSp>
        <p:nvCxnSpPr>
          <p:cNvPr id="20" name="Connector 19"/>
          <p:cNvCxnSpPr/>
          <p:nvPr/>
        </p:nvCxnSpPr>
        <p:spPr>
          <a:xfrm>
            <a:off x="1856231" y="3291839"/>
            <a:ext cx="0" cy="219457"/>
          </a:xfrm>
          <a:prstGeom prst="line">
            <a:avLst/>
          </a:prstGeom>
          <a:ln w="25400">
            <a:solidFill>
              <a:srgbClr val="DCE7ED"/>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21792" y="3538728"/>
            <a:ext cx="2468880" cy="457200"/>
          </a:xfrm>
          <a:prstGeom prst="round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3648456"/>
            <a:ext cx="2194560" cy="219456"/>
          </a:xfrm>
          <a:prstGeom prst="rect">
            <a:avLst/>
          </a:prstGeom>
          <a:noFill/>
        </p:spPr>
        <p:txBody>
          <a:bodyPr wrap="square" lIns="22860" rIns="22860" tIns="22860" bIns="22860" anchor="t">
            <a:spAutoFit/>
          </a:bodyPr>
          <a:lstStyle/>
          <a:p>
            <a:pPr>
              <a:spcAft>
                <a:spcPts val="200"/>
              </a:spcAft>
              <a:defRPr sz="1100" b="1" i="0">
                <a:solidFill>
                  <a:srgbClr val="FFFFFF"/>
                </a:solidFill>
                <a:latin typeface="Aptos"/>
              </a:defRPr>
            </a:pPr>
            <a:r>
              <a:t>04  Govern</a:t>
            </a:r>
          </a:p>
        </p:txBody>
      </p:sp>
      <p:sp>
        <p:nvSpPr>
          <p:cNvPr id="23" name="TextBox 22"/>
          <p:cNvSpPr txBox="1"/>
          <p:nvPr/>
        </p:nvSpPr>
        <p:spPr>
          <a:xfrm>
            <a:off x="3310128" y="3611880"/>
            <a:ext cx="7863840" cy="320040"/>
          </a:xfrm>
          <a:prstGeom prst="rect">
            <a:avLst/>
          </a:prstGeom>
          <a:noFill/>
        </p:spPr>
        <p:txBody>
          <a:bodyPr wrap="square" lIns="22860" rIns="22860" tIns="22860" bIns="22860" anchor="t">
            <a:spAutoFit/>
          </a:bodyPr>
          <a:lstStyle/>
          <a:p>
            <a:pPr>
              <a:spcAft>
                <a:spcPts val="200"/>
              </a:spcAft>
              <a:defRPr sz="1150" b="0" i="0">
                <a:solidFill>
                  <a:srgbClr val="24313D"/>
                </a:solidFill>
                <a:latin typeface="Aptos"/>
              </a:defRPr>
            </a:pPr>
            <a:r>
              <a:t>POPIA review, minimisation, access, fairness and human oversight.</a:t>
            </a:r>
          </a:p>
        </p:txBody>
      </p:sp>
      <p:cxnSp>
        <p:nvCxnSpPr>
          <p:cNvPr id="24" name="Connector 23"/>
          <p:cNvCxnSpPr/>
          <p:nvPr/>
        </p:nvCxnSpPr>
        <p:spPr>
          <a:xfrm>
            <a:off x="1856231" y="4005072"/>
            <a:ext cx="0" cy="219456"/>
          </a:xfrm>
          <a:prstGeom prst="line">
            <a:avLst/>
          </a:prstGeom>
          <a:ln w="25400">
            <a:solidFill>
              <a:srgbClr val="DCE7ED"/>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21792" y="4251960"/>
            <a:ext cx="2468880" cy="457200"/>
          </a:xfrm>
          <a:prstGeom prst="roundRect">
            <a:avLst/>
          </a:prstGeom>
          <a:solidFill>
            <a:srgbClr val="2E6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361688"/>
            <a:ext cx="2194560" cy="219456"/>
          </a:xfrm>
          <a:prstGeom prst="rect">
            <a:avLst/>
          </a:prstGeom>
          <a:noFill/>
        </p:spPr>
        <p:txBody>
          <a:bodyPr wrap="square" lIns="22860" rIns="22860" tIns="22860" bIns="22860" anchor="t">
            <a:spAutoFit/>
          </a:bodyPr>
          <a:lstStyle/>
          <a:p>
            <a:pPr>
              <a:spcAft>
                <a:spcPts val="200"/>
              </a:spcAft>
              <a:defRPr sz="1100" b="1" i="0">
                <a:solidFill>
                  <a:srgbClr val="FFFFFF"/>
                </a:solidFill>
                <a:latin typeface="Aptos"/>
              </a:defRPr>
            </a:pPr>
            <a:r>
              <a:t>05  Monitor</a:t>
            </a:r>
          </a:p>
        </p:txBody>
      </p:sp>
      <p:sp>
        <p:nvSpPr>
          <p:cNvPr id="27" name="TextBox 26"/>
          <p:cNvSpPr txBox="1"/>
          <p:nvPr/>
        </p:nvSpPr>
        <p:spPr>
          <a:xfrm>
            <a:off x="3310128" y="4325112"/>
            <a:ext cx="7863840" cy="320040"/>
          </a:xfrm>
          <a:prstGeom prst="rect">
            <a:avLst/>
          </a:prstGeom>
          <a:noFill/>
        </p:spPr>
        <p:txBody>
          <a:bodyPr wrap="square" lIns="22860" rIns="22860" tIns="22860" bIns="22860" anchor="t">
            <a:spAutoFit/>
          </a:bodyPr>
          <a:lstStyle/>
          <a:p>
            <a:pPr>
              <a:spcAft>
                <a:spcPts val="200"/>
              </a:spcAft>
              <a:defRPr sz="1150" b="0" i="0">
                <a:solidFill>
                  <a:srgbClr val="24313D"/>
                </a:solidFill>
                <a:latin typeface="Aptos"/>
              </a:defRPr>
            </a:pPr>
            <a:r>
              <a:t>Drift, missingness and precision at capacity; set rollback/retraining triggers.</a:t>
            </a:r>
          </a:p>
        </p:txBody>
      </p:sp>
      <p:sp>
        <p:nvSpPr>
          <p:cNvPr id="28" name="Rounded Rectangle 27"/>
          <p:cNvSpPr/>
          <p:nvPr/>
        </p:nvSpPr>
        <p:spPr>
          <a:xfrm>
            <a:off x="640080" y="5120640"/>
            <a:ext cx="10899648" cy="594360"/>
          </a:xfrm>
          <a:prstGeom prst="roundRect">
            <a:avLst/>
          </a:prstGeom>
          <a:solidFill>
            <a:srgbClr val="E7F4F1"/>
          </a:solidFill>
          <a:ln w="10160">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7824" y="5266944"/>
            <a:ext cx="10424160" cy="320040"/>
          </a:xfrm>
          <a:prstGeom prst="rect">
            <a:avLst/>
          </a:prstGeom>
          <a:noFill/>
        </p:spPr>
        <p:txBody>
          <a:bodyPr wrap="square" lIns="22860" rIns="22860" tIns="22860" bIns="22860" anchor="t">
            <a:spAutoFit/>
          </a:bodyPr>
          <a:lstStyle/>
          <a:p>
            <a:pPr algn="ctr">
              <a:spcAft>
                <a:spcPts val="200"/>
              </a:spcAft>
              <a:defRPr sz="1200" b="1" i="0">
                <a:solidFill>
                  <a:srgbClr val="2F855A"/>
                </a:solidFill>
                <a:latin typeface="Aptos"/>
              </a:defRPr>
            </a:pPr>
            <a:r>
              <a:t>DECISION REQUEST: approve a privacy-reviewed, time-valid randomised pilot—not full automated deployment.</a:t>
            </a:r>
          </a:p>
        </p:txBody>
      </p:sp>
      <p:sp>
        <p:nvSpPr>
          <p:cNvPr id="30" name="TextBox 29"/>
          <p:cNvSpPr txBox="1"/>
          <p:nvPr/>
        </p:nvSpPr>
        <p:spPr>
          <a:xfrm>
            <a:off x="566928" y="6272784"/>
            <a:ext cx="10972800" cy="164592"/>
          </a:xfrm>
          <a:prstGeom prst="rect">
            <a:avLst/>
          </a:prstGeom>
          <a:noFill/>
        </p:spPr>
        <p:txBody>
          <a:bodyPr wrap="square" lIns="22860" rIns="22860" tIns="22860" bIns="22860" anchor="t">
            <a:spAutoFit/>
          </a:bodyPr>
          <a:lstStyle/>
          <a:p>
            <a:pPr>
              <a:spcAft>
                <a:spcPts val="200"/>
              </a:spcAft>
              <a:defRPr sz="700" b="0" i="1">
                <a:solidFill>
                  <a:srgbClr val="586A78"/>
                </a:solidFill>
                <a:latin typeface="Aptos"/>
              </a:defRPr>
            </a:pPr>
            <a:r>
              <a:t>Client outcome: timely, relevant assistance. Technical outcome: prospective evidence, calibrated decisions and measured governance.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CAP182 SS3 Part C - From Registration to First Deposit</dc:title>
  <dc:subject>SS1 problem framing, SS2 literature and model selection, SS3 implementation and results</dc:subject>
  <dc:creator>Bernette Mogwera Lesejane</dc:creator>
  <cp:keywords>CAP182, STADIOEquities, lifecycle, account activation</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