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594360"/>
            <a:ext cx="118872" cy="53949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658368"/>
            <a:ext cx="987552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A8D8D1"/>
                </a:solidFill>
                <a:latin typeface="Aptos"/>
              </a:defRPr>
            </a:pPr>
            <a:r>
              <a:t>CAP182  •  CAPSTONE PROJECT  •  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9966960" cy="1325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From registration</a:t>
            </a:r>
          </a:p>
          <a:p>
            <a:pPr>
              <a:spcAft>
                <a:spcPts val="2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to first deposit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880360"/>
            <a:ext cx="9601200" cy="6583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700" b="0" i="0">
                <a:solidFill>
                  <a:srgbClr val="D9E4EC"/>
                </a:solidFill>
                <a:latin typeface="Aptos"/>
              </a:defRPr>
            </a:pPr>
            <a:r>
              <a:t>A data-science lifecycle story: SS1 problem framing → SS2 model selection → SS3 activation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822191"/>
            <a:ext cx="9966960" cy="18288"/>
          </a:xfrm>
          <a:prstGeom prst="rect">
            <a:avLst/>
          </a:prstGeom>
          <a:solidFill>
            <a:srgbClr val="476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133087"/>
            <a:ext cx="2743200" cy="2468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1" i="0">
                <a:solidFill>
                  <a:srgbClr val="A8D8D1"/>
                </a:solidFill>
                <a:latin typeface="Aptos"/>
              </a:defRPr>
            </a:pPr>
            <a:r>
              <a:t>THE 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489704"/>
            <a:ext cx="9144000" cy="6400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Who needs help completing the journey from sign-up to a funded account?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788152"/>
            <a:ext cx="77724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0" i="0">
                <a:solidFill>
                  <a:srgbClr val="C5D3DD"/>
                </a:solidFill>
                <a:latin typeface="Aptos"/>
              </a:defRPr>
            </a:pPr>
            <a:r>
              <a:t>Bernette Mogwera Lesejane  •  26303406  •  STADIO PGDip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309360"/>
            <a:ext cx="77724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C5D3DD"/>
                </a:solidFill>
                <a:latin typeface="Aptos"/>
              </a:defRPr>
            </a:pPr>
            <a: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BUSINESS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A sign-up is not yet an investor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SS1 frames the gap between acquisition and first funded activity.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02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520440" cy="1828800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64008" cy="1828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32095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300" b="1" i="0">
                <a:solidFill>
                  <a:srgbClr val="17324D"/>
                </a:solidFill>
                <a:latin typeface="Aptos"/>
              </a:defRPr>
            </a:pPr>
            <a:r>
              <a:t>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3209544" cy="1298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0" i="0">
                <a:solidFill>
                  <a:srgbClr val="24313D"/>
                </a:solidFill>
                <a:latin typeface="Aptos"/>
              </a:defRPr>
            </a:pPr>
            <a:r>
              <a:t>The SS1 brief describes 2.3 million registered accounts and a material drop between registration and funded investing. This is project context—not the modelling sample 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81328"/>
            <a:ext cx="3520440" cy="1828800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81328"/>
            <a:ext cx="64008" cy="1828800"/>
          </a:xfrm>
          <a:prstGeom prst="rect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600200"/>
            <a:ext cx="32095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300" b="1" i="0">
                <a:solidFill>
                  <a:srgbClr val="17324D"/>
                </a:solidFill>
                <a:latin typeface="Aptos"/>
              </a:defRPr>
            </a:pPr>
            <a:r>
              <a:t>The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1938528"/>
            <a:ext cx="3209544" cy="1298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00" b="0" i="0">
                <a:solidFill>
                  <a:srgbClr val="24313D"/>
                </a:solidFill>
                <a:latin typeface="Aptos"/>
              </a:defRPr>
            </a:pPr>
            <a:r>
              <a:t>Can registration, onboarding and early behaviour identify accounts that will make a first deposit within 90 days?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481328"/>
            <a:ext cx="3520440" cy="1828800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481328"/>
            <a:ext cx="64008" cy="182880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00200"/>
            <a:ext cx="32095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300" b="1" i="0">
                <a:solidFill>
                  <a:srgbClr val="17324D"/>
                </a:solidFill>
                <a:latin typeface="Aptos"/>
              </a:defRPr>
            </a:pPr>
            <a:r>
              <a:t>The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938528"/>
            <a:ext cx="3209544" cy="1298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0" i="0">
                <a:solidFill>
                  <a:srgbClr val="24313D"/>
                </a:solidFill>
                <a:latin typeface="Aptos"/>
              </a:defRPr>
            </a:pPr>
            <a:r>
              <a:t>Use risk ranking to prioritise human support or helpful onboarding nudges—then test whether support changes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584448"/>
            <a:ext cx="11018520" cy="1298448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767328"/>
            <a:ext cx="192024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1" i="0">
                <a:solidFill>
                  <a:srgbClr val="B94B4B"/>
                </a:solidFill>
                <a:latin typeface="Aptos"/>
              </a:defRPr>
            </a:pPr>
            <a:r>
              <a:t>SUCCESS IS 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114800"/>
            <a:ext cx="4297680" cy="4572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700" b="1" i="0">
                <a:solidFill>
                  <a:srgbClr val="24313D"/>
                </a:solidFill>
                <a:latin typeface="Aptos"/>
              </a:defRPr>
            </a:pPr>
            <a:r>
              <a:t>More clicks or accuracy alone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3767328"/>
            <a:ext cx="21945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1" i="0">
                <a:solidFill>
                  <a:srgbClr val="2A9D8F"/>
                </a:solidFill>
                <a:latin typeface="Aptos"/>
              </a:defRPr>
            </a:pPr>
            <a:r>
              <a:t>SUCCESS SHOULD 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105656"/>
            <a:ext cx="5394960" cy="53035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500" b="1" i="0">
                <a:solidFill>
                  <a:srgbClr val="17324D"/>
                </a:solidFill>
                <a:latin typeface="Aptos"/>
              </a:defRPr>
            </a:pPr>
            <a:r>
              <a:t>More incremental first deposits at acceptable cost—with fair, compliant treatment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257800"/>
            <a:ext cx="1417320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A9D8F"/>
                </a:solidFill>
                <a:latin typeface="Aptos"/>
              </a:defRPr>
            </a:pPr>
            <a:r>
              <a:t>CLIENT LENS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230368"/>
            <a:ext cx="9052560" cy="3657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00" b="0" i="0">
                <a:solidFill>
                  <a:srgbClr val="24313D"/>
                </a:solidFill>
                <a:latin typeface="Aptos"/>
              </a:defRPr>
            </a:pPr>
            <a:r>
              <a:t>Find the right account, at the right time, with helpful support—not a punitive label.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Source: README_SS1.md, Parts A-B. The 2.3m figure is stated in the brief; SS3 models a separate extract.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LIFECYCLE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Six stages; one decision-focused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The workflow loops back when evidence raises a new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03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444752"/>
            <a:ext cx="3493008" cy="117043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4572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600" b="1" i="0">
                <a:solidFill>
                  <a:srgbClr val="2A9D8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72768"/>
            <a:ext cx="260604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500" b="1" i="0">
                <a:solidFill>
                  <a:srgbClr val="17324D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965960"/>
            <a:ext cx="3154680" cy="4846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24313D"/>
                </a:solidFill>
                <a:latin typeface="Aptos"/>
              </a:defRPr>
            </a:pPr>
            <a:r>
              <a:t>Why is activation leaking? Define the 90-day outcome.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78224" y="2029968"/>
            <a:ext cx="22860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1444752"/>
            <a:ext cx="3493008" cy="117043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572768"/>
            <a:ext cx="4572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600" b="1" i="0">
                <a:solidFill>
                  <a:srgbClr val="2A9D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572768"/>
            <a:ext cx="260604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500" b="1" i="0">
                <a:solidFill>
                  <a:srgbClr val="17324D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1965960"/>
            <a:ext cx="3154680" cy="4846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24313D"/>
                </a:solidFill>
                <a:latin typeface="Aptos"/>
              </a:defRPr>
            </a:pPr>
            <a:r>
              <a:t>What exists, what is reliable, what arrives in time?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45552" y="2029968"/>
            <a:ext cx="22860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10728" y="1444752"/>
            <a:ext cx="3493008" cy="117043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572768"/>
            <a:ext cx="4572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600" b="1" i="0">
                <a:solidFill>
                  <a:srgbClr val="2A9D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1572768"/>
            <a:ext cx="260604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500" b="1" i="0">
                <a:solidFill>
                  <a:srgbClr val="17324D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1965960"/>
            <a:ext cx="3154680" cy="4846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24313D"/>
                </a:solidFill>
                <a:latin typeface="Aptos"/>
              </a:defRPr>
            </a:pPr>
            <a:r>
              <a:t>Create safe account-level predictors and splits.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" y="2953512"/>
            <a:ext cx="3493008" cy="117043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81528"/>
            <a:ext cx="4572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600" b="1" i="0">
                <a:solidFill>
                  <a:srgbClr val="2A9D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081528"/>
            <a:ext cx="260604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500" b="1" i="0">
                <a:solidFill>
                  <a:srgbClr val="17324D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474720"/>
            <a:ext cx="3154680" cy="4846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24313D"/>
                </a:solidFill>
                <a:latin typeface="Aptos"/>
              </a:defRPr>
            </a:pPr>
            <a:r>
              <a:t>Compare LR, RF, XGBoost and an ensemble.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78224" y="3538728"/>
            <a:ext cx="22860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343400" y="2953512"/>
            <a:ext cx="3493008" cy="117043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081528"/>
            <a:ext cx="4572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600" b="1" i="0">
                <a:solidFill>
                  <a:srgbClr val="2A9D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3081528"/>
            <a:ext cx="260604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500" b="1" i="0">
                <a:solidFill>
                  <a:srgbClr val="17324D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3474720"/>
            <a:ext cx="3154680" cy="4846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24313D"/>
                </a:solidFill>
                <a:latin typeface="Aptos"/>
              </a:defRPr>
            </a:pPr>
            <a:r>
              <a:t>Test ranking, errors, stability and capacity.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45552" y="3538728"/>
            <a:ext cx="22860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110728" y="2953512"/>
            <a:ext cx="3493008" cy="117043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3081528"/>
            <a:ext cx="4572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600" b="1" i="0">
                <a:solidFill>
                  <a:srgbClr val="2A9D8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9096" y="3081528"/>
            <a:ext cx="260604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500" b="1" i="0">
                <a:solidFill>
                  <a:srgbClr val="17324D"/>
                </a:solidFill>
                <a:latin typeface="Aptos"/>
              </a:defRPr>
            </a:pPr>
            <a:r>
              <a:t>Act &amp; 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3474720"/>
            <a:ext cx="3154680" cy="4846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24313D"/>
                </a:solidFill>
                <a:latin typeface="Aptos"/>
              </a:defRPr>
            </a:pPr>
            <a:r>
              <a:t>Pilot intervention; monitor value, fairness and drift.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791456"/>
            <a:ext cx="10972800" cy="658368"/>
          </a:xfrm>
          <a:prstGeom prst="roundRect">
            <a:avLst/>
          </a:prstGeom>
          <a:solidFill>
            <a:srgbClr val="E7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965192"/>
            <a:ext cx="105156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300" b="1" i="0">
                <a:solidFill>
                  <a:srgbClr val="2F855A"/>
                </a:solidFill>
                <a:latin typeface="Aptos"/>
              </a:defRPr>
            </a:pPr>
            <a:r>
              <a:t>Retrospective ranking supports a controlled pilot; it is not proof that outreach causes deposits.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Lifecycle: business understanding → data understanding → preparation → modelling → evaluation → deployment /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SS1 GOVERNANCE: RAAIDD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The original plan anticipated risks that the extract makes concrete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RAAIDD = Risks, Actions, Assumptions, Issues, Decisions and Dependencies.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04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44752"/>
            <a:ext cx="3520440" cy="1737360"/>
          </a:xfrm>
          <a:prstGeom prst="roundRect">
            <a:avLst/>
          </a:prstGeom>
          <a:solidFill>
            <a:srgbClr val="FBEDEE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44752"/>
            <a:ext cx="64008" cy="1737360"/>
          </a:xfrm>
          <a:prstGeom prst="rect">
            <a:avLst/>
          </a:prstGeom>
          <a:solidFill>
            <a:srgbClr val="B9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63624"/>
            <a:ext cx="32095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50" b="1" i="0">
                <a:solidFill>
                  <a:srgbClr val="17324D"/>
                </a:solidFill>
                <a:latin typeface="Aptos"/>
              </a:defRPr>
            </a:pPr>
            <a:r>
              <a:t>RISK • data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01952"/>
            <a:ext cx="3209544" cy="1207007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60" b="0" i="0">
                <a:solidFill>
                  <a:srgbClr val="24313D"/>
                </a:solidFill>
                <a:latin typeface="Aptos"/>
              </a:defRPr>
            </a:pPr>
            <a:r>
              <a:t>SS1 assumption: ≥100K accounts and 12–18 months. SS3 extract: 4,906 unique accounts. Useful for development; not proof about the full 2.3m 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44752"/>
            <a:ext cx="3520440" cy="1737360"/>
          </a:xfrm>
          <a:prstGeom prst="roundRect">
            <a:avLst/>
          </a:prstGeom>
          <a:solidFill>
            <a:srgbClr val="FCF5E6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44752"/>
            <a:ext cx="64008" cy="173736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563624"/>
            <a:ext cx="32095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50" b="1" i="0">
                <a:solidFill>
                  <a:srgbClr val="17324D"/>
                </a:solidFill>
                <a:latin typeface="Aptos"/>
              </a:defRPr>
            </a:pPr>
            <a:r>
              <a:t>RISK • time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1901952"/>
            <a:ext cx="3209544" cy="1207007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60" b="0" i="0">
                <a:solidFill>
                  <a:srgbClr val="24313D"/>
                </a:solidFill>
                <a:latin typeface="Aptos"/>
              </a:defRPr>
            </a:pPr>
            <a:r>
              <a:t>SS1 flagged behaviour drift and recommended recent-cohort testing / quarterly review. SS3 uses a random split, not a chronological 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444752"/>
            <a:ext cx="3520440" cy="1737360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444752"/>
            <a:ext cx="64008" cy="1737360"/>
          </a:xfrm>
          <a:prstGeom prst="rect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63624"/>
            <a:ext cx="32095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50" b="1" i="0">
                <a:solidFill>
                  <a:srgbClr val="17324D"/>
                </a:solidFill>
                <a:latin typeface="Aptos"/>
              </a:defRPr>
            </a:pPr>
            <a:r>
              <a:t>RISK •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901952"/>
            <a:ext cx="3209544" cy="1207007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60" b="0" i="0">
                <a:solidFill>
                  <a:srgbClr val="24313D"/>
                </a:solidFill>
                <a:latin typeface="Aptos"/>
              </a:defRPr>
            </a:pPr>
            <a:r>
              <a:t>SS1 flagged POPIA and pseudonymisation. Use approved data, restrict access, and do not publish account-level predictions or identifiers.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56432"/>
            <a:ext cx="11018520" cy="135331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602736"/>
            <a:ext cx="274320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ASSUMPTIONS • ISSUES •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04487"/>
            <a:ext cx="10424160" cy="8229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50" b="0" i="0">
                <a:solidFill>
                  <a:srgbClr val="24313D"/>
                </a:solidFill>
                <a:latin typeface="Aptos"/>
              </a:defRPr>
            </a:pPr>
            <a:r>
              <a:t>Assumption: planned ≥100K accounts / 12–18 months; delivered extract has 4,906.</a:t>
            </a:r>
          </a:p>
          <a:p>
            <a:pPr>
              <a:spcAft>
                <a:spcPts val="200"/>
              </a:spcAft>
              <a:defRPr sz="1050" b="0" i="0">
                <a:solidFill>
                  <a:srgbClr val="24313D"/>
                </a:solidFill>
                <a:latin typeface="Aptos"/>
              </a:defRPr>
            </a:pPr>
            <a:r>
              <a:t>Issues: account/time coverage, mixed date formats and point-in-time status of some features.</a:t>
            </a:r>
          </a:p>
          <a:p>
            <a:pPr>
              <a:spcAft>
                <a:spcPts val="200"/>
              </a:spcAft>
              <a:defRPr sz="1050" b="0" i="0">
                <a:solidFill>
                  <a:srgbClr val="24313D"/>
                </a:solidFill>
                <a:latin typeface="Aptos"/>
              </a:defRPr>
            </a:pPr>
            <a:r>
              <a:t>Decisions: 90-day activation target; split changed from planned 60/20/20 to 70/15/15; 52 requested fields became 169 encoded features.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956048"/>
            <a:ext cx="10972800" cy="7315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50" b="1" i="0">
                <a:solidFill>
                  <a:srgbClr val="17324D"/>
                </a:solidFill>
                <a:latin typeface="Aptos"/>
              </a:defRPr>
            </a:pPr>
            <a:r>
              <a:t>ACTIONS + DEPENDENCIES: confirm the extract and event-time definitions; obtain compliance approval before time-safe modelling and a pilot; then validate on later cohorts.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Source: README_SS1.md, Part E RAAIDD / decisions; SS3 results/01_dataset_summary.csv and 02_split_summary.csv.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SS1 → SS3: 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The data dictionary becomes an account-level evidence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Twelve source tables describe funnel, behaviour, communication, compliance and technical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05 / 13</a:t>
            </a:r>
          </a:p>
        </p:txBody>
      </p:sp>
      <p:pic>
        <p:nvPicPr>
          <p:cNvPr id="9" name="Picture 8" descr="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4800600" cy="2423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50992" y="1426464"/>
            <a:ext cx="5486400" cy="23774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1" i="0">
                <a:solidFill>
                  <a:srgbClr val="2E6F9E"/>
                </a:solidFill>
                <a:latin typeface="Aptos"/>
              </a:defRPr>
            </a:pPr>
            <a:r>
              <a:t>SELECTED DATA DOMAINS &amp;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783080"/>
            <a:ext cx="1572768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1" i="0">
                <a:solidFill>
                  <a:srgbClr val="17324D"/>
                </a:solidFill>
                <a:latin typeface="Aptos"/>
              </a:defRPr>
            </a:pPr>
            <a:r>
              <a:t>Funnel /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783080"/>
            <a:ext cx="420624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registration date, channel, onboarding status, activated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221991"/>
            <a:ext cx="1572768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1" i="0">
                <a:solidFill>
                  <a:srgbClr val="17324D"/>
                </a:solidFill>
                <a:latin typeface="Aptos"/>
              </a:defRPr>
            </a:pPr>
            <a:r>
              <a:t>Early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21991"/>
            <a:ext cx="420624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first-session duration, screen views, early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2660904"/>
            <a:ext cx="1572768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1" i="0">
                <a:solidFill>
                  <a:srgbClr val="17324D"/>
                </a:solidFill>
                <a:latin typeface="Aptos"/>
              </a:defRPr>
            </a:pPr>
            <a:r>
              <a:t>Contact /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660904"/>
            <a:ext cx="420624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email opens, support, push / in-app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3099815"/>
            <a:ext cx="1572768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1" i="0">
                <a:solidFill>
                  <a:srgbClr val="17324D"/>
                </a:solidFill>
                <a:latin typeface="Aptos"/>
              </a:defRPr>
            </a:pPr>
            <a:r>
              <a:t>Compliance / 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099815"/>
            <a:ext cx="420624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KYC status / timing, device, OS, browser, 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3538728"/>
            <a:ext cx="1572768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1" i="0">
                <a:solidFill>
                  <a:srgbClr val="17324D"/>
                </a:solidFill>
                <a:latin typeface="Aptos"/>
              </a:defRPr>
            </a:pPr>
            <a:r>
              <a:t>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538728"/>
            <a:ext cx="420624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campaign exposures, clicks, spend and channels (aggregated)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096512"/>
            <a:ext cx="10927080" cy="749808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10469880" cy="4572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24313D"/>
                </a:solidFill>
                <a:latin typeface="Aptos"/>
              </a:defRPr>
            </a:pPr>
            <a:r>
              <a:t>Data quality: 14 duplicate rows removed; category spelling/case normalised; registration dates in four formats. Class 0: not activated (57.3%); Class 1: activated (42.7%).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5074920"/>
            <a:ext cx="2194560" cy="2468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1" i="0">
                <a:solidFill>
                  <a:srgbClr val="2A9D8F"/>
                </a:solidFill>
                <a:latin typeface="Aptos"/>
              </a:defRPr>
            </a:pPr>
            <a:r>
              <a:t>9 TABLES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074920"/>
            <a:ext cx="2560320" cy="2468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1" i="0">
                <a:solidFill>
                  <a:srgbClr val="B94B4B"/>
                </a:solidFill>
                <a:latin typeface="Aptos"/>
              </a:defRPr>
            </a:pPr>
            <a:r>
              <a:t>3 TABLES EXCLUDED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5074920"/>
            <a:ext cx="54864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0" i="0">
                <a:solidFill>
                  <a:srgbClr val="586A78"/>
                </a:solidFill>
                <a:latin typeface="Aptos"/>
              </a:defRPr>
            </a:pPr>
            <a:r>
              <a:t>Support tickets • feedback • post-deposit activity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Source: SS1 data request / dictionary; SS3 results/01_table_relevance.csv, 01_dataset_summary.csv, 01_date_formats.csv.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SS2: EVIDENCE AND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Literature guides choices; the benchmark identifies a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UCI Bank Marketing: 45,211 records with about 11% positive; F1 was more informative than accuracy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06 / 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" y="1481328"/>
          <a:ext cx="521207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90"/>
                <a:gridCol w="781812"/>
                <a:gridCol w="781812"/>
                <a:gridCol w="833932"/>
                <a:gridCol w="833932"/>
              </a:tblGrid>
              <a:tr h="39319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SS2 model</a:t>
                      </a:r>
                    </a:p>
                  </a:txBody>
                  <a:tcPr marL="73152" marR="54864" marT="41148" marB="2286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73152" marR="54864" marT="41148" marB="2286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 (yes)</a:t>
                      </a:r>
                    </a:p>
                  </a:txBody>
                  <a:tcPr marL="73152" marR="54864" marT="41148" marB="2286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73152" marR="54864" marT="41148" marB="2286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73152" marR="54864" marT="41148" marB="22860">
                    <a:solidFill>
                      <a:srgbClr val="17324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0.755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0.373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0.27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0.62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73152" marR="54864" marT="41148" marB="2286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0.893</a:t>
                      </a:r>
                    </a:p>
                  </a:txBody>
                  <a:tcPr marL="73152" marR="54864" marT="41148" marB="2286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0.318</a:t>
                      </a:r>
                    </a:p>
                  </a:txBody>
                  <a:tcPr marL="73152" marR="54864" marT="41148" marB="2286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0.63</a:t>
                      </a:r>
                    </a:p>
                  </a:txBody>
                  <a:tcPr marL="73152" marR="54864" marT="41148" marB="2286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0.21</a:t>
                      </a:r>
                    </a:p>
                  </a:txBody>
                  <a:tcPr marL="73152" marR="54864" marT="41148" marB="22860">
                    <a:solidFill>
                      <a:srgbClr val="F2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0.838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0.459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0.38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0.59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1444752"/>
            <a:ext cx="5349240" cy="98755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44752"/>
            <a:ext cx="64008" cy="9875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63624"/>
            <a:ext cx="50383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00" b="1" i="0">
                <a:solidFill>
                  <a:srgbClr val="17324D"/>
                </a:solidFill>
                <a:latin typeface="Aptos"/>
              </a:defRPr>
            </a:pPr>
            <a:r>
              <a:t>Weterings et al. (2019)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01952"/>
            <a:ext cx="5038344" cy="4572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0" i="0">
                <a:solidFill>
                  <a:srgbClr val="24313D"/>
                </a:solidFill>
                <a:latin typeface="Aptos"/>
              </a:defRPr>
            </a:pPr>
            <a:r>
              <a:t>Activation study: XGBoost is a strong baseline; define the time cut-off and prevent future-event leakage.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87752"/>
            <a:ext cx="5349240" cy="98755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587752"/>
            <a:ext cx="64008" cy="987552"/>
          </a:xfrm>
          <a:prstGeom prst="rect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706624"/>
            <a:ext cx="50383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00" b="1" i="0">
                <a:solidFill>
                  <a:srgbClr val="17324D"/>
                </a:solidFill>
                <a:latin typeface="Aptos"/>
              </a:defRPr>
            </a:pPr>
            <a:r>
              <a:t>Moro, Cortez &amp; Rita (2014)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044952"/>
            <a:ext cx="5038344" cy="4572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0" i="0">
                <a:solidFill>
                  <a:srgbClr val="24313D"/>
                </a:solidFill>
                <a:latin typeface="Aptos"/>
              </a:defRPr>
            </a:pPr>
            <a:r>
              <a:t>Bank-campaign evidence: later-period performance may fall; time-based testing and lift matter.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30752"/>
            <a:ext cx="5349240" cy="987552"/>
          </a:xfrm>
          <a:prstGeom prst="roundRect">
            <a:avLst/>
          </a:prstGeom>
          <a:solidFill>
            <a:srgbClr val="FCF5E6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730752"/>
            <a:ext cx="64008" cy="987552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49624"/>
            <a:ext cx="50383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00" b="1" i="0">
                <a:solidFill>
                  <a:srgbClr val="17324D"/>
                </a:solidFill>
                <a:latin typeface="Aptos"/>
              </a:defRPr>
            </a:pPr>
            <a:r>
              <a:t>Isen et al. (2026), as 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187952"/>
            <a:ext cx="5038344" cy="4572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0" i="0">
                <a:solidFill>
                  <a:srgbClr val="24313D"/>
                </a:solidFill>
                <a:latin typeface="Aptos"/>
              </a:defRPr>
            </a:pPr>
            <a:r>
              <a:t>Integrate touchpoints and evaluate conversion / retention outcomes, not clicks alone.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3337560"/>
            <a:ext cx="4983480" cy="6858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00" b="1" i="0">
                <a:solidFill>
                  <a:srgbClr val="17324D"/>
                </a:solidFill>
                <a:latin typeface="Aptos"/>
              </a:defRPr>
            </a:pPr>
            <a:r>
              <a:t>SS2 chose XGBoost: test F1 0.459; CV mean F1 0.446 vs LR 0.373 and RF 0.314.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5001768"/>
            <a:ext cx="10927080" cy="658368"/>
          </a:xfrm>
          <a:prstGeom prst="roundRect">
            <a:avLst/>
          </a:prstGeom>
          <a:solidFill>
            <a:srgbClr val="FBEDEE"/>
          </a:solidFill>
          <a:ln w="10160">
            <a:solidFill>
              <a:srgbClr val="F0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38928"/>
            <a:ext cx="10515600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B94B4B"/>
                </a:solidFill>
                <a:latin typeface="Aptos"/>
              </a:defRPr>
            </a:pPr>
            <a:r>
              <a:t>SS2 and SS3 are different datasets and positive-class definitions: do not compare their F1 values as if they were the same test.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Literature summarized in SS2 Part A: Weterings et al. (2019); Moro et al. (2014); Isen et al. (2026). SS2 results: READMEPartB&amp;C.md.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SS3: METHOD AND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The SS2 toolkit is applied to account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Key safeguard: fit transformations and resampling on training data only.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07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1664208" cy="107899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148132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100" b="1" i="0">
                <a:solidFill>
                  <a:srgbClr val="17324D"/>
                </a:solidFill>
                <a:latin typeface="Aptos"/>
              </a:defRPr>
            </a:pPr>
            <a:r>
              <a:t>1 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57984"/>
            <a:ext cx="1481328" cy="4114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12 tables</a:t>
            </a:r>
          </a:p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account-level join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2139696"/>
            <a:ext cx="201168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87168" y="1600200"/>
            <a:ext cx="1664208" cy="1078992"/>
          </a:xfrm>
          <a:prstGeom prst="roundRect">
            <a:avLst/>
          </a:prstGeom>
          <a:solidFill>
            <a:srgbClr val="E7F4F1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1792224"/>
            <a:ext cx="148132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100" b="1" i="0">
                <a:solidFill>
                  <a:srgbClr val="17324D"/>
                </a:solidFill>
                <a:latin typeface="Aptos"/>
              </a:defRPr>
            </a:pPr>
            <a:r>
              <a:t>2 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2157984"/>
            <a:ext cx="1481328" cy="4114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70 / 15 / 15</a:t>
            </a:r>
          </a:p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stratified IDs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60520" y="2139696"/>
            <a:ext cx="201168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07408" y="1600200"/>
            <a:ext cx="1664208" cy="107899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792224"/>
            <a:ext cx="148132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100" b="1" i="0">
                <a:solidFill>
                  <a:srgbClr val="17324D"/>
                </a:solidFill>
                <a:latin typeface="Aptos"/>
              </a:defRPr>
            </a:pPr>
            <a:r>
              <a:t>3  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157984"/>
            <a:ext cx="1481328" cy="4114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train-fit impute</a:t>
            </a:r>
          </a:p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scale + one-hot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139696"/>
            <a:ext cx="201168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27648" y="1600200"/>
            <a:ext cx="1664208" cy="1078992"/>
          </a:xfrm>
          <a:prstGeom prst="roundRect">
            <a:avLst/>
          </a:prstGeom>
          <a:solidFill>
            <a:srgbClr val="FCF5E6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1792224"/>
            <a:ext cx="148132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100" b="1" i="0">
                <a:solidFill>
                  <a:srgbClr val="17324D"/>
                </a:solidFill>
                <a:latin typeface="Aptos"/>
              </a:defRPr>
            </a:pPr>
            <a:r>
              <a:t>4 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157984"/>
            <a:ext cx="1481328" cy="4114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SMOTE k=5</a:t>
            </a:r>
          </a:p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train only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01000" y="2139696"/>
            <a:ext cx="201168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47888" y="1600200"/>
            <a:ext cx="1664208" cy="107899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1792224"/>
            <a:ext cx="148132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100" b="1" i="0">
                <a:solidFill>
                  <a:srgbClr val="17324D"/>
                </a:solidFill>
                <a:latin typeface="Aptos"/>
              </a:defRPr>
            </a:pPr>
            <a:r>
              <a:t>5  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157984"/>
            <a:ext cx="1481328" cy="4114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LR • RF • XGB</a:t>
            </a:r>
          </a:p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average probabilities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921240" y="2139696"/>
            <a:ext cx="201168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168128" y="1600200"/>
            <a:ext cx="1664208" cy="1078992"/>
          </a:xfrm>
          <a:prstGeom prst="roundRect">
            <a:avLst/>
          </a:prstGeom>
          <a:solidFill>
            <a:srgbClr val="E7F4F1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59567" y="1792224"/>
            <a:ext cx="148132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100" b="1" i="0">
                <a:solidFill>
                  <a:srgbClr val="17324D"/>
                </a:solidFill>
                <a:latin typeface="Aptos"/>
              </a:defRPr>
            </a:pPr>
            <a:r>
              <a:t>6  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9567" y="2157984"/>
            <a:ext cx="1481328" cy="4114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validation +</a:t>
            </a:r>
          </a:p>
          <a:p>
            <a:pPr algn="ctr">
              <a:spcAft>
                <a:spcPts val="200"/>
              </a:spcAft>
              <a:defRPr sz="950" b="0" i="0">
                <a:solidFill>
                  <a:srgbClr val="24313D"/>
                </a:solidFill>
                <a:latin typeface="Aptos"/>
              </a:defRPr>
            </a:pPr>
            <a:r>
              <a:t>unseen test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2999232"/>
            <a:ext cx="5349240" cy="135331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" y="2999232"/>
            <a:ext cx="64008" cy="1353312"/>
          </a:xfrm>
          <a:prstGeom prst="rect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3118103"/>
            <a:ext cx="50383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300" b="1" i="0">
                <a:solidFill>
                  <a:srgbClr val="17324D"/>
                </a:solidFill>
                <a:latin typeface="Aptos"/>
              </a:defRPr>
            </a:pPr>
            <a:r>
              <a:t>Code choices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3456432"/>
            <a:ext cx="5038344" cy="8229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70" b="0" i="0">
                <a:solidFill>
                  <a:srgbClr val="24313D"/>
                </a:solidFill>
                <a:latin typeface="Aptos"/>
              </a:defRPr>
            </a:pPr>
            <a:r>
              <a:t>Median numeric imputation + scaling; categorical imputation + one-hot; outlier caps learned on train; deposit-derived leakage removed.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2999232"/>
            <a:ext cx="5349240" cy="135331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9632" y="2999232"/>
            <a:ext cx="64008" cy="13533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3118103"/>
            <a:ext cx="503834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300" b="1" i="0">
                <a:solidFill>
                  <a:srgbClr val="17324D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3456432"/>
            <a:ext cx="5038344" cy="8229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70" b="0" i="0">
                <a:solidFill>
                  <a:srgbClr val="24313D"/>
                </a:solidFill>
                <a:latin typeface="Aptos"/>
              </a:defRPr>
            </a:pPr>
            <a:r>
              <a:t>LR = interpretable baseline; RF = bagged trees; XGBoost = boosted trees; ensemble = averaged probabilities. Seed = 42.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4645152"/>
            <a:ext cx="10927080" cy="713232"/>
          </a:xfrm>
          <a:prstGeom prst="roundRect">
            <a:avLst/>
          </a:prstGeom>
          <a:solidFill>
            <a:srgbClr val="FBEDEE"/>
          </a:solidFill>
          <a:ln w="10160">
            <a:solidFill>
              <a:srgbClr val="F0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828032"/>
            <a:ext cx="10515600" cy="32918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1" i="0">
                <a:solidFill>
                  <a:srgbClr val="B94B4B"/>
                </a:solidFill>
                <a:latin typeface="Aptos"/>
              </a:defRPr>
            </a:pPr>
            <a:r>
              <a:t>Validation and test retain natural prevalence. Applying SMOTE before splitting would leak neighbour information.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Source: SS3 notebook sections 02 Data preparation and 03 Model training; results/02_split_summary.csv.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SS3: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On unseen accounts, no single model wins every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Test set: 736 accounts, 314 activated. Evaluate more than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08 / 13</a:t>
            </a:r>
          </a:p>
        </p:txBody>
      </p:sp>
      <p:pic>
        <p:nvPicPr>
          <p:cNvPr id="9" name="Picture 8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040880" cy="3246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99248" y="1536192"/>
            <a:ext cx="3730752" cy="832104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627632"/>
            <a:ext cx="34747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A9D8F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1892807"/>
            <a:ext cx="3474720" cy="28346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17324D"/>
                </a:solidFill>
                <a:latin typeface="Aptos"/>
              </a:defRPr>
            </a:pPr>
            <a:r>
              <a:t>F1 0.857   AUC 0.943   Acc 0.865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2560320"/>
            <a:ext cx="3730752" cy="832104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2651760"/>
            <a:ext cx="34747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2916936"/>
            <a:ext cx="3474720" cy="28346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17324D"/>
                </a:solidFill>
                <a:latin typeface="Aptos"/>
              </a:defRPr>
            </a:pPr>
            <a:r>
              <a:t>F1 0.856   AUC 0.937   Acc 0.870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3584448"/>
            <a:ext cx="3730752" cy="832104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3675887"/>
            <a:ext cx="34747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E9B44C"/>
                </a:solidFill>
                <a:latin typeface="Aptos"/>
              </a:defRPr>
            </a:pPr>
            <a:r>
              <a:t>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3941063"/>
            <a:ext cx="3474720" cy="28346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17324D"/>
                </a:solidFill>
                <a:latin typeface="Aptos"/>
              </a:defRPr>
            </a:pPr>
            <a:r>
              <a:t>F1 0.849   AUC 0.942   Acc 0.861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846320"/>
            <a:ext cx="10927080" cy="722376"/>
          </a:xfrm>
          <a:prstGeom prst="roundRect">
            <a:avLst/>
          </a:prstGeom>
          <a:solidFill>
            <a:srgbClr val="FCF5E6"/>
          </a:solidFill>
          <a:ln w="10160">
            <a:solidFill>
              <a:srgbClr val="F2E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92624"/>
            <a:ext cx="105156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17324D"/>
                </a:solidFill>
                <a:latin typeface="Aptos"/>
              </a:defRPr>
            </a:pPr>
            <a:r>
              <a:t>RF leads recall (0.943), F1 (0.857), AUC (0.943); LR leads accuracy (0.870) and precision (0.810). Choose by the cost of misses vs. unnecessary contact.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At 0.5 classification threshold; positive class = activated. Source: results/04_metrics_all_splits.csv. Brier lower is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CLIENT LENS: FROM SCORE TO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A capacity-based shortlist can focus support—but it is not causal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Retrospective test scenario: contact the 30% with the lowest ensemble activation probabilities.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09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36192"/>
            <a:ext cx="2606040" cy="1024128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91640"/>
            <a:ext cx="2331720" cy="3657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200" b="1" i="0">
                <a:solidFill>
                  <a:srgbClr val="2E6F9E"/>
                </a:solidFill>
                <a:latin typeface="Aptos"/>
              </a:defRPr>
            </a:pPr>
            <a:r>
              <a:t>221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139696"/>
            <a:ext cx="2331720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0" i="0">
                <a:solidFill>
                  <a:srgbClr val="586A78"/>
                </a:solidFill>
                <a:latin typeface="Aptos"/>
              </a:defRPr>
            </a:pPr>
            <a:r>
              <a:t>accounts selected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36192"/>
            <a:ext cx="2606040" cy="1024128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691640"/>
            <a:ext cx="2331720" cy="3657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200" b="1" i="0">
                <a:solidFill>
                  <a:srgbClr val="2A9D8F"/>
                </a:solidFill>
                <a:latin typeface="Aptos"/>
              </a:defRPr>
            </a:pPr>
            <a:r>
              <a:t>218 / 221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139696"/>
            <a:ext cx="2331720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0" i="0">
                <a:solidFill>
                  <a:srgbClr val="586A78"/>
                </a:solidFill>
                <a:latin typeface="Aptos"/>
              </a:defRPr>
            </a:pPr>
            <a:r>
              <a:t>non-activators in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536192"/>
            <a:ext cx="2606040" cy="1024128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691640"/>
            <a:ext cx="2331720" cy="3657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200" b="1" i="0">
                <a:solidFill>
                  <a:srgbClr val="E9B44C"/>
                </a:solidFill>
                <a:latin typeface="Aptos"/>
              </a:defRPr>
            </a:pPr>
            <a:r>
              <a:t>51.7%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139696"/>
            <a:ext cx="2331720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0" i="0">
                <a:solidFill>
                  <a:srgbClr val="586A78"/>
                </a:solidFill>
                <a:latin typeface="Aptos"/>
              </a:defRPr>
            </a:pPr>
            <a:r>
              <a:t>of test non-activators reached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536192"/>
            <a:ext cx="2606040" cy="1024128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4" y="1691640"/>
            <a:ext cx="2331720" cy="3657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200" b="1" i="0">
                <a:solidFill>
                  <a:srgbClr val="2F855A"/>
                </a:solidFill>
                <a:latin typeface="Aptos"/>
              </a:defRPr>
            </a:pPr>
            <a:r>
              <a:t>98.6%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139696"/>
            <a:ext cx="2331720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0" i="0">
                <a:solidFill>
                  <a:srgbClr val="586A78"/>
                </a:solidFill>
                <a:latin typeface="Aptos"/>
              </a:defRPr>
            </a:pPr>
            <a:r>
              <a:t>list precision for stalling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907792"/>
            <a:ext cx="4572000" cy="23774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ENSEMBLE LABEL AT THRESHOLD 0.5 (ACTUAL × PREDICTED)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3236976"/>
          <a:ext cx="649223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206"/>
                <a:gridCol w="2077516"/>
                <a:gridCol w="2077516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</a:t>
                      </a:r>
                    </a:p>
                  </a:txBody>
                  <a:tcPr marL="73152" marR="54864" marT="41148" marB="2286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0: not activated</a:t>
                      </a:r>
                    </a:p>
                  </a:txBody>
                  <a:tcPr marL="73152" marR="54864" marT="41148" marB="2286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1: activated</a:t>
                      </a:r>
                    </a:p>
                  </a:txBody>
                  <a:tcPr marL="73152" marR="54864" marT="41148" marB="22860">
                    <a:solidFill>
                      <a:srgbClr val="1732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Not activated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348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74</a:t>
                      </a:r>
                    </a:p>
                  </a:txBody>
                  <a:tcPr marL="73152" marR="54864" marT="41148" marB="2286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Activated</a:t>
                      </a:r>
                    </a:p>
                  </a:txBody>
                  <a:tcPr marL="73152" marR="54864" marT="41148" marB="2286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73152" marR="54864" marT="41148" marB="2286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286</a:t>
                      </a:r>
                    </a:p>
                  </a:txBody>
                  <a:tcPr marL="73152" marR="54864" marT="41148" marB="22860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452360" y="3017520"/>
            <a:ext cx="4069080" cy="1426464"/>
          </a:xfrm>
          <a:prstGeom prst="roundRect">
            <a:avLst/>
          </a:prstGeom>
          <a:solidFill>
            <a:srgbClr val="FBEDEE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3017520"/>
            <a:ext cx="64008" cy="1426464"/>
          </a:xfrm>
          <a:prstGeom prst="rect">
            <a:avLst/>
          </a:prstGeom>
          <a:solidFill>
            <a:srgbClr val="B9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3136391"/>
            <a:ext cx="375818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00" b="1" i="0">
                <a:solidFill>
                  <a:srgbClr val="17324D"/>
                </a:solidFill>
                <a:latin typeface="Aptos"/>
              </a:defRPr>
            </a:pPr>
            <a:r>
              <a:t>How to interpret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3474720"/>
            <a:ext cx="3758184" cy="8961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50" b="0" i="0">
                <a:solidFill>
                  <a:srgbClr val="24313D"/>
                </a:solidFill>
                <a:latin typeface="Aptos"/>
              </a:defRPr>
            </a:pPr>
            <a:r>
              <a:t>The low-score outreach ranking differs from the 0.5 class threshold. High list precision does not mean every stalling account is reached.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882896"/>
            <a:ext cx="10844784" cy="630936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038344"/>
            <a:ext cx="103784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NEXT TEST: randomise eligible high-risk accounts to supportive outreach vs. business-as-usual.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Source: results/04_outreach_coverage_test.csv and 04_test_predictions.csv. Random-list baseline = 57.3% non-activation prevalence.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DATA SCIENCE LENS: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KYC progress and onboarding completion carry strong model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Importance answers “what helped prediction?”—not “what causes activation?”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10 / 13</a:t>
            </a:r>
          </a:p>
        </p:txBody>
      </p:sp>
      <p:pic>
        <p:nvPicPr>
          <p:cNvPr id="9" name="Picture 8" descr="07_feature_importance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690372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07808" y="1536192"/>
            <a:ext cx="3840480" cy="914400"/>
          </a:xfrm>
          <a:prstGeom prst="roundRect">
            <a:avLst/>
          </a:prstGeom>
          <a:solidFill>
            <a:srgbClr val="FBEDEE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7808" y="1536192"/>
            <a:ext cx="64008" cy="914400"/>
          </a:xfrm>
          <a:prstGeom prst="rect">
            <a:avLst/>
          </a:prstGeom>
          <a:solidFill>
            <a:srgbClr val="B9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655064"/>
            <a:ext cx="352958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00" b="1" i="0">
                <a:solidFill>
                  <a:srgbClr val="17324D"/>
                </a:solidFill>
                <a:latin typeface="Aptos"/>
              </a:defRPr>
            </a:pPr>
            <a:r>
              <a:t>KYC recorded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993391"/>
            <a:ext cx="3529584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19" b="0" i="0">
                <a:solidFill>
                  <a:srgbClr val="24313D"/>
                </a:solidFill>
                <a:latin typeface="Aptos"/>
              </a:defRPr>
            </a:pPr>
            <a:r>
              <a:t>Largest ensemble-average importance (~0.215). Verify availability at scoring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2624328"/>
            <a:ext cx="3840480" cy="914400"/>
          </a:xfrm>
          <a:prstGeom prst="roundRect">
            <a:avLst/>
          </a:prstGeom>
          <a:solidFill>
            <a:srgbClr val="FCF5E6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07808" y="2624328"/>
            <a:ext cx="64008" cy="91440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743200"/>
            <a:ext cx="352958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00" b="1" i="0">
                <a:solidFill>
                  <a:srgbClr val="17324D"/>
                </a:solidFill>
                <a:latin typeface="Aptos"/>
              </a:defRPr>
            </a:pPr>
            <a:r>
              <a:t>KYC verification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81528"/>
            <a:ext cx="3529584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19" b="0" i="0">
                <a:solidFill>
                  <a:srgbClr val="24313D"/>
                </a:solidFill>
                <a:latin typeface="Aptos"/>
              </a:defRPr>
            </a:pPr>
            <a:r>
              <a:t>Second-ranked (~0.099). Could reflect process completion or a later snapshot.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7808" y="3712463"/>
            <a:ext cx="3840480" cy="914400"/>
          </a:xfrm>
          <a:prstGeom prst="roundRect">
            <a:avLst/>
          </a:prstGeom>
          <a:solidFill>
            <a:srgbClr val="E7F4F1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07808" y="3712463"/>
            <a:ext cx="64008" cy="914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31335"/>
            <a:ext cx="352958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200" b="1" i="0">
                <a:solidFill>
                  <a:srgbClr val="17324D"/>
                </a:solidFill>
                <a:latin typeface="Aptos"/>
              </a:defRPr>
            </a:pPr>
            <a:r>
              <a:t>Onboarding completion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169663"/>
            <a:ext cx="3529584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19" b="0" i="0">
                <a:solidFill>
                  <a:srgbClr val="24313D"/>
                </a:solidFill>
                <a:latin typeface="Aptos"/>
              </a:defRPr>
            </a:pPr>
            <a:r>
              <a:t>Completion and elapsed time rank highly; investigate timing and actionability.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577840"/>
            <a:ext cx="10927080" cy="411480"/>
          </a:xfrm>
          <a:prstGeom prst="roundRect">
            <a:avLst/>
          </a:prstGeom>
          <a:solidFill>
            <a:srgbClr val="FBEDEE"/>
          </a:solidFill>
          <a:ln w="10160">
            <a:solidFill>
              <a:srgbClr val="F0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69280"/>
            <a:ext cx="105156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100" b="1" i="0">
                <a:solidFill>
                  <a:srgbClr val="B94B4B"/>
                </a:solidFill>
                <a:latin typeface="Aptos"/>
              </a:defRPr>
            </a:pPr>
            <a:r>
              <a:t>GO / NO-GO GATE: exclude any feature recorded after the prediction cut-off.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Source: results/03_feature_importance.csv and results/figures/07_feature_importance_top15.png. Importance is not causal attribution.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EVALUATION: STABILITY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Promising results still need a time-aware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Read the holdout, cross-validation, sensitivity and governance evidence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11 / 13</a:t>
            </a:r>
          </a:p>
        </p:txBody>
      </p:sp>
      <p:pic>
        <p:nvPicPr>
          <p:cNvPr id="9" name="Picture 8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71600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91072" y="1417320"/>
            <a:ext cx="5120640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TRAINING CV • 5 FOLDS × 10 REPEATS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10512"/>
            <a:ext cx="164592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69" b="1" i="0">
                <a:solidFill>
                  <a:srgbClr val="24313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810512"/>
            <a:ext cx="6858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1" i="0">
                <a:solidFill>
                  <a:srgbClr val="17324D"/>
                </a:solidFill>
                <a:latin typeface="Aptos"/>
              </a:defRPr>
            </a:pPr>
            <a:r>
              <a:t>0.848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810512"/>
            <a:ext cx="242316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880" b="0" i="0">
                <a:solidFill>
                  <a:srgbClr val="586A78"/>
                </a:solidFill>
                <a:latin typeface="Aptos"/>
              </a:defRPr>
            </a:pPr>
            <a:r>
              <a:t>95% CI 0.844–0.853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164592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69" b="1" i="0">
                <a:solidFill>
                  <a:srgbClr val="24313D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240280"/>
            <a:ext cx="6858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1" i="0">
                <a:solidFill>
                  <a:srgbClr val="17324D"/>
                </a:solidFill>
                <a:latin typeface="Aptos"/>
              </a:defRPr>
            </a:pPr>
            <a:r>
              <a:t>0.852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240280"/>
            <a:ext cx="242316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880" b="0" i="0">
                <a:solidFill>
                  <a:srgbClr val="586A78"/>
                </a:solidFill>
                <a:latin typeface="Aptos"/>
              </a:defRPr>
            </a:pPr>
            <a:r>
              <a:t>95% CI 0.849–0.856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70048"/>
            <a:ext cx="164592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69" b="1" i="0">
                <a:solidFill>
                  <a:srgbClr val="24313D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670048"/>
            <a:ext cx="6858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1" i="0">
                <a:solidFill>
                  <a:srgbClr val="17324D"/>
                </a:solidFill>
                <a:latin typeface="Aptos"/>
              </a:defRPr>
            </a:pPr>
            <a:r>
              <a:t>0.848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670048"/>
            <a:ext cx="242316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880" b="0" i="0">
                <a:solidFill>
                  <a:srgbClr val="586A78"/>
                </a:solidFill>
                <a:latin typeface="Aptos"/>
              </a:defRPr>
            </a:pPr>
            <a:r>
              <a:t>95% CI 0.844–0.852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246120"/>
            <a:ext cx="5029200" cy="630936"/>
          </a:xfrm>
          <a:prstGeom prst="roundRect">
            <a:avLst/>
          </a:prstGeom>
          <a:solidFill>
            <a:srgbClr val="FCF5E6"/>
          </a:solidFill>
          <a:ln w="10160">
            <a:solidFill>
              <a:srgbClr val="F2E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364992"/>
            <a:ext cx="4663440" cy="3931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60" b="1" i="0">
                <a:solidFill>
                  <a:srgbClr val="24313D"/>
                </a:solidFill>
                <a:latin typeface="Aptos"/>
              </a:defRPr>
            </a:pPr>
            <a:r>
              <a:t>RF mean F1 is higher by ~0.004; intervals overlap. t-tests and Mann–Whitney tests disagree.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160520"/>
            <a:ext cx="3529584" cy="1097280"/>
          </a:xfrm>
          <a:prstGeom prst="roundRect">
            <a:avLst/>
          </a:prstGeom>
          <a:solidFill>
            <a:srgbClr val="FCF5E6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" y="4160520"/>
            <a:ext cx="64008" cy="109728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79392"/>
            <a:ext cx="321868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1" i="0">
                <a:solidFill>
                  <a:srgbClr val="17324D"/>
                </a:solidFill>
                <a:latin typeface="Aptos"/>
              </a:defRPr>
            </a:pPr>
            <a:r>
              <a:t>Random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3218688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0" i="0">
                <a:solidFill>
                  <a:srgbClr val="24313D"/>
                </a:solidFill>
                <a:latin typeface="Aptos"/>
              </a:defRPr>
            </a:pPr>
            <a:r>
              <a:t>No chronological holdout; drift remains untested.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60520"/>
            <a:ext cx="3529584" cy="1097280"/>
          </a:xfrm>
          <a:prstGeom prst="roundRect">
            <a:avLst/>
          </a:prstGeom>
          <a:solidFill>
            <a:srgbClr val="FBEDEE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160520"/>
            <a:ext cx="64008" cy="1097280"/>
          </a:xfrm>
          <a:prstGeom prst="rect">
            <a:avLst/>
          </a:prstGeom>
          <a:solidFill>
            <a:srgbClr val="B9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279392"/>
            <a:ext cx="321868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1" i="0">
                <a:solidFill>
                  <a:srgbClr val="17324D"/>
                </a:solidFill>
                <a:latin typeface="Aptos"/>
              </a:defRPr>
            </a:pPr>
            <a:r>
              <a:t>Train/test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617720"/>
            <a:ext cx="3218688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0" i="0">
                <a:solidFill>
                  <a:srgbClr val="24313D"/>
                </a:solidFill>
                <a:latin typeface="Aptos"/>
              </a:defRPr>
            </a:pPr>
            <a:r>
              <a:t>Near-perfect tree training scores vs ~0.84–0.86 test F1 suggest overfit risk.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4160520"/>
            <a:ext cx="3529584" cy="1097280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4160520"/>
            <a:ext cx="64008" cy="1097280"/>
          </a:xfrm>
          <a:prstGeom prst="rect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279392"/>
            <a:ext cx="321868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1" i="0">
                <a:solidFill>
                  <a:srgbClr val="17324D"/>
                </a:solidFill>
                <a:latin typeface="Aptos"/>
              </a:defRPr>
            </a:pPr>
            <a:r>
              <a:t>Snapshot sensitivity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617720"/>
            <a:ext cx="3218688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000" b="0" i="0">
                <a:solidFill>
                  <a:srgbClr val="24313D"/>
                </a:solidFill>
                <a:latin typeface="Aptos"/>
              </a:defRPr>
            </a:pPr>
            <a:r>
              <a:t>Similar scores do not rule out leakage; audit event timestamps.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Source: results/05_cv_confidence_intervals.csv, 05_paired_ttests.csv, 05_mann_whitney_cv.csv, 04_sensitivity_analysis.csv.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Controlled learning—not automatic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The next question is which helpful action changes the outcome.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12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399032"/>
            <a:ext cx="2468880" cy="457200"/>
          </a:xfrm>
          <a:prstGeom prst="roundRect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08760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01  Validate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472184"/>
            <a:ext cx="78638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0" i="0">
                <a:solidFill>
                  <a:srgbClr val="24313D"/>
                </a:solidFill>
                <a:latin typeface="Aptos"/>
              </a:defRPr>
            </a:pPr>
            <a:r>
              <a:t>Lock score moment; audit KYC, deposit and engagement timestamps.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56231" y="1865376"/>
            <a:ext cx="0" cy="219456"/>
          </a:xfrm>
          <a:prstGeom prst="line">
            <a:avLst/>
          </a:prstGeom>
          <a:ln w="254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" y="2112264"/>
            <a:ext cx="246888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221992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02  Validate 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185416"/>
            <a:ext cx="78638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0" i="0">
                <a:solidFill>
                  <a:srgbClr val="24313D"/>
                </a:solidFill>
                <a:latin typeface="Aptos"/>
              </a:defRPr>
            </a:pPr>
            <a:r>
              <a:t>Test later cohorts and permitted segments; monitor prevalence and calibration.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56231" y="2578608"/>
            <a:ext cx="0" cy="219456"/>
          </a:xfrm>
          <a:prstGeom prst="line">
            <a:avLst/>
          </a:prstGeom>
          <a:ln w="254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" y="2825496"/>
            <a:ext cx="2468880" cy="457200"/>
          </a:xfrm>
          <a:prstGeom prst="round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935224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03  Pilot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898648"/>
            <a:ext cx="78638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0" i="0">
                <a:solidFill>
                  <a:srgbClr val="24313D"/>
                </a:solidFill>
                <a:latin typeface="Aptos"/>
              </a:defRPr>
            </a:pPr>
            <a:r>
              <a:t>Randomise outreach vs. holdout; measure 90-day uplift and cost.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56231" y="3291839"/>
            <a:ext cx="0" cy="219457"/>
          </a:xfrm>
          <a:prstGeom prst="line">
            <a:avLst/>
          </a:prstGeom>
          <a:ln w="254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1792" y="3538728"/>
            <a:ext cx="2468880" cy="457200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648456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04  Govern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3611880"/>
            <a:ext cx="78638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0" i="0">
                <a:solidFill>
                  <a:srgbClr val="24313D"/>
                </a:solidFill>
                <a:latin typeface="Aptos"/>
              </a:defRPr>
            </a:pPr>
            <a:r>
              <a:t>POPIA review, minimisation, access, fairness and human oversight.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56231" y="4005072"/>
            <a:ext cx="0" cy="219456"/>
          </a:xfrm>
          <a:prstGeom prst="line">
            <a:avLst/>
          </a:prstGeom>
          <a:ln w="254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1792" y="4251960"/>
            <a:ext cx="2468880" cy="457200"/>
          </a:xfrm>
          <a:prstGeom prst="roundRect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361688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05  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4325112"/>
            <a:ext cx="78638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50" b="0" i="0">
                <a:solidFill>
                  <a:srgbClr val="24313D"/>
                </a:solidFill>
                <a:latin typeface="Aptos"/>
              </a:defRPr>
            </a:pPr>
            <a:r>
              <a:t>Drift, missingness and precision at capacity; set rollback/retraining triggers.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20640"/>
            <a:ext cx="10899648" cy="594360"/>
          </a:xfrm>
          <a:prstGeom prst="roundRect">
            <a:avLst/>
          </a:prstGeom>
          <a:solidFill>
            <a:srgbClr val="E7F4F1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266944"/>
            <a:ext cx="1042416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2F855A"/>
                </a:solidFill>
                <a:latin typeface="Aptos"/>
              </a:defRPr>
            </a:pPr>
            <a:r>
              <a:t>DECISION REQUEST: approve a privacy-reviewed, time-valid randomised pilot—not full automated deployment.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272784"/>
            <a:ext cx="10972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1">
                <a:solidFill>
                  <a:srgbClr val="586A78"/>
                </a:solidFill>
                <a:latin typeface="Aptos"/>
              </a:defRPr>
            </a:pPr>
            <a:r>
              <a:t>Client outcome: timely, relevant assistance. Technical outcome: prospective evidence, calibrated decisions and measured governance.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7772400" cy="2103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1" i="0">
                <a:solidFill>
                  <a:srgbClr val="2E6F9E"/>
                </a:solidFill>
                <a:latin typeface="Aptos"/>
              </a:defRPr>
            </a:pPr>
            <a:r>
              <a:t>REFERENCES &amp;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400" b="1" i="0">
                <a:solidFill>
                  <a:srgbClr val="17324D"/>
                </a:solidFill>
                <a:latin typeface="Aptos"/>
              </a:defRPr>
            </a:pPr>
            <a:r>
              <a:t>From prediction to responsible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1089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1100" b="0" i="0">
                <a:solidFill>
                  <a:srgbClr val="586A78"/>
                </a:solidFill>
                <a:latin typeface="Aptos"/>
              </a:defRPr>
            </a:pPr>
            <a:r>
              <a:t>Evidence base and the central takeaway.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01384"/>
            <a:ext cx="11128248" cy="10972"/>
          </a:xfrm>
          <a:prstGeom prst="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82296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CAP182  •  SS3 PART C  •  STADIOEQUITIES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68580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>
              <a:spcAft>
                <a:spcPts val="200"/>
              </a:spcAft>
              <a:defRPr sz="700" b="0" i="0">
                <a:solidFill>
                  <a:srgbClr val="586A78"/>
                </a:solidFill>
                <a:latin typeface="Aptos"/>
              </a:defRPr>
            </a:pPr>
            <a:r>
              <a:t>13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81360" cy="6400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2300" b="1" i="0">
                <a:solidFill>
                  <a:srgbClr val="17324D"/>
                </a:solidFill>
                <a:latin typeface="Aptos"/>
              </a:defRPr>
            </a:pPr>
            <a:r>
              <a:t>We can rank activation risk—now we must prove how to reduce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3108960" cy="23774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1" i="0">
                <a:solidFill>
                  <a:srgbClr val="17324D"/>
                </a:solidFill>
                <a:latin typeface="Aptos"/>
              </a:defRPr>
            </a:pPr>
            <a:r>
              <a:t>Weterings, K., Bromuri, S. &amp; van Eekelen, M. (2019).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48840"/>
            <a:ext cx="7589520" cy="42062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0" i="0">
                <a:solidFill>
                  <a:srgbClr val="24313D"/>
                </a:solidFill>
                <a:latin typeface="Aptos"/>
              </a:defRPr>
            </a:pPr>
            <a:r>
              <a:t>Explaining customer activation with deep attention models. ECIS 2019, Research Paper 151. aisel.aisnet.org/ecis2019_rp/151/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52344"/>
            <a:ext cx="3108960" cy="23774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1" i="0">
                <a:solidFill>
                  <a:srgbClr val="17324D"/>
                </a:solidFill>
                <a:latin typeface="Aptos"/>
              </a:defRPr>
            </a:pPr>
            <a:r>
              <a:t>Moro, S., Cortez, P. &amp; Rita, P. (2014).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52344"/>
            <a:ext cx="7589520" cy="42062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0" i="0">
                <a:solidFill>
                  <a:srgbClr val="24313D"/>
                </a:solidFill>
                <a:latin typeface="Aptos"/>
              </a:defRPr>
            </a:pPr>
            <a:r>
              <a:t>A data-driven approach to predict the success of bank telemarketing. Decision Support Systems, 62, 22–31. doi:10.1016/j.dss.2014.03.001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3108960" cy="23774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1" i="0">
                <a:solidFill>
                  <a:srgbClr val="17324D"/>
                </a:solidFill>
                <a:latin typeface="Aptos"/>
              </a:defRPr>
            </a:pPr>
            <a:r>
              <a:t>Isen, B. et al. (2026), as reviewed in SS2.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355848"/>
            <a:ext cx="7589520" cy="42062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0" i="0">
                <a:solidFill>
                  <a:srgbClr val="24313D"/>
                </a:solidFill>
                <a:latin typeface="Aptos"/>
              </a:defRPr>
            </a:pPr>
            <a:r>
              <a:t>The impact of customer analytics on sales funnel conversion and customer retention. Asian Journal of Economics, Business and Accounting, 26(1), 207–224.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59352"/>
            <a:ext cx="3108960" cy="23774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1" i="0">
                <a:solidFill>
                  <a:srgbClr val="17324D"/>
                </a:solidFill>
                <a:latin typeface="Aptos"/>
              </a:defRPr>
            </a:pPr>
            <a:r>
              <a:t>UCI Bank Marketing dataset.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959352"/>
            <a:ext cx="7589520" cy="42062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0" i="0">
                <a:solidFill>
                  <a:srgbClr val="24313D"/>
                </a:solidFill>
                <a:latin typeface="Aptos"/>
              </a:defRPr>
            </a:pPr>
            <a:r>
              <a:t>Moro, Cortez &amp; Rita (2014). UCI Machine Learning Repository. doi:10.24432/C5K306.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62856"/>
            <a:ext cx="3108960" cy="23774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50" b="1" i="0">
                <a:solidFill>
                  <a:srgbClr val="17324D"/>
                </a:solidFill>
                <a:latin typeface="Aptos"/>
              </a:defRPr>
            </a:pPr>
            <a:r>
              <a:t>Project artefacts.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562856"/>
            <a:ext cx="7589520" cy="42062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>
              <a:spcAft>
                <a:spcPts val="200"/>
              </a:spcAft>
              <a:defRPr sz="900" b="0" i="0">
                <a:solidFill>
                  <a:srgbClr val="24313D"/>
                </a:solidFill>
                <a:latin typeface="Aptos"/>
              </a:defRPr>
            </a:pPr>
            <a:r>
              <a:t>README_SS1.md; SS2 resubmission literature review / README; SS3_PartB.ipynb; results/*.csv; results/figures/*.png.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76672"/>
            <a:ext cx="10881360" cy="484632"/>
          </a:xfrm>
          <a:prstGeom prst="roundRect">
            <a:avLst/>
          </a:prstGeom>
          <a:solidFill>
            <a:srgbClr val="FCF5E6"/>
          </a:solidFill>
          <a:ln w="10160">
            <a:solidFill>
              <a:srgbClr val="F2E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04688"/>
            <a:ext cx="10515600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>
              <a:spcAft>
                <a:spcPts val="200"/>
              </a:spcAft>
              <a:defRPr sz="1000" b="1" i="0">
                <a:solidFill>
                  <a:srgbClr val="24313D"/>
                </a:solidFill>
                <a:latin typeface="Aptos"/>
              </a:defRPr>
            </a:pPr>
            <a:r>
              <a:t>Aggregate evidence only. Do not distribute client-level data or predictions without authorisation.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CAP182 SS3 Part C - From Registration to First Deposit</dc:title>
  <dc:subject>SS1 problem framing, SS2 literature and model selection, SS3 implementation and results</dc:subject>
  <dc:creator>Bernette Mogwera Lesejane</dc:creator>
  <cp:keywords>CAP182, STADIOEquities, lifecycle, account activation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