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4944" y="786384"/>
            <a:ext cx="109728" cy="4526280"/>
          </a:xfrm>
          <a:prstGeom prst="rect">
            <a:avLst/>
          </a:prstGeom>
          <a:solidFill>
            <a:srgbClr val="009D95"/>
          </a:solidFill>
          <a:ln>
            <a:solidFill>
              <a:srgbClr val="00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41832"/>
            <a:ext cx="6949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75E1D5"/>
                </a:solidFill>
                <a:latin typeface="Aptos"/>
              </a:defRPr>
            </a:pPr>
            <a:r>
              <a:t>CAP182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768096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3200" b="1" i="0">
                <a:solidFill>
                  <a:srgbClr val="FFFFFF"/>
                </a:solidFill>
                <a:latin typeface="Aptos"/>
              </a:defRPr>
            </a:pPr>
            <a:r>
              <a:t>From customer</a:t>
            </a:r>
          </a:p>
          <a:p>
            <a:pPr algn="l">
              <a:spcAft>
                <a:spcPts val="400"/>
              </a:spcAft>
              <a:defRPr sz="3200" b="1" i="0">
                <a:solidFill>
                  <a:srgbClr val="FFFFFF"/>
                </a:solidFill>
                <a:latin typeface="Aptos"/>
              </a:defRPr>
            </a:pPr>
            <a:r>
              <a:t>activation challenge</a:t>
            </a:r>
          </a:p>
          <a:p>
            <a:pPr algn="l">
              <a:spcAft>
                <a:spcPts val="400"/>
              </a:spcAft>
              <a:defRPr sz="3200" b="1" i="0">
                <a:solidFill>
                  <a:srgbClr val="FFFFFF"/>
                </a:solidFill>
                <a:latin typeface="Aptos"/>
              </a:defRPr>
            </a:pPr>
            <a:r>
              <a:t>to evidence-led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023360"/>
            <a:ext cx="8046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900" b="0" i="0">
                <a:solidFill>
                  <a:srgbClr val="D8E4EF"/>
                </a:solidFill>
                <a:latin typeface="Aptos"/>
              </a:defRPr>
            </a:pPr>
            <a:r>
              <a:t>STADIOEquities account activation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681728"/>
            <a:ext cx="9601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A2BCD0"/>
                </a:solidFill>
                <a:latin typeface="Aptos"/>
              </a:defRPr>
            </a:pPr>
            <a:r>
              <a:t>SS1 Problem framing  |  SS2 Prototype  |  SS3 Client-data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760720"/>
            <a:ext cx="7315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Bernette Mogwera Lesejane  |  PGDip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144768"/>
            <a:ext cx="6858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A2BCD0"/>
                </a:solidFill>
                <a:latin typeface="Aptos"/>
              </a:defRPr>
            </a:pPr>
            <a:r>
              <a:t>Video presentation - 10 to 12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2BCD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D95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12645"/>
                </a:solidFill>
                <a:latin typeface="Aptos"/>
              </a:defRPr>
            </a:pPr>
            <a:r>
              <a:t>A four-part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07080"/>
                </a:solidFill>
                <a:latin typeface="Aptos"/>
              </a:defRPr>
            </a:pPr>
            <a:r>
              <a:t>From the client need to a responsible path 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6583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45B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20824"/>
            <a:ext cx="3913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12645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59736"/>
            <a:ext cx="3840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07080"/>
                </a:solidFill>
                <a:latin typeface="Aptos"/>
              </a:defRPr>
            </a:pPr>
            <a:r>
              <a:t>Why activation matters and what SS1 set out to solve.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847088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029968"/>
            <a:ext cx="6583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009D9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020824"/>
            <a:ext cx="3913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12645"/>
                </a:solidFill>
                <a:latin typeface="Aptos"/>
              </a:defRPr>
            </a:pPr>
            <a:r>
              <a:t>Solution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59736"/>
            <a:ext cx="3840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07080"/>
                </a:solidFill>
                <a:latin typeface="Aptos"/>
              </a:defRPr>
            </a:pPr>
            <a:r>
              <a:t>What SS2 taught us and what SS3 test results show.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75887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858768"/>
            <a:ext cx="6583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E0874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49624"/>
            <a:ext cx="3913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12645"/>
                </a:solidFill>
                <a:latin typeface="Aptos"/>
              </a:defRPr>
            </a:pPr>
            <a:r>
              <a:t>Modeling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88536"/>
            <a:ext cx="3840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07080"/>
                </a:solidFill>
                <a:latin typeface="Aptos"/>
              </a:defRPr>
            </a:pPr>
            <a:r>
              <a:t>Client data, leakage controls, models, and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675887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858768"/>
            <a:ext cx="6583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36917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849624"/>
            <a:ext cx="3913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12645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88536"/>
            <a:ext cx="3840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07080"/>
                </a:solidFill>
                <a:latin typeface="Aptos"/>
              </a:defRPr>
            </a:pPr>
            <a:r>
              <a:t>How to validate and pilot the approach with the client.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37960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07080"/>
                </a:solidFill>
                <a:latin typeface="Aptos"/>
              </a:defRPr>
            </a:pPr>
            <a:r>
              <a:t>Presentation structure follows the sample: Problem | Performance | Modeling |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0708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D95"/>
                </a:solidFill>
                <a:latin typeface="Aptos"/>
              </a:defRPr>
            </a:pPr>
            <a:r>
              <a:t>01 |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12645"/>
                </a:solidFill>
                <a:latin typeface="Aptos"/>
              </a:defRPr>
            </a:pPr>
            <a:r>
              <a:t>Registration is not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07080"/>
                </a:solidFill>
                <a:latin typeface="Aptos"/>
              </a:defRPr>
            </a:pPr>
            <a:r>
              <a:t>The business question is whether an account makes its first deposit within 90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583680" cy="3383280"/>
          </a:xfrm>
          <a:prstGeom prst="roundRect">
            <a:avLst/>
          </a:prstGeom>
          <a:solidFill>
            <a:srgbClr val="112645"/>
          </a:solidFill>
          <a:ln>
            <a:solidFill>
              <a:srgbClr val="112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48256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75E1D5"/>
                </a:solidFill>
                <a:latin typeface="Aptos"/>
              </a:defRPr>
            </a:pPr>
            <a:r>
              <a:t>BUSINESS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42032"/>
            <a:ext cx="562356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t>How can STADIOEquities identify new accounts that may stall before funding?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014215"/>
            <a:ext cx="557784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DBE6F0"/>
                </a:solidFill>
                <a:latin typeface="Aptos"/>
              </a:defRPr>
            </a:pPr>
            <a:r>
              <a:t>SS1 defined the activation problem and requested 12 linked data tables to describe onboarding, engagement, marketing, compliance, and customer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828800"/>
            <a:ext cx="73152" cy="960120"/>
          </a:xfrm>
          <a:prstGeom prst="rect">
            <a:avLst/>
          </a:prstGeom>
          <a:solidFill>
            <a:srgbClr val="009D95"/>
          </a:solidFill>
          <a:ln>
            <a:solidFill>
              <a:srgbClr val="00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20240"/>
            <a:ext cx="342899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42.7%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276856"/>
            <a:ext cx="3428999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Activated in client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505456"/>
            <a:ext cx="342899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2,093 of 4,906 unique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97180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971800"/>
            <a:ext cx="73152" cy="960120"/>
          </a:xfrm>
          <a:prstGeom prst="rect">
            <a:avLst/>
          </a:prstGeom>
          <a:solidFill>
            <a:srgbClr val="E0874B"/>
          </a:solidFill>
          <a:ln>
            <a:solidFill>
              <a:srgbClr val="E0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3063240"/>
            <a:ext cx="342899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57.3%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419856"/>
            <a:ext cx="3428999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Not activated in 90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3648456"/>
            <a:ext cx="342899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2,813 accounts in this modelling dataset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233672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4370832"/>
            <a:ext cx="1234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12645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4681728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9D95"/>
                </a:solidFill>
                <a:latin typeface="Aptos"/>
              </a:defRPr>
            </a:pPr>
            <a:r>
              <a:t>Prioritise timely, relevant support.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37960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07080"/>
                </a:solidFill>
                <a:latin typeface="Aptos"/>
              </a:defRPr>
            </a:pPr>
            <a:r>
              <a:t>Source: SS1 project brief; SS3 results/01_class_balance.csv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0708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D95"/>
                </a:solidFill>
                <a:latin typeface="Aptos"/>
              </a:defRPr>
            </a:pPr>
            <a:r>
              <a:t>01 |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12645"/>
                </a:solidFill>
                <a:latin typeface="Aptos"/>
              </a:defRPr>
            </a:pPr>
            <a:r>
              <a:t>Three submissions, one evolving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07080"/>
                </a:solidFill>
                <a:latin typeface="Aptos"/>
              </a:defRPr>
            </a:pPr>
            <a:r>
              <a:t>Each stage added a new piece: define the problem, test methods, then improve validity.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34015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3401568" cy="109728"/>
          </a:xfrm>
          <a:prstGeom prst="rect">
            <a:avLst/>
          </a:prstGeom>
          <a:solidFill>
            <a:srgbClr val="245B96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258568"/>
            <a:ext cx="914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45B96"/>
                </a:solidFill>
                <a:latin typeface="Aptos"/>
              </a:defRPr>
            </a:pPr>
            <a:r>
              <a:t>SS1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670048"/>
            <a:ext cx="28529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12645"/>
                </a:solidFill>
                <a:latin typeface="Aptos"/>
              </a:defRPr>
            </a:pPr>
            <a:r>
              <a:t>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00400"/>
            <a:ext cx="288036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23040"/>
                </a:solidFill>
                <a:latin typeface="Aptos"/>
              </a:defRPr>
            </a:pPr>
            <a:r>
              <a:t>Define account activation as the business problem. Specify the 12 data sources needed to understand the funnel.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572000"/>
            <a:ext cx="2880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245B96"/>
                </a:solidFill>
                <a:latin typeface="Aptos"/>
              </a:defRPr>
            </a:pPr>
            <a:r>
              <a:t>BUSINESS QUESTION + DATA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3246120"/>
            <a:ext cx="3474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300" b="1" i="0">
                <a:solidFill>
                  <a:srgbClr val="60708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965960"/>
            <a:ext cx="34015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965960"/>
            <a:ext cx="3401568" cy="109728"/>
          </a:xfrm>
          <a:prstGeom prst="rect">
            <a:avLst/>
          </a:prstGeom>
          <a:solidFill>
            <a:srgbClr val="E0874B"/>
          </a:solidFill>
          <a:ln>
            <a:solidFill>
              <a:srgbClr val="E0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258568"/>
            <a:ext cx="914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E0874B"/>
                </a:solidFill>
                <a:latin typeface="Aptos"/>
              </a:defRPr>
            </a:pPr>
            <a:r>
              <a:t>SS2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670048"/>
            <a:ext cx="28529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12645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3200400"/>
            <a:ext cx="288036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23040"/>
                </a:solidFill>
                <a:latin typeface="Aptos"/>
              </a:defRPr>
            </a:pPr>
            <a:r>
              <a:t>Build a customer-level workflow with cleaning, RFM features, Random Forest, XGBoost, and an ensemble.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4572000"/>
            <a:ext cx="2880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E0874B"/>
                </a:solidFill>
                <a:latin typeface="Aptos"/>
              </a:defRPr>
            </a:pPr>
            <a:r>
              <a:t>INITIAL MODELLING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246120"/>
            <a:ext cx="3474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300" b="1" i="0">
                <a:solidFill>
                  <a:srgbClr val="60708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7" y="1965960"/>
            <a:ext cx="34015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7" y="1965960"/>
            <a:ext cx="3401568" cy="109728"/>
          </a:xfrm>
          <a:prstGeom prst="rect">
            <a:avLst/>
          </a:prstGeom>
          <a:solidFill>
            <a:srgbClr val="009D95"/>
          </a:solidFill>
          <a:ln>
            <a:solidFill>
              <a:srgbClr val="00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1" y="2258568"/>
            <a:ext cx="914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009D95"/>
                </a:solidFill>
                <a:latin typeface="Aptos"/>
              </a:defRPr>
            </a:pPr>
            <a:r>
              <a:t>SS3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1" y="2670048"/>
            <a:ext cx="28529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12645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1" y="3200400"/>
            <a:ext cx="288036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23040"/>
                </a:solidFill>
                <a:latin typeface="Aptos"/>
              </a:defRPr>
            </a:pPr>
            <a:r>
              <a:t>Use the client activation label, screen for leakage, split by account, and evaluate on unseen accounts.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1" y="4572000"/>
            <a:ext cx="2880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009D95"/>
                </a:solidFill>
                <a:latin typeface="Aptos"/>
              </a:defRPr>
            </a:pPr>
            <a:r>
              <a:t>DECISION-READY EVIDENCE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77840"/>
            <a:ext cx="105156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112645"/>
                </a:solidFill>
                <a:latin typeface="Aptos"/>
              </a:defRPr>
            </a:pPr>
            <a:r>
              <a:t>The central lesson: a high score is only useful when the target and evaluation represent the real decision.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37960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07080"/>
                </a:solidFill>
                <a:latin typeface="Aptos"/>
              </a:defRPr>
            </a:pPr>
            <a:r>
              <a:t>Sources: README_SS1.md | SS2 notebooks/evaluation | SS3_PartB.ipynb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0708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D95"/>
                </a:solidFill>
                <a:latin typeface="Aptos"/>
              </a:defRPr>
            </a:pPr>
            <a:r>
              <a:t>02 | SOLUTION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12645"/>
                </a:solidFill>
                <a:latin typeface="Aptos"/>
              </a:defRPr>
            </a:pPr>
            <a:r>
              <a:t>Why the SS3 evaluation is more credible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07080"/>
                </a:solidFill>
                <a:latin typeface="Aptos"/>
              </a:defRPr>
            </a:pPr>
            <a:r>
              <a:t>SS2 generated a useful prototype, and exposed why label construction must be scrutinised.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37360"/>
            <a:ext cx="513892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975104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0874B"/>
                </a:solidFill>
                <a:latin typeface="Aptos"/>
              </a:defRPr>
            </a:pPr>
            <a:r>
              <a:t>SS2  |  EXPLORATORY RETAIL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487168"/>
            <a:ext cx="182880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3800" b="1" i="0">
                <a:solidFill>
                  <a:srgbClr val="E0874B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182112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12645"/>
                </a:solidFill>
                <a:latin typeface="Aptos"/>
              </a:defRPr>
            </a:pPr>
            <a:r>
              <a:t>reported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685032"/>
            <a:ext cx="441655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23040"/>
                </a:solidFill>
                <a:latin typeface="Aptos"/>
              </a:defRPr>
            </a:pPr>
            <a:r>
              <a:t>The activation label was defined from recency and purchase frequency; those variables were also predictors. This creates target leakage, so perfect reported metrics do not establish real-world predictive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892040"/>
            <a:ext cx="4498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C15252"/>
                </a:solidFill>
                <a:latin typeface="Aptos"/>
              </a:defRPr>
            </a:pPr>
            <a:r>
              <a:t>Interpret as a prototype result, not a deployment benchmark.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212080" cy="3520440"/>
          </a:xfrm>
          <a:prstGeom prst="roundRect">
            <a:avLst/>
          </a:prstGeom>
          <a:solidFill>
            <a:srgbClr val="112645"/>
          </a:solidFill>
          <a:ln>
            <a:solidFill>
              <a:srgbClr val="112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75104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75E1D5"/>
                </a:solidFill>
                <a:latin typeface="Aptos"/>
              </a:defRPr>
            </a:pPr>
            <a:r>
              <a:t>SS3  |  CLIENT-LABELLED 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87168"/>
            <a:ext cx="182880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0.942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82112"/>
            <a:ext cx="4206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ensemble ROC-AUC on unseen test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767328"/>
            <a:ext cx="437083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DBE6F0"/>
                </a:solidFill>
                <a:latin typeface="Aptos"/>
              </a:defRPr>
            </a:pPr>
            <a:r>
              <a:t>Uses the client's 90-day activation field, removes outcome-derived predictors, fits preprocessing on training data, and reports a separate unseen test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892040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75E1D5"/>
                </a:solidFill>
                <a:latin typeface="Aptos"/>
              </a:defRPr>
            </a:pPr>
            <a:r>
              <a:t>A realistic benchmark, with remaining limits to validate.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650992"/>
            <a:ext cx="10469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0" i="1">
                <a:solidFill>
                  <a:srgbClr val="607080"/>
                </a:solidFill>
                <a:latin typeface="Aptos"/>
              </a:defRPr>
            </a:pPr>
            <a:r>
              <a:t>The target and dataset changed between SS2 and SS3; the metrics are not a like-for-like model comparison.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37960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07080"/>
                </a:solidFill>
                <a:latin typeface="Aptos"/>
              </a:defRPr>
            </a:pPr>
            <a:r>
              <a:t>Sources: SS2 preprocessing / feature engineering and Part C metrics | SS3 results/04_metrics_all_splits.csv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0708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D95"/>
                </a:solidFill>
                <a:latin typeface="Aptos"/>
              </a:defRPr>
            </a:pPr>
            <a:r>
              <a:t>02 | SOLUTION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12645"/>
                </a:solidFill>
                <a:latin typeface="Aptos"/>
              </a:defRPr>
            </a:pPr>
            <a:r>
              <a:t>SS3 test performance: strong ranking, not perfection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07080"/>
                </a:solidFill>
                <a:latin typeface="Aptos"/>
              </a:defRPr>
            </a:pPr>
            <a:r>
              <a:t>Held-out ROC-AUC is similar across the three models; the choice depends on business error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73352"/>
            <a:ext cx="76809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92310"/>
            <a:ext cx="7388352" cy="31146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852160"/>
            <a:ext cx="6949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07080"/>
                </a:solidFill>
                <a:latin typeface="Aptos"/>
              </a:defRPr>
            </a:pPr>
            <a:r>
              <a:t>Test set: 736 unseen 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755648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1755648"/>
            <a:ext cx="73152" cy="960120"/>
          </a:xfrm>
          <a:prstGeom prst="rect">
            <a:avLst/>
          </a:prstGeom>
          <a:solidFill>
            <a:srgbClr val="009D95"/>
          </a:solidFill>
          <a:ln>
            <a:solidFill>
              <a:srgbClr val="00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47088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0.942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203704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Ensemble 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432304"/>
            <a:ext cx="2788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RF 0.943 | XGBoost 0.940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898648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2898648"/>
            <a:ext cx="73152" cy="960120"/>
          </a:xfrm>
          <a:prstGeom prst="rect">
            <a:avLst/>
          </a:prstGeom>
          <a:solidFill>
            <a:srgbClr val="245B96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2990088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91.1%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3346704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Ensemble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575304"/>
            <a:ext cx="2788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Activated class at threshold 0.5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041648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4041648"/>
            <a:ext cx="73152" cy="960120"/>
          </a:xfrm>
          <a:prstGeom prst="rect">
            <a:avLst/>
          </a:prstGeom>
          <a:solidFill>
            <a:srgbClr val="E0874B"/>
          </a:solidFill>
          <a:ln>
            <a:solidFill>
              <a:srgbClr val="E0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4133087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79.4%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4489704"/>
            <a:ext cx="2788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Ensemble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718304"/>
            <a:ext cx="2788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F1 0.849 | PR-AUC 0.915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5330952"/>
            <a:ext cx="28529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C15252"/>
                </a:solidFill>
                <a:latin typeface="Aptos"/>
              </a:defRPr>
            </a:pPr>
            <a:r>
              <a:t>Training scores are higher: monitor overfitting and drift.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37960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07080"/>
                </a:solidFill>
                <a:latin typeface="Aptos"/>
              </a:defRPr>
            </a:pPr>
            <a:r>
              <a:t>Source: SS3 results/04_metrics_all_splits.csv and results/figures/02_roc_curves.png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0708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D95"/>
                </a:solidFill>
                <a:latin typeface="Aptos"/>
              </a:defRPr>
            </a:pPr>
            <a:r>
              <a:t>02 | SOLUTION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12645"/>
                </a:solidFill>
                <a:latin typeface="Aptos"/>
              </a:defRPr>
            </a:pPr>
            <a:r>
              <a:t>A risk ranking can focus limited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07080"/>
                </a:solidFill>
                <a:latin typeface="Aptos"/>
              </a:defRPr>
            </a:pPr>
            <a:r>
              <a:t>Accounts with lower predicted activation probability are ranked as higher risk of not activating.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82496"/>
            <a:ext cx="6675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decile_lift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01668"/>
            <a:ext cx="6382512" cy="37964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783080"/>
            <a:ext cx="3886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783080"/>
            <a:ext cx="73152" cy="960120"/>
          </a:xfrm>
          <a:prstGeom prst="rect">
            <a:avLst/>
          </a:prstGeom>
          <a:solidFill>
            <a:srgbClr val="245B96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1874519"/>
            <a:ext cx="3566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231136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Test accounts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2459736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Lowest 30% by activation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907792"/>
            <a:ext cx="3886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2907792"/>
            <a:ext cx="73152" cy="960120"/>
          </a:xfrm>
          <a:prstGeom prst="rect">
            <a:avLst/>
          </a:prstGeom>
          <a:solidFill>
            <a:srgbClr val="009D95"/>
          </a:solidFill>
          <a:ln>
            <a:solidFill>
              <a:srgbClr val="00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2999232"/>
            <a:ext cx="3566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218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355848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Were non-activators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3584448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98.6% precision in selected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032504"/>
            <a:ext cx="3886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4032504"/>
            <a:ext cx="73152" cy="960120"/>
          </a:xfrm>
          <a:prstGeom prst="rect">
            <a:avLst/>
          </a:prstGeom>
          <a:solidFill>
            <a:srgbClr val="E0874B"/>
          </a:solidFill>
          <a:ln>
            <a:solidFill>
              <a:srgbClr val="E0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4123944"/>
            <a:ext cx="3566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51.7%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4480560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Test non-activators reached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4709160"/>
            <a:ext cx="3566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218 of 422 non-activators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330952"/>
            <a:ext cx="363931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C15252"/>
                </a:solidFill>
                <a:latin typeface="Aptos"/>
              </a:defRPr>
            </a:pPr>
            <a:r>
              <a:t>Retrospective ranking simulation - not measured campaign lift.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37960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07080"/>
                </a:solidFill>
                <a:latin typeface="Aptos"/>
              </a:defRPr>
            </a:pPr>
            <a:r>
              <a:t>Sources: SS3 results/04_outreach_coverage_test.csv and results/figures/08_decile_lift_test.png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0708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D95"/>
                </a:solidFill>
                <a:latin typeface="Aptos"/>
              </a:defRPr>
            </a:pPr>
            <a:r>
              <a:t>03 | MODELING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12645"/>
                </a:solidFill>
                <a:latin typeface="Aptos"/>
              </a:defRPr>
            </a:pPr>
            <a:r>
              <a:t>A leakage-aware pipeline, from tables to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07080"/>
                </a:solidFill>
                <a:latin typeface="Aptos"/>
              </a:defRPr>
            </a:pPr>
            <a:r>
              <a:t>The process is reproducible and keeps model fitting separate from final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700784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1856231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9D95"/>
                </a:solidFill>
                <a:latin typeface="Aptos"/>
              </a:defRPr>
            </a:pPr>
            <a:r>
              <a:t>12 tables -&gt; 9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59" y="2185416"/>
            <a:ext cx="15361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review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3704" y="1947672"/>
            <a:ext cx="228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0708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1700784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1856231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9D95"/>
                </a:solidFill>
                <a:latin typeface="Aptos"/>
              </a:defRPr>
            </a:pPr>
            <a:r>
              <a:t>4,906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85416"/>
            <a:ext cx="15361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unique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3944" y="1947672"/>
            <a:ext cx="228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0708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00784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856231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9D95"/>
                </a:solidFill>
                <a:latin typeface="Aptos"/>
              </a:defRPr>
            </a:pPr>
            <a:r>
              <a:t>70 / 15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85416"/>
            <a:ext cx="15361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train / validation /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1947672"/>
            <a:ext cx="228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0708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00784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856231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9D95"/>
                </a:solidFill>
                <a:latin typeface="Aptos"/>
              </a:defRPr>
            </a:pPr>
            <a:r>
              <a:t>Train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85416"/>
            <a:ext cx="15361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fit preprocessing + SMOTE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1947672"/>
            <a:ext cx="228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0708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700784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1856231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45B96"/>
                </a:solidFill>
                <a:latin typeface="Aptos"/>
              </a:defRPr>
            </a:pPr>
            <a:r>
              <a:t>RF + XGB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85416"/>
            <a:ext cx="15361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average probabilities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4664" y="1947672"/>
            <a:ext cx="228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607080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31552" y="1700784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04704" y="1856231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9D95"/>
                </a:solidFill>
                <a:latin typeface="Aptos"/>
              </a:defRPr>
            </a:pPr>
            <a:r>
              <a:t>Test once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185416"/>
            <a:ext cx="15361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metrics + outreach ranking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889504"/>
            <a:ext cx="705916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7_feature_importance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80" y="2990088"/>
            <a:ext cx="5803262" cy="290779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918704" y="2889504"/>
            <a:ext cx="3675887" cy="3154680"/>
          </a:xfrm>
          <a:prstGeom prst="roundRect">
            <a:avLst/>
          </a:prstGeom>
          <a:solidFill>
            <a:srgbClr val="112645"/>
          </a:solidFill>
          <a:ln>
            <a:solidFill>
              <a:srgbClr val="112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3200400"/>
            <a:ext cx="30175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Key safeguards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730752"/>
            <a:ext cx="2999232" cy="1874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DDE8F2"/>
                </a:solidFill>
                <a:latin typeface="Aptos"/>
              </a:defRPr>
            </a:pPr>
            <a:r>
              <a:t>- Remove label and post-outcome leakage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DDE8F2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200" b="0" i="0">
                <a:solidFill>
                  <a:srgbClr val="DDE8F2"/>
                </a:solidFill>
                <a:latin typeface="Aptos"/>
              </a:defRPr>
            </a:pPr>
            <a:r>
              <a:t>- Fit imputation, scaling, encoding, and caps on training only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DDE8F2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200" b="0" i="0">
                <a:solidFill>
                  <a:srgbClr val="DDE8F2"/>
                </a:solidFill>
                <a:latin typeface="Aptos"/>
              </a:defRPr>
            </a:pPr>
            <a:r>
              <a:t>- Apply SMOTE to training only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DDE8F2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200" b="0" i="0">
                <a:solidFill>
                  <a:srgbClr val="DDE8F2"/>
                </a:solidFill>
                <a:latin typeface="Aptos"/>
              </a:defRPr>
            </a:pPr>
            <a:r>
              <a:t>- Exclude gender from modelling; inspect timing-sensitive KYC fields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37960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07080"/>
                </a:solidFill>
                <a:latin typeface="Aptos"/>
              </a:defRPr>
            </a:pPr>
            <a:r>
              <a:t>Source: SS3_PartB.ipynb; results/03_feature_importance.csv; results/02_split_summary.csv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0708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9D95"/>
                </a:solidFill>
                <a:latin typeface="Aptos"/>
              </a:defRPr>
            </a:pPr>
            <a:r>
              <a:t>03 | MODELING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12645"/>
                </a:solidFill>
                <a:latin typeface="Aptos"/>
              </a:defRPr>
            </a:pPr>
            <a:r>
              <a:t>Robustness is encouraging; readiness is not yet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07080"/>
                </a:solidFill>
                <a:latin typeface="Aptos"/>
              </a:defRPr>
            </a:pPr>
            <a:r>
              <a:t>Removing uncertain-timing fields reduces risk; temporal and operational checks remain.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82496"/>
            <a:ext cx="740664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97121"/>
            <a:ext cx="7114032" cy="37598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78308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783080"/>
            <a:ext cx="73152" cy="960120"/>
          </a:xfrm>
          <a:prstGeom prst="rect">
            <a:avLst/>
          </a:prstGeom>
          <a:solidFill>
            <a:srgbClr val="245B96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874519"/>
            <a:ext cx="3063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0.942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2231136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Full feature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459736"/>
            <a:ext cx="3063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ROC-AUC | 169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07792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907792"/>
            <a:ext cx="73152" cy="960120"/>
          </a:xfrm>
          <a:prstGeom prst="rect">
            <a:avLst/>
          </a:prstGeom>
          <a:solidFill>
            <a:srgbClr val="009D95"/>
          </a:solidFill>
          <a:ln>
            <a:solidFill>
              <a:srgbClr val="00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2999232"/>
            <a:ext cx="3063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0.940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355848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No timing snapshots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584448"/>
            <a:ext cx="3063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ROC-AUC | 159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032504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032504"/>
            <a:ext cx="73152" cy="960120"/>
          </a:xfrm>
          <a:prstGeom prst="rect">
            <a:avLst/>
          </a:prstGeom>
          <a:solidFill>
            <a:srgbClr val="E0874B"/>
          </a:solidFill>
          <a:ln>
            <a:solidFill>
              <a:srgbClr val="E0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4123944"/>
            <a:ext cx="3063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112645"/>
                </a:solidFill>
                <a:latin typeface="Aptos"/>
              </a:defRPr>
            </a:pPr>
            <a:r>
              <a:t>0.929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4480560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23040"/>
                </a:solidFill>
                <a:latin typeface="Aptos"/>
              </a:defRPr>
            </a:pPr>
            <a:r>
              <a:t>Also remove pre-deposit 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4709160"/>
            <a:ext cx="3063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607080"/>
                </a:solidFill>
                <a:latin typeface="Aptos"/>
              </a:defRPr>
            </a:pPr>
            <a:r>
              <a:t>ROC-AUC | 150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5303520"/>
            <a:ext cx="3145536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C15252"/>
                </a:solidFill>
                <a:latin typeface="Aptos"/>
              </a:defRPr>
            </a:pPr>
            <a:r>
              <a:t>Still verify point-in-time data, calibration, subgroup fairness, privacy, and performance drift.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37960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07080"/>
                </a:solidFill>
                <a:latin typeface="Aptos"/>
              </a:defRPr>
            </a:pPr>
            <a:r>
              <a:t>Source: SS3 results/04_sensitivity_analysis.csv and results/figures/11_sensitivity_analysis.png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0708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ACC"/>
                </a:solidFill>
                <a:latin typeface="Aptos"/>
              </a:defRPr>
            </a:pPr>
            <a:r>
              <a:t>04 |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Pilot carefully before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D2DEEB"/>
                </a:solidFill>
                <a:latin typeface="Aptos"/>
              </a:defRPr>
            </a:pPr>
            <a:r>
              <a:t>Recommendation: test a human-guided, risk-ranked onboarding intervention, not an automated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10512"/>
            <a:ext cx="6949440" cy="694944"/>
          </a:xfrm>
          <a:prstGeom prst="roundRect">
            <a:avLst/>
          </a:prstGeom>
          <a:solidFill>
            <a:srgbClr val="1E3958"/>
          </a:solidFill>
          <a:ln>
            <a:solidFill>
              <a:srgbClr val="37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929384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75E1D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1911095"/>
            <a:ext cx="1901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01952"/>
            <a:ext cx="4023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DBE6F0"/>
                </a:solidFill>
                <a:latin typeface="Aptos"/>
              </a:defRPr>
            </a:pPr>
            <a:r>
              <a:t>Test on a newer time-based cohort; confirm features existed at decision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06624"/>
            <a:ext cx="6949440" cy="694944"/>
          </a:xfrm>
          <a:prstGeom prst="roundRect">
            <a:avLst/>
          </a:prstGeom>
          <a:solidFill>
            <a:srgbClr val="1E3958"/>
          </a:solidFill>
          <a:ln>
            <a:solidFill>
              <a:srgbClr val="37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825496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75E1D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807208"/>
            <a:ext cx="1901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Define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98064"/>
            <a:ext cx="4023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DBE6F0"/>
                </a:solidFill>
                <a:latin typeface="Aptos"/>
              </a:defRPr>
            </a:pPr>
            <a:r>
              <a:t>Set outreach capacity, eligibility, success metric, and cost per contact.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602736"/>
            <a:ext cx="6949440" cy="694944"/>
          </a:xfrm>
          <a:prstGeom prst="roundRect">
            <a:avLst/>
          </a:prstGeom>
          <a:solidFill>
            <a:srgbClr val="1E3958"/>
          </a:solidFill>
          <a:ln>
            <a:solidFill>
              <a:srgbClr val="37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721608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75E1D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703320"/>
            <a:ext cx="1901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Run controlled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694176"/>
            <a:ext cx="4023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DBE6F0"/>
                </a:solidFill>
                <a:latin typeface="Aptos"/>
              </a:defRPr>
            </a:pPr>
            <a:r>
              <a:t>Compare targeted support with a suitable control group; measure incremental deposits.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498848"/>
            <a:ext cx="6949440" cy="694944"/>
          </a:xfrm>
          <a:prstGeom prst="roundRect">
            <a:avLst/>
          </a:prstGeom>
          <a:solidFill>
            <a:srgbClr val="1E3958"/>
          </a:solidFill>
          <a:ln>
            <a:solidFill>
              <a:srgbClr val="37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61772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75E1D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4599432"/>
            <a:ext cx="1901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Monitor responsibly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90288"/>
            <a:ext cx="4023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DBE6F0"/>
                </a:solidFill>
                <a:latin typeface="Aptos"/>
              </a:defRPr>
            </a:pPr>
            <a:r>
              <a:t>Track calibration, ranking, subgroup outcomes, drift, access, and retraining triggers.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1847088"/>
            <a:ext cx="3456432" cy="3364992"/>
          </a:xfrm>
          <a:prstGeom prst="roundRect">
            <a:avLst/>
          </a:prstGeom>
          <a:solidFill>
            <a:srgbClr val="1E3958"/>
          </a:solidFill>
          <a:ln>
            <a:solidFill>
              <a:srgbClr val="375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2157984"/>
            <a:ext cx="28529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900" b="1" i="0">
                <a:solidFill>
                  <a:srgbClr val="FFFFFF"/>
                </a:solidFill>
                <a:latin typeface="Aptos"/>
              </a:defRPr>
            </a:pPr>
            <a:r>
              <a:t>The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788920"/>
            <a:ext cx="2852928" cy="2029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DBE6F0"/>
                </a:solidFill>
                <a:latin typeface="Aptos"/>
              </a:defRPr>
            </a:pPr>
            <a:r>
              <a:t>SS1 framed the need.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DBE6F0"/>
                </a:solidFill>
                <a:latin typeface="Aptos"/>
              </a:defRPr>
            </a:pPr>
            <a:r>
              <a:t>SS2 built the prototype.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DBE6F0"/>
                </a:solidFill>
                <a:latin typeface="Aptos"/>
              </a:defRPr>
            </a:pPr>
            <a:r>
              <a:t>SS3 produced the more credible test.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DBE6F0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400" b="0" i="0">
                <a:solidFill>
                  <a:srgbClr val="DBE6F0"/>
                </a:solidFill>
                <a:latin typeface="Aptos"/>
              </a:defRPr>
            </a:pPr>
            <a:r>
              <a:t>Next: validate in time, then learn through a controlled pilot.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5468112"/>
            <a:ext cx="285292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75E1D5"/>
                </a:solidFill>
                <a:latin typeface="Aptos"/>
              </a:defRPr>
            </a:pPr>
            <a:r>
              <a:t>Thank you |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6318504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A2BCD0"/>
                </a:solidFill>
                <a:latin typeface="Aptos"/>
              </a:defRPr>
            </a:pPr>
            <a:r>
              <a:t>Sources: SS1 project brief | SS2 recommendation and notebooks | SS3 notebook and results | sample presentation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1052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2BCD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CAP182 SS1 to SS3: STADIOEquities Account Activation</dc:title>
  <dc:subject>Video presentation for business and data science stakeholders</dc:subject>
  <dc:creator>Bernette Mogwera Lesejane</dc:creator>
  <cp:keywords>CAP182, SS1, SS2, SS3, account activation, data science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